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sldIdLst>
    <p:sldId id="256" r:id="rId3"/>
    <p:sldId id="258" r:id="rId4"/>
    <p:sldId id="257" r:id="rId5"/>
    <p:sldId id="259" r:id="rId6"/>
    <p:sldId id="261" r:id="rId7"/>
    <p:sldId id="260" r:id="rId8"/>
    <p:sldId id="263" r:id="rId9"/>
    <p:sldId id="264" r:id="rId10"/>
    <p:sldId id="266" r:id="rId11"/>
    <p:sldId id="267" r:id="rId12"/>
    <p:sldId id="262" r:id="rId13"/>
    <p:sldId id="265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8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9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olo rettangolo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Titolo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17" name="Sottotitolo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it-IT"/>
              <a:t>Fare clic per modificare lo stile del sottotitolo dello schema</a:t>
            </a:r>
            <a:endParaRPr kumimoji="0" lang="en-US"/>
          </a:p>
        </p:txBody>
      </p:sp>
      <p:grpSp>
        <p:nvGrpSpPr>
          <p:cNvPr id="2" name="Gruppo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igura a mano libera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8" name="Figura a mano libera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1800"/>
            </a:p>
          </p:txBody>
        </p:sp>
        <p:sp>
          <p:nvSpPr>
            <p:cNvPr id="11" name="Figura a mano libera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 sz="1800"/>
            </a:p>
          </p:txBody>
        </p:sp>
        <p:cxnSp>
          <p:nvCxnSpPr>
            <p:cNvPr id="12" name="Connettore 1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Segnaposto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19" name="Segnaposto piè di pagina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27" name="Segnaposto numero diapositiva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7" name="Gallone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8" name="Gallone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it-IT"/>
              <a:t>Fare clic sull'icona per inserire un'immagine</a:t>
            </a:r>
            <a:endParaRPr kumimoji="0" lang="en-US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8" name="Figura a mano libera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Figura a mano libera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Triangolo rettangolo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1" name="Connettore 1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allone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  <p:sp>
        <p:nvSpPr>
          <p:cNvPr id="13" name="Gallone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igura a mano libera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Figura a mano libera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4" name="Triangolo rettangolo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5" name="Connettore 1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itolo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0" name="Segnaposto testo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  <a:p>
            <a:pPr lvl="1" eaLnBrk="1" latinLnBrk="0" hangingPunct="1"/>
            <a:r>
              <a:rPr kumimoji="0" lang="it-IT"/>
              <a:t>Secondo livello</a:t>
            </a:r>
          </a:p>
          <a:p>
            <a:pPr lvl="2" eaLnBrk="1" latinLnBrk="0" hangingPunct="1"/>
            <a:r>
              <a:rPr kumimoji="0" lang="it-IT"/>
              <a:t>Terzo livello</a:t>
            </a:r>
          </a:p>
          <a:p>
            <a:pPr lvl="3" eaLnBrk="1" latinLnBrk="0" hangingPunct="1"/>
            <a:r>
              <a:rPr kumimoji="0" lang="it-IT"/>
              <a:t>Quarto livello</a:t>
            </a:r>
          </a:p>
          <a:p>
            <a:pPr lvl="4" eaLnBrk="1" latinLnBrk="0" hangingPunct="1"/>
            <a:r>
              <a:rPr kumimoji="0" lang="it-IT"/>
              <a:t>Quinto livello</a:t>
            </a:r>
            <a:endParaRPr kumimoji="0" lang="en-US"/>
          </a:p>
        </p:txBody>
      </p:sp>
      <p:sp>
        <p:nvSpPr>
          <p:cNvPr id="10" name="Segnaposto data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23/10/2019</a:t>
            </a:fld>
            <a:endParaRPr lang="it-IT"/>
          </a:p>
        </p:txBody>
      </p:sp>
      <p:sp>
        <p:nvSpPr>
          <p:cNvPr id="22" name="Segnaposto piè di pagina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18" name="Segnaposto numero diapositiva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ata.boston.gov/dataset/crime-incident-reports-august-2015-to-date-source-new-syste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edelux3/BostonCrime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15380" y="1916832"/>
            <a:ext cx="11161240" cy="2054163"/>
          </a:xfrm>
        </p:spPr>
        <p:txBody>
          <a:bodyPr>
            <a:normAutofit/>
          </a:bodyPr>
          <a:lstStyle/>
          <a:p>
            <a:pPr algn="ctr"/>
            <a:r>
              <a:rPr lang="it-IT" sz="4000" dirty="0"/>
              <a:t>Identificazione di eventi spazio-temporali associati: studio e implementazione su dataset di crimini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9E5C38D-810E-47E8-939E-98A514F75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321615"/>
            <a:ext cx="1008112" cy="98806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0FCA91-9875-44F3-9180-8489EFF4E487}"/>
              </a:ext>
            </a:extLst>
          </p:cNvPr>
          <p:cNvSpPr txBox="1"/>
          <p:nvPr/>
        </p:nvSpPr>
        <p:spPr>
          <a:xfrm>
            <a:off x="3071664" y="321615"/>
            <a:ext cx="68334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Università</a:t>
            </a:r>
            <a:r>
              <a:rPr lang="en-US" sz="1600" dirty="0"/>
              <a:t> </a:t>
            </a:r>
            <a:r>
              <a:rPr lang="en-US" sz="1600" dirty="0" err="1"/>
              <a:t>degli</a:t>
            </a:r>
            <a:r>
              <a:rPr lang="en-US" sz="1600" dirty="0"/>
              <a:t> </a:t>
            </a:r>
            <a:r>
              <a:rPr lang="en-US" sz="1600" dirty="0" err="1"/>
              <a:t>studi</a:t>
            </a:r>
            <a:r>
              <a:rPr lang="en-US" sz="1600" dirty="0"/>
              <a:t> di Milano Bicocca</a:t>
            </a:r>
          </a:p>
          <a:p>
            <a:r>
              <a:rPr lang="en-US" sz="1600" b="1" dirty="0" err="1"/>
              <a:t>Scuola</a:t>
            </a:r>
            <a:r>
              <a:rPr lang="en-US" sz="1600" b="1" dirty="0"/>
              <a:t> di </a:t>
            </a:r>
            <a:r>
              <a:rPr lang="en-US" sz="1600" b="1" dirty="0" err="1"/>
              <a:t>Scienze</a:t>
            </a:r>
            <a:endParaRPr lang="en-US" sz="1600" b="1" dirty="0"/>
          </a:p>
          <a:p>
            <a:r>
              <a:rPr lang="en-US" sz="1600" b="1" dirty="0" err="1"/>
              <a:t>Dipartimento</a:t>
            </a:r>
            <a:r>
              <a:rPr lang="en-US" sz="1600" b="1" dirty="0"/>
              <a:t> di </a:t>
            </a:r>
            <a:r>
              <a:rPr lang="it-IT" sz="1600" b="1" dirty="0"/>
              <a:t>Informatica</a:t>
            </a:r>
            <a:r>
              <a:rPr lang="en-US" sz="1600" b="1" dirty="0"/>
              <a:t>, </a:t>
            </a:r>
            <a:r>
              <a:rPr lang="en-US" sz="1600" b="1" dirty="0" err="1"/>
              <a:t>Sistemistica</a:t>
            </a:r>
            <a:r>
              <a:rPr lang="en-US" sz="1600" b="1" dirty="0"/>
              <a:t> e </a:t>
            </a:r>
            <a:r>
              <a:rPr lang="en-US" sz="1600" b="1" dirty="0" err="1"/>
              <a:t>Comunicazione</a:t>
            </a:r>
            <a:endParaRPr lang="en-US" sz="1600" b="1" dirty="0"/>
          </a:p>
          <a:p>
            <a:r>
              <a:rPr lang="en-US" sz="1600" b="1" dirty="0"/>
              <a:t>Corso di </a:t>
            </a:r>
            <a:r>
              <a:rPr lang="en-US" sz="1600" b="1" dirty="0" err="1"/>
              <a:t>laurea</a:t>
            </a:r>
            <a:r>
              <a:rPr lang="en-US" sz="1600" b="1" dirty="0"/>
              <a:t> in Informatica</a:t>
            </a:r>
            <a:endParaRPr lang="it-IT" sz="16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D3F04D9-BC20-475A-9212-643CBA668B28}"/>
              </a:ext>
            </a:extLst>
          </p:cNvPr>
          <p:cNvSpPr txBox="1"/>
          <p:nvPr/>
        </p:nvSpPr>
        <p:spPr>
          <a:xfrm>
            <a:off x="191344" y="5301208"/>
            <a:ext cx="4509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Relatore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Prof. Fabio Antonio Stella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Corelatore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 err="1">
                <a:solidFill>
                  <a:schemeClr val="bg1"/>
                </a:solidFill>
              </a:rPr>
              <a:t>Dott.ssa</a:t>
            </a:r>
            <a:r>
              <a:rPr lang="en-US" sz="2000" b="1" dirty="0">
                <a:solidFill>
                  <a:schemeClr val="bg1"/>
                </a:solidFill>
              </a:rPr>
              <a:t> Paola Chiesa</a:t>
            </a:r>
            <a:endParaRPr lang="it-IT" sz="2000" b="1" dirty="0">
              <a:solidFill>
                <a:schemeClr val="bg1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6FF2545-EA2C-4AB7-8D34-E3E845BAFEA7}"/>
              </a:ext>
            </a:extLst>
          </p:cNvPr>
          <p:cNvSpPr txBox="1"/>
          <p:nvPr/>
        </p:nvSpPr>
        <p:spPr>
          <a:xfrm>
            <a:off x="7603413" y="5734986"/>
            <a:ext cx="4041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Relazione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della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prova</a:t>
            </a:r>
            <a:r>
              <a:rPr lang="en-US" sz="2000" dirty="0">
                <a:solidFill>
                  <a:schemeClr val="bg1"/>
                </a:solidFill>
              </a:rPr>
              <a:t> finale di: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Federico Luzzi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Matricola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816753</a:t>
            </a:r>
            <a:endParaRPr lang="it-IT" sz="2000" b="1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86122DA-1238-43E5-B5E1-DEEF3B3B2B78}"/>
              </a:ext>
            </a:extLst>
          </p:cNvPr>
          <p:cNvSpPr txBox="1"/>
          <p:nvPr/>
        </p:nvSpPr>
        <p:spPr>
          <a:xfrm>
            <a:off x="3287688" y="6381317"/>
            <a:ext cx="378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Anno </a:t>
            </a:r>
            <a:r>
              <a:rPr lang="en-US" dirty="0" err="1">
                <a:solidFill>
                  <a:schemeClr val="bg1"/>
                </a:solidFill>
              </a:rPr>
              <a:t>Accademico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solidFill>
                  <a:schemeClr val="bg1"/>
                </a:solidFill>
              </a:rPr>
              <a:t>2018 - 2019</a:t>
            </a:r>
            <a:endParaRPr lang="it-IT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FC337B4-8827-4368-BBE3-7CA55A9E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Paper e Dataset </a:t>
            </a:r>
            <a:r>
              <a:rPr lang="en-US" dirty="0" err="1"/>
              <a:t>utilizzato</a:t>
            </a:r>
            <a:endParaRPr lang="it-IT" dirty="0"/>
          </a:p>
        </p:txBody>
      </p:sp>
      <p:sp>
        <p:nvSpPr>
          <p:cNvPr id="4" name="Segnaposto contenuto 1">
            <a:extLst>
              <a:ext uri="{FF2B5EF4-FFF2-40B4-BE49-F238E27FC236}">
                <a16:creationId xmlns:a16="http://schemas.microsoft.com/office/drawing/2014/main" id="{EEB2E799-03C8-4615-85DA-821461ED4038}"/>
              </a:ext>
            </a:extLst>
          </p:cNvPr>
          <p:cNvSpPr txBox="1">
            <a:spLocks/>
          </p:cNvSpPr>
          <p:nvPr/>
        </p:nvSpPr>
        <p:spPr>
          <a:xfrm>
            <a:off x="4007768" y="4340400"/>
            <a:ext cx="6840760" cy="167075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/>
              <a:t>I record </a:t>
            </a:r>
            <a:r>
              <a:rPr lang="en-US" sz="1800" dirty="0" err="1"/>
              <a:t>rispettano</a:t>
            </a:r>
            <a:r>
              <a:rPr lang="en-US" sz="1800" dirty="0"/>
              <a:t> le </a:t>
            </a:r>
            <a:r>
              <a:rPr lang="en-US" sz="1800" dirty="0" err="1"/>
              <a:t>seguenti</a:t>
            </a:r>
            <a:r>
              <a:rPr lang="en-US" sz="1800" dirty="0"/>
              <a:t> </a:t>
            </a:r>
            <a:r>
              <a:rPr lang="en-US" sz="1800" dirty="0" err="1"/>
              <a:t>caratteristiche</a:t>
            </a:r>
            <a:r>
              <a:rPr lang="en-US" sz="1800" dirty="0"/>
              <a:t>: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Chiave</a:t>
            </a:r>
            <a:r>
              <a:rPr lang="de-DE" sz="1800" dirty="0"/>
              <a:t> ID </a:t>
            </a:r>
            <a:r>
              <a:rPr lang="de-DE" sz="1800" dirty="0" err="1"/>
              <a:t>unica</a:t>
            </a:r>
            <a:endParaRPr lang="de-DE" sz="1800" dirty="0"/>
          </a:p>
          <a:p>
            <a:pPr marL="452628" indent="-342900">
              <a:buFont typeface="+mj-lt"/>
              <a:buAutoNum type="arabicPeriod"/>
            </a:pPr>
            <a:r>
              <a:rPr lang="de-DE" sz="1800" dirty="0"/>
              <a:t>Location </a:t>
            </a:r>
            <a:r>
              <a:rPr lang="de-DE" sz="1800" dirty="0" err="1"/>
              <a:t>spaziale</a:t>
            </a:r>
            <a:r>
              <a:rPr lang="de-DE" sz="1800" dirty="0"/>
              <a:t> (</a:t>
            </a:r>
            <a:r>
              <a:rPr lang="de-DE" sz="1800" dirty="0" err="1"/>
              <a:t>latitudine</a:t>
            </a:r>
            <a:r>
              <a:rPr lang="de-DE" sz="1800" dirty="0"/>
              <a:t>, </a:t>
            </a:r>
            <a:r>
              <a:rPr lang="de-DE" sz="1800" dirty="0" err="1"/>
              <a:t>longitudine</a:t>
            </a:r>
            <a:r>
              <a:rPr lang="de-DE" sz="1800" dirty="0"/>
              <a:t>)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Istante</a:t>
            </a:r>
            <a:r>
              <a:rPr lang="de-DE" sz="1800" dirty="0"/>
              <a:t> temporale </a:t>
            </a:r>
            <a:r>
              <a:rPr lang="de-DE" sz="1800" dirty="0" err="1"/>
              <a:t>preciso</a:t>
            </a:r>
            <a:r>
              <a:rPr lang="de-DE" sz="1800" dirty="0"/>
              <a:t> (</a:t>
            </a:r>
            <a:r>
              <a:rPr lang="de-DE" sz="1800" dirty="0" err="1"/>
              <a:t>data</a:t>
            </a:r>
            <a:r>
              <a:rPr lang="de-DE" sz="1800" dirty="0"/>
              <a:t>, </a:t>
            </a:r>
            <a:r>
              <a:rPr lang="de-DE" sz="1800" dirty="0" err="1"/>
              <a:t>ora</a:t>
            </a:r>
            <a:r>
              <a:rPr lang="de-DE" sz="1800" dirty="0"/>
              <a:t>, </a:t>
            </a:r>
            <a:r>
              <a:rPr lang="de-DE" sz="1800" dirty="0" err="1"/>
              <a:t>minuto</a:t>
            </a:r>
            <a:r>
              <a:rPr lang="de-DE" sz="1800" dirty="0"/>
              <a:t>)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Tipologia</a:t>
            </a:r>
            <a:r>
              <a:rPr lang="de-DE" sz="1800" dirty="0"/>
              <a:t> di </a:t>
            </a:r>
            <a:r>
              <a:rPr lang="de-DE" sz="1800" dirty="0" err="1"/>
              <a:t>evento</a:t>
            </a:r>
            <a:r>
              <a:rPr lang="de-DE" sz="1800" dirty="0"/>
              <a:t> (</a:t>
            </a:r>
            <a:r>
              <a:rPr lang="de-DE" sz="1800" dirty="0" err="1"/>
              <a:t>aggressione</a:t>
            </a:r>
            <a:r>
              <a:rPr lang="de-DE" sz="1800" dirty="0"/>
              <a:t>, </a:t>
            </a:r>
            <a:r>
              <a:rPr lang="de-DE" sz="1800" dirty="0" err="1"/>
              <a:t>furto</a:t>
            </a:r>
            <a:r>
              <a:rPr lang="de-DE" sz="1800" dirty="0"/>
              <a:t>, </a:t>
            </a:r>
            <a:r>
              <a:rPr lang="de-DE" sz="1800" dirty="0" err="1"/>
              <a:t>omicidio</a:t>
            </a:r>
            <a:r>
              <a:rPr lang="de-DE" sz="1800" dirty="0"/>
              <a:t>)</a:t>
            </a:r>
          </a:p>
        </p:txBody>
      </p:sp>
      <p:sp>
        <p:nvSpPr>
          <p:cNvPr id="5" name="Segnaposto contenuto 1">
            <a:extLst>
              <a:ext uri="{FF2B5EF4-FFF2-40B4-BE49-F238E27FC236}">
                <a16:creationId xmlns:a16="http://schemas.microsoft.com/office/drawing/2014/main" id="{068F6011-1833-4DEE-B98F-F9AB2BEDA402}"/>
              </a:ext>
            </a:extLst>
          </p:cNvPr>
          <p:cNvSpPr txBox="1">
            <a:spLocks/>
          </p:cNvSpPr>
          <p:nvPr/>
        </p:nvSpPr>
        <p:spPr>
          <a:xfrm>
            <a:off x="551384" y="1483874"/>
            <a:ext cx="10972800" cy="13117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Il </a:t>
            </a:r>
            <a:r>
              <a:rPr lang="en-US" sz="1800" dirty="0" err="1"/>
              <a:t>lavoro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basa</a:t>
            </a:r>
            <a:r>
              <a:rPr lang="en-US" sz="1800" dirty="0"/>
              <a:t> sul paper:</a:t>
            </a:r>
            <a:r>
              <a:rPr lang="it-IT" sz="1800" dirty="0"/>
              <a:t> </a:t>
            </a:r>
            <a:r>
              <a:rPr lang="it-IT" sz="1800" b="1" dirty="0"/>
              <a:t>A </a:t>
            </a:r>
            <a:r>
              <a:rPr lang="it-IT" sz="1800" b="1" dirty="0" err="1"/>
              <a:t>Novel</a:t>
            </a:r>
            <a:r>
              <a:rPr lang="it-IT" sz="1800" b="1" dirty="0"/>
              <a:t> </a:t>
            </a:r>
            <a:r>
              <a:rPr lang="it-IT" sz="1800" b="1" dirty="0" err="1"/>
              <a:t>Breadth</a:t>
            </a:r>
            <a:r>
              <a:rPr lang="it-IT" sz="1800" b="1" dirty="0"/>
              <a:t>-first Strategy </a:t>
            </a:r>
            <a:r>
              <a:rPr lang="it-IT" sz="1800" b="1" dirty="0" err="1"/>
              <a:t>Algorithm</a:t>
            </a:r>
            <a:r>
              <a:rPr lang="it-IT" sz="1800" b="1" dirty="0"/>
              <a:t> for </a:t>
            </a:r>
            <a:r>
              <a:rPr lang="it-IT" sz="1800" b="1" dirty="0" err="1"/>
              <a:t>Discovering</a:t>
            </a:r>
            <a:r>
              <a:rPr lang="it-IT" sz="1800" b="1" dirty="0"/>
              <a:t> </a:t>
            </a:r>
            <a:r>
              <a:rPr lang="it-IT" sz="1800" b="1" dirty="0" err="1"/>
              <a:t>Sequential</a:t>
            </a:r>
            <a:r>
              <a:rPr lang="it-IT" sz="1800" b="1" dirty="0"/>
              <a:t> Patterns from </a:t>
            </a:r>
            <a:r>
              <a:rPr lang="it-IT" sz="1800" b="1" dirty="0" err="1"/>
              <a:t>Spatio-temporal</a:t>
            </a:r>
            <a:r>
              <a:rPr lang="it-IT" sz="1800" b="1" dirty="0"/>
              <a:t> Data </a:t>
            </a:r>
            <a:r>
              <a:rPr lang="it-IT" sz="1800" dirty="0"/>
              <a:t>(</a:t>
            </a:r>
            <a:r>
              <a:rPr lang="de-DE" sz="1800" i="1" dirty="0"/>
              <a:t>Piotr S. </a:t>
            </a:r>
            <a:r>
              <a:rPr lang="de-DE" sz="1800" i="1" dirty="0" err="1"/>
              <a:t>Maciag</a:t>
            </a:r>
            <a:r>
              <a:rPr lang="de-DE" sz="1800" i="1" dirty="0"/>
              <a:t> e Robert </a:t>
            </a:r>
            <a:r>
              <a:rPr lang="de-DE" sz="1800" i="1" dirty="0" err="1"/>
              <a:t>Bembenik</a:t>
            </a:r>
            <a:r>
              <a:rPr lang="de-DE" sz="1800" i="1" dirty="0"/>
              <a:t>, 2019</a:t>
            </a:r>
            <a:r>
              <a:rPr lang="de-DE" sz="1800" dirty="0"/>
              <a:t>)</a:t>
            </a:r>
          </a:p>
          <a:p>
            <a:endParaRPr lang="de-DE" sz="1800" dirty="0"/>
          </a:p>
          <a:p>
            <a:r>
              <a:rPr lang="de-DE" sz="1800" dirty="0" err="1"/>
              <a:t>L‘algoritmo</a:t>
            </a:r>
            <a:r>
              <a:rPr lang="de-DE" sz="1800" dirty="0"/>
              <a:t> </a:t>
            </a:r>
            <a:r>
              <a:rPr lang="de-DE" sz="1800" dirty="0" err="1"/>
              <a:t>preso</a:t>
            </a:r>
            <a:r>
              <a:rPr lang="de-DE" sz="1800" dirty="0"/>
              <a:t> in </a:t>
            </a:r>
            <a:r>
              <a:rPr lang="de-DE" sz="1800" dirty="0" err="1"/>
              <a:t>esame</a:t>
            </a:r>
            <a:r>
              <a:rPr lang="de-DE" sz="1800" dirty="0"/>
              <a:t>: </a:t>
            </a:r>
            <a:r>
              <a:rPr lang="de-DE" sz="1800" b="1" dirty="0" err="1"/>
              <a:t>Spatio</a:t>
            </a:r>
            <a:r>
              <a:rPr lang="de-DE" sz="1800" b="1" dirty="0"/>
              <a:t>-temporal </a:t>
            </a:r>
            <a:r>
              <a:rPr lang="de-DE" sz="1800" b="1" dirty="0" err="1"/>
              <a:t>Breadth</a:t>
            </a:r>
            <a:r>
              <a:rPr lang="de-DE" sz="1800" b="1" dirty="0"/>
              <a:t>-first Miner (STBFM)</a:t>
            </a:r>
            <a:endParaRPr lang="en-US" sz="1800" dirty="0"/>
          </a:p>
          <a:p>
            <a:endParaRPr lang="de-DE" sz="1800" dirty="0"/>
          </a:p>
          <a:p>
            <a:endParaRPr lang="de-DE" sz="1800" b="1" dirty="0"/>
          </a:p>
        </p:txBody>
      </p:sp>
      <p:sp>
        <p:nvSpPr>
          <p:cNvPr id="6" name="Segnaposto contenuto 1">
            <a:extLst>
              <a:ext uri="{FF2B5EF4-FFF2-40B4-BE49-F238E27FC236}">
                <a16:creationId xmlns:a16="http://schemas.microsoft.com/office/drawing/2014/main" id="{7B172736-3961-4471-8924-9E5FE2467003}"/>
              </a:ext>
            </a:extLst>
          </p:cNvPr>
          <p:cNvSpPr txBox="1">
            <a:spLocks/>
          </p:cNvSpPr>
          <p:nvPr/>
        </p:nvSpPr>
        <p:spPr>
          <a:xfrm>
            <a:off x="551384" y="2795658"/>
            <a:ext cx="10729192" cy="126668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endParaRPr lang="en-US" sz="1800" b="1" dirty="0"/>
          </a:p>
          <a:p>
            <a:r>
              <a:rPr lang="en-US" sz="1800" dirty="0"/>
              <a:t>Il dataset </a:t>
            </a:r>
            <a:r>
              <a:rPr lang="en-US" sz="1800" dirty="0" err="1"/>
              <a:t>scelto</a:t>
            </a:r>
            <a:r>
              <a:rPr lang="en-US" sz="1800" dirty="0"/>
              <a:t> per </a:t>
            </a:r>
            <a:r>
              <a:rPr lang="en-US" sz="1800" dirty="0" err="1"/>
              <a:t>l’applicazione</a:t>
            </a:r>
            <a:r>
              <a:rPr lang="en-US" sz="1800" dirty="0"/>
              <a:t> è del Department of Innovation and Technology del Boston Police Department, </a:t>
            </a:r>
            <a:r>
              <a:rPr lang="en-US" sz="1800" dirty="0" err="1"/>
              <a:t>dati</a:t>
            </a:r>
            <a:r>
              <a:rPr lang="en-US" sz="1800" dirty="0"/>
              <a:t> del 2018 </a:t>
            </a:r>
            <a:r>
              <a:rPr lang="it-IT" sz="1800" dirty="0">
                <a:hlinkClick r:id="rId2"/>
              </a:rPr>
              <a:t>https://data.boston.gov/dataset/crime-incident-reports-august-2015-to-date-source-new-system</a:t>
            </a:r>
            <a:endParaRPr lang="en-US" sz="1800" dirty="0"/>
          </a:p>
          <a:p>
            <a:endParaRPr lang="en-US" sz="1800" dirty="0"/>
          </a:p>
          <a:p>
            <a:pPr marL="109728" indent="0">
              <a:buNone/>
            </a:pPr>
            <a:endParaRPr lang="de-DE" sz="1800" dirty="0"/>
          </a:p>
        </p:txBody>
      </p:sp>
      <p:pic>
        <p:nvPicPr>
          <p:cNvPr id="1026" name="Picture 2" descr="Risultati immagini per boston police department logo">
            <a:extLst>
              <a:ext uri="{FF2B5EF4-FFF2-40B4-BE49-F238E27FC236}">
                <a16:creationId xmlns:a16="http://schemas.microsoft.com/office/drawing/2014/main" id="{270EF616-16FD-4DB7-ADA5-6997C7F12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4216806"/>
            <a:ext cx="1518061" cy="179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97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AE8991F2-9CBC-4A52-BC95-56EABB895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9" y="1619672"/>
            <a:ext cx="5514514" cy="4195633"/>
          </a:xfrm>
          <a:prstGeom prst="rect">
            <a:avLst/>
          </a:prstGeom>
        </p:spPr>
      </p:pic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D8EFE16-4DD7-4F16-98C3-6D932A9D9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64305"/>
            <a:ext cx="5112568" cy="873224"/>
          </a:xfrm>
        </p:spPr>
        <p:txBody>
          <a:bodyPr>
            <a:normAutofit/>
          </a:bodyPr>
          <a:lstStyle/>
          <a:p>
            <a:r>
              <a:rPr lang="en-US" sz="1600" b="1" dirty="0"/>
              <a:t>Neighborhood</a:t>
            </a:r>
            <a:r>
              <a:rPr lang="en-US" sz="1600" dirty="0"/>
              <a:t> </a:t>
            </a:r>
            <a:r>
              <a:rPr lang="en-US" sz="1600" dirty="0" err="1"/>
              <a:t>definito</a:t>
            </a:r>
            <a:r>
              <a:rPr lang="en-US" sz="1600" dirty="0"/>
              <a:t> da un </a:t>
            </a:r>
            <a:r>
              <a:rPr lang="en-US" sz="1600" dirty="0" err="1"/>
              <a:t>raggio</a:t>
            </a:r>
            <a:r>
              <a:rPr lang="en-US" sz="1600" dirty="0"/>
              <a:t> </a:t>
            </a:r>
            <a:r>
              <a:rPr lang="en-US" sz="1600" dirty="0" err="1"/>
              <a:t>spaziale</a:t>
            </a:r>
            <a:r>
              <a:rPr lang="en-US" sz="1600" dirty="0"/>
              <a:t> </a:t>
            </a:r>
            <a:r>
              <a:rPr lang="en-US" sz="1600" b="1" dirty="0"/>
              <a:t>R</a:t>
            </a:r>
            <a:r>
              <a:rPr lang="en-US" sz="1600" dirty="0"/>
              <a:t> ed un </a:t>
            </a:r>
            <a:r>
              <a:rPr lang="en-US" sz="1600" dirty="0" err="1"/>
              <a:t>raggio</a:t>
            </a:r>
            <a:r>
              <a:rPr lang="en-US" sz="1600" dirty="0"/>
              <a:t> </a:t>
            </a:r>
            <a:r>
              <a:rPr lang="en-US" sz="1600" dirty="0" err="1"/>
              <a:t>temporale</a:t>
            </a:r>
            <a:r>
              <a:rPr lang="en-US" sz="1600" dirty="0"/>
              <a:t> </a:t>
            </a:r>
            <a:r>
              <a:rPr lang="en-US" sz="1600" b="1" dirty="0"/>
              <a:t>T</a:t>
            </a:r>
            <a:r>
              <a:rPr lang="en-US" sz="1600" dirty="0"/>
              <a:t>:</a:t>
            </a:r>
            <a:endParaRPr lang="it-IT" sz="16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49F0703-FF79-4697-A6AD-478DE2B1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116632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dell’Arte</a:t>
            </a:r>
            <a:endParaRPr lang="it-IT" dirty="0"/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2CA663DD-65B7-4B15-9218-25EE749F3CF6}"/>
              </a:ext>
            </a:extLst>
          </p:cNvPr>
          <p:cNvSpPr txBox="1">
            <a:spLocks/>
          </p:cNvSpPr>
          <p:nvPr/>
        </p:nvSpPr>
        <p:spPr>
          <a:xfrm>
            <a:off x="2135560" y="476672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/>
              <a:t>Neighborhood (o </a:t>
            </a:r>
            <a:r>
              <a:rPr lang="en-US" sz="2400" dirty="0" err="1"/>
              <a:t>vicinato</a:t>
            </a:r>
            <a:r>
              <a:rPr lang="en-US" sz="2400" dirty="0"/>
              <a:t>) e Set di </a:t>
            </a:r>
            <a:r>
              <a:rPr lang="en-US" sz="2400" dirty="0" err="1"/>
              <a:t>Istanze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CBC66E2-3E46-423B-81F7-53FD151F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72" y="2202491"/>
            <a:ext cx="4246952" cy="93610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24E8B82-DEB2-4253-9DE3-CAD54E02B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576" y="4185394"/>
            <a:ext cx="3060551" cy="315928"/>
          </a:xfrm>
          <a:prstGeom prst="rect">
            <a:avLst/>
          </a:prstGeom>
        </p:spPr>
      </p:pic>
      <p:sp>
        <p:nvSpPr>
          <p:cNvPr id="10" name="Segnaposto contenuto 1">
            <a:extLst>
              <a:ext uri="{FF2B5EF4-FFF2-40B4-BE49-F238E27FC236}">
                <a16:creationId xmlns:a16="http://schemas.microsoft.com/office/drawing/2014/main" id="{45794F42-E4CC-4264-BBBC-6E3B1A1D22E1}"/>
              </a:ext>
            </a:extLst>
          </p:cNvPr>
          <p:cNvSpPr txBox="1">
            <a:spLocks/>
          </p:cNvSpPr>
          <p:nvPr/>
        </p:nvSpPr>
        <p:spPr>
          <a:xfrm>
            <a:off x="6234499" y="3673915"/>
            <a:ext cx="4392488" cy="136814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85750" indent="-285750"/>
            <a:r>
              <a:rPr lang="en-US" sz="1600" b="1" dirty="0"/>
              <a:t>Set di </a:t>
            </a:r>
            <a:r>
              <a:rPr lang="en-US" sz="1600" b="1" dirty="0" err="1"/>
              <a:t>istanze</a:t>
            </a:r>
            <a:r>
              <a:rPr lang="en-US" sz="1600" dirty="0"/>
              <a:t> per una </a:t>
            </a:r>
            <a:r>
              <a:rPr lang="en-US" sz="1600" dirty="0" err="1"/>
              <a:t>sequenza</a:t>
            </a:r>
            <a:r>
              <a:rPr lang="en-US" sz="1600" dirty="0"/>
              <a:t> di tipi di </a:t>
            </a:r>
            <a:r>
              <a:rPr lang="en-US" sz="1600" dirty="0" err="1"/>
              <a:t>eventi</a:t>
            </a:r>
            <a:r>
              <a:rPr lang="en-US" sz="1600" dirty="0"/>
              <a:t>: </a:t>
            </a:r>
          </a:p>
          <a:p>
            <a:pPr marL="109728" indent="0">
              <a:buNone/>
            </a:pPr>
            <a:endParaRPr lang="en-US" sz="1600" dirty="0"/>
          </a:p>
          <a:p>
            <a:pPr marL="109728" indent="0">
              <a:buNone/>
            </a:pPr>
            <a:r>
              <a:rPr lang="en-US" sz="1600" dirty="0"/>
              <a:t>    di </a:t>
            </a:r>
            <a:r>
              <a:rPr lang="en-US" sz="1600" dirty="0" err="1"/>
              <a:t>lunghezza</a:t>
            </a:r>
            <a:r>
              <a:rPr lang="en-US" sz="1600" dirty="0"/>
              <a:t> m</a:t>
            </a:r>
            <a:endParaRPr lang="it-IT" sz="1600" dirty="0"/>
          </a:p>
        </p:txBody>
      </p:sp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C4DE8432-AFCD-4166-B792-EF6DC480AEEF}"/>
              </a:ext>
            </a:extLst>
          </p:cNvPr>
          <p:cNvSpPr txBox="1">
            <a:spLocks/>
          </p:cNvSpPr>
          <p:nvPr/>
        </p:nvSpPr>
        <p:spPr>
          <a:xfrm>
            <a:off x="6584392" y="4832404"/>
            <a:ext cx="4392488" cy="13681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>
              <a:buFont typeface="+mj-lt"/>
              <a:buAutoNum type="arabicPeriod"/>
            </a:pPr>
            <a:r>
              <a:rPr lang="en-US" sz="1600" dirty="0"/>
              <a:t>Per un </a:t>
            </a:r>
            <a:r>
              <a:rPr lang="en-US" sz="1600" dirty="0" err="1"/>
              <a:t>tipo</a:t>
            </a:r>
            <a:r>
              <a:rPr lang="en-US" sz="1600" dirty="0"/>
              <a:t>  s[1]:                                     …………..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Per </a:t>
            </a:r>
            <a:r>
              <a:rPr lang="en-US" sz="1600" dirty="0" err="1"/>
              <a:t>i</a:t>
            </a:r>
            <a:r>
              <a:rPr lang="en-US" sz="1600" dirty="0"/>
              <a:t> tipi s[2]……………….. :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C25C6F6-313F-4C8F-8FD3-D1934A6DF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9422" y="5363123"/>
            <a:ext cx="1781175" cy="28575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F7B3EEE-56C2-44F8-942E-C90BEEF3B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14" y="4809505"/>
            <a:ext cx="428625" cy="29527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0FE459A-F9C5-4B77-8845-9A03D83AF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784" y="5687481"/>
            <a:ext cx="3308784" cy="566926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FA8248BE-DC74-4BF0-B7B8-72D37822B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6921" y="5095879"/>
            <a:ext cx="19050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3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294E60C9-CC70-489E-BE52-F8574469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963" y="2240661"/>
            <a:ext cx="5050904" cy="507512"/>
          </a:xfrm>
        </p:spPr>
        <p:txBody>
          <a:bodyPr>
            <a:normAutofit/>
          </a:bodyPr>
          <a:lstStyle/>
          <a:p>
            <a:r>
              <a:rPr lang="en-US" sz="1800" dirty="0"/>
              <a:t>Participation </a:t>
            </a:r>
            <a:r>
              <a:rPr lang="en-US" sz="1800" dirty="0" err="1"/>
              <a:t>Rateo</a:t>
            </a:r>
            <a:r>
              <a:rPr lang="en-US" sz="1800" dirty="0"/>
              <a:t> (</a:t>
            </a:r>
            <a:r>
              <a:rPr lang="en-US" sz="1800" dirty="0" err="1"/>
              <a:t>tra</a:t>
            </a:r>
            <a:r>
              <a:rPr lang="en-US" sz="1800" dirty="0"/>
              <a:t> 2 soli tipi):</a:t>
            </a:r>
            <a:endParaRPr lang="it-IT" sz="18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D3C969E-DE23-462B-9107-BA1A5DCA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540" y="167060"/>
            <a:ext cx="8280920" cy="760614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dell’Arte</a:t>
            </a:r>
            <a:endParaRPr lang="it-IT" dirty="0"/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F989E449-B0F6-45E6-9C8B-817E168E2F31}"/>
              </a:ext>
            </a:extLst>
          </p:cNvPr>
          <p:cNvSpPr txBox="1">
            <a:spLocks/>
          </p:cNvSpPr>
          <p:nvPr/>
        </p:nvSpPr>
        <p:spPr>
          <a:xfrm>
            <a:off x="2063552" y="562674"/>
            <a:ext cx="8280920" cy="678813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/>
              <a:t>Participation </a:t>
            </a:r>
            <a:r>
              <a:rPr lang="en-US" sz="2400" dirty="0" err="1"/>
              <a:t>Rateo</a:t>
            </a:r>
            <a:r>
              <a:rPr lang="en-US" sz="2400" dirty="0"/>
              <a:t> &amp; Participation Index</a:t>
            </a:r>
            <a:endParaRPr lang="it-IT" sz="2400" dirty="0"/>
          </a:p>
        </p:txBody>
      </p:sp>
      <p:sp>
        <p:nvSpPr>
          <p:cNvPr id="5" name="Segnaposto contenuto 1">
            <a:extLst>
              <a:ext uri="{FF2B5EF4-FFF2-40B4-BE49-F238E27FC236}">
                <a16:creationId xmlns:a16="http://schemas.microsoft.com/office/drawing/2014/main" id="{53F25942-07E3-4AF3-BDDC-2BEB24250FB0}"/>
              </a:ext>
            </a:extLst>
          </p:cNvPr>
          <p:cNvSpPr txBox="1">
            <a:spLocks/>
          </p:cNvSpPr>
          <p:nvPr/>
        </p:nvSpPr>
        <p:spPr>
          <a:xfrm>
            <a:off x="565178" y="1264409"/>
            <a:ext cx="6984776" cy="327339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/>
              <a:t>Data una </a:t>
            </a:r>
            <a:r>
              <a:rPr lang="en-US" sz="1800" dirty="0" err="1"/>
              <a:t>sequenza</a:t>
            </a:r>
            <a:r>
              <a:rPr lang="en-US" sz="1800" dirty="0"/>
              <a:t> di tipi di </a:t>
            </a:r>
            <a:r>
              <a:rPr lang="en-US" sz="1800" dirty="0" err="1"/>
              <a:t>eventi</a:t>
            </a:r>
            <a:r>
              <a:rPr lang="en-US" sz="1800" dirty="0"/>
              <a:t> di </a:t>
            </a:r>
            <a:r>
              <a:rPr lang="en-US" sz="1800" dirty="0" err="1"/>
              <a:t>lunghezza</a:t>
            </a:r>
            <a:r>
              <a:rPr lang="en-US" sz="1800" dirty="0"/>
              <a:t> m:</a:t>
            </a:r>
            <a:endParaRPr lang="it-IT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5EE2777-EA4E-4758-B425-382BDCB7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40" y="2515855"/>
            <a:ext cx="4104456" cy="704896"/>
          </a:xfrm>
          <a:prstGeom prst="rect">
            <a:avLst/>
          </a:prstGeom>
        </p:spPr>
      </p:pic>
      <p:sp>
        <p:nvSpPr>
          <p:cNvPr id="8" name="Segnaposto contenuto 1">
            <a:extLst>
              <a:ext uri="{FF2B5EF4-FFF2-40B4-BE49-F238E27FC236}">
                <a16:creationId xmlns:a16="http://schemas.microsoft.com/office/drawing/2014/main" id="{C906672F-56BE-4380-ADD0-9607BF4370F6}"/>
              </a:ext>
            </a:extLst>
          </p:cNvPr>
          <p:cNvSpPr txBox="1">
            <a:spLocks/>
          </p:cNvSpPr>
          <p:nvPr/>
        </p:nvSpPr>
        <p:spPr>
          <a:xfrm>
            <a:off x="590963" y="3428935"/>
            <a:ext cx="5050904" cy="5075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Participation Index [0, 1]:</a:t>
            </a:r>
            <a:endParaRPr lang="it-IT" sz="1800" dirty="0"/>
          </a:p>
        </p:txBody>
      </p:sp>
      <p:sp>
        <p:nvSpPr>
          <p:cNvPr id="9" name="Segnaposto contenuto 1">
            <a:extLst>
              <a:ext uri="{FF2B5EF4-FFF2-40B4-BE49-F238E27FC236}">
                <a16:creationId xmlns:a16="http://schemas.microsoft.com/office/drawing/2014/main" id="{F430D6B9-662C-43FF-B115-C47764878351}"/>
              </a:ext>
            </a:extLst>
          </p:cNvPr>
          <p:cNvSpPr txBox="1">
            <a:spLocks/>
          </p:cNvSpPr>
          <p:nvPr/>
        </p:nvSpPr>
        <p:spPr>
          <a:xfrm>
            <a:off x="2063552" y="3824284"/>
            <a:ext cx="5050904" cy="180373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2628" indent="-342900">
              <a:buFont typeface="+mj-lt"/>
              <a:buAutoNum type="arabicPeriod"/>
            </a:pPr>
            <a:r>
              <a:rPr lang="en-US" sz="1800" dirty="0"/>
              <a:t>se m = 2:</a:t>
            </a:r>
          </a:p>
          <a:p>
            <a:pPr marL="452628" indent="-342900">
              <a:buFont typeface="+mj-lt"/>
              <a:buAutoNum type="arabicPeriod"/>
            </a:pPr>
            <a:endParaRPr lang="en-US" sz="1800" dirty="0"/>
          </a:p>
          <a:p>
            <a:pPr marL="452628" indent="-342900">
              <a:buFont typeface="+mj-lt"/>
              <a:buAutoNum type="arabicPeriod"/>
            </a:pPr>
            <a:endParaRPr lang="en-US" sz="1800" dirty="0"/>
          </a:p>
          <a:p>
            <a:pPr marL="452628" indent="-342900">
              <a:buFont typeface="+mj-lt"/>
              <a:buAutoNum type="arabicPeriod"/>
            </a:pPr>
            <a:r>
              <a:rPr lang="en-US" sz="1800" dirty="0"/>
              <a:t>se m &gt; 2:</a:t>
            </a:r>
            <a:endParaRPr lang="it-IT" sz="18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025827C-26A8-4EEF-8315-33E558CC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820" y="4205719"/>
            <a:ext cx="3528392" cy="42768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505C8CB-19DC-473F-A037-3E0FD697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208" y="5065996"/>
            <a:ext cx="4892534" cy="98018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ACE67D4-C288-458B-8556-BFF0436B01B1}"/>
              </a:ext>
            </a:extLst>
          </p:cNvPr>
          <p:cNvSpPr txBox="1"/>
          <p:nvPr/>
        </p:nvSpPr>
        <p:spPr>
          <a:xfrm>
            <a:off x="3063486" y="6083533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dove 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453282A-A22C-4C29-BE1E-548626628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916" y="6060611"/>
            <a:ext cx="4610548" cy="40353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7247DCF8-B139-43D8-A13E-DF97B77BF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048" y="1550353"/>
            <a:ext cx="4076868" cy="393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egnaposto contenuto 1">
                <a:extLst>
                  <a:ext uri="{FF2B5EF4-FFF2-40B4-BE49-F238E27FC236}">
                    <a16:creationId xmlns:a16="http://schemas.microsoft.com/office/drawing/2014/main" id="{B5299535-83B9-4A75-8A13-C09E503896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152" y="4033041"/>
                <a:ext cx="4892535" cy="1032955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109728" indent="0" algn="ctr">
                  <a:buNone/>
                </a:pPr>
                <a:r>
                  <a:rPr lang="en-US" sz="1800" dirty="0"/>
                  <a:t>Es. </a:t>
                </a:r>
              </a:p>
              <a:p>
                <a:pPr marL="109728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𝐴𝑔𝑔𝑟𝑎𝑣𝑎𝑡𝑒𝑑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𝐴𝑠𝑠𝑎𝑢𝑙𝑡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𝐿𝑎𝑟𝑐𝑒𝑛𝑦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𝐻𝑜𝑚𝑖𝑐𝑖𝑑𝑒</m:t>
                    </m:r>
                  </m:oMath>
                </a14:m>
                <a:r>
                  <a:rPr lang="it-IT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endParaRPr lang="it-IT" sz="1800" dirty="0"/>
              </a:p>
            </p:txBody>
          </p:sp>
        </mc:Choice>
        <mc:Fallback xmlns="">
          <p:sp>
            <p:nvSpPr>
              <p:cNvPr id="16" name="Segnaposto contenuto 1">
                <a:extLst>
                  <a:ext uri="{FF2B5EF4-FFF2-40B4-BE49-F238E27FC236}">
                    <a16:creationId xmlns:a16="http://schemas.microsoft.com/office/drawing/2014/main" id="{B5299535-83B9-4A75-8A13-C09E50389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152" y="4033041"/>
                <a:ext cx="4892535" cy="1032955"/>
              </a:xfrm>
              <a:prstGeom prst="rect">
                <a:avLst/>
              </a:prstGeom>
              <a:blipFill>
                <a:blip r:embed="rId7"/>
                <a:stretch>
                  <a:fillRect t="-35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06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/>
      <p:bldP spid="9" grpId="0"/>
      <p:bldP spid="13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134B2F3-CDA8-4A44-831C-4B2E414F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8" y="251165"/>
            <a:ext cx="8229600" cy="778098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Algoritmo</a:t>
            </a:r>
            <a:r>
              <a:rPr lang="en-US" dirty="0"/>
              <a:t> STBFM</a:t>
            </a:r>
            <a:endParaRPr lang="it-IT" dirty="0"/>
          </a:p>
        </p:txBody>
      </p:sp>
      <p:sp>
        <p:nvSpPr>
          <p:cNvPr id="5" name="Trapezio 4">
            <a:extLst>
              <a:ext uri="{FF2B5EF4-FFF2-40B4-BE49-F238E27FC236}">
                <a16:creationId xmlns:a16="http://schemas.microsoft.com/office/drawing/2014/main" id="{098D7189-2B1E-4498-8770-3848EE2649D4}"/>
              </a:ext>
            </a:extLst>
          </p:cNvPr>
          <p:cNvSpPr/>
          <p:nvPr/>
        </p:nvSpPr>
        <p:spPr>
          <a:xfrm>
            <a:off x="1338575" y="1704175"/>
            <a:ext cx="1728192" cy="778098"/>
          </a:xfrm>
          <a:prstGeom prst="trapezoid">
            <a:avLst>
              <a:gd name="adj" fmla="val 118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</a:t>
            </a:r>
            <a:endParaRPr lang="it-IT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2460A79-2D30-4850-B871-4032877339A0}"/>
              </a:ext>
            </a:extLst>
          </p:cNvPr>
          <p:cNvCxnSpPr>
            <a:cxnSpLocks/>
          </p:cNvCxnSpPr>
          <p:nvPr/>
        </p:nvCxnSpPr>
        <p:spPr>
          <a:xfrm>
            <a:off x="3195719" y="2070050"/>
            <a:ext cx="88405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7802E51-C156-4023-B3F3-A309A40AFBF1}"/>
              </a:ext>
            </a:extLst>
          </p:cNvPr>
          <p:cNvCxnSpPr>
            <a:cxnSpLocks/>
          </p:cNvCxnSpPr>
          <p:nvPr/>
        </p:nvCxnSpPr>
        <p:spPr>
          <a:xfrm>
            <a:off x="7055474" y="2070050"/>
            <a:ext cx="12735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23D87FA-234E-4269-95B0-62054CEA829A}"/>
              </a:ext>
            </a:extLst>
          </p:cNvPr>
          <p:cNvCxnSpPr>
            <a:cxnSpLocks/>
          </p:cNvCxnSpPr>
          <p:nvPr/>
        </p:nvCxnSpPr>
        <p:spPr>
          <a:xfrm>
            <a:off x="9556590" y="2474580"/>
            <a:ext cx="0" cy="6480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e 13">
                <a:extLst>
                  <a:ext uri="{FF2B5EF4-FFF2-40B4-BE49-F238E27FC236}">
                    <a16:creationId xmlns:a16="http://schemas.microsoft.com/office/drawing/2014/main" id="{F50D7345-78AF-4854-9A5F-1EB27C8449C5}"/>
                  </a:ext>
                </a:extLst>
              </p:cNvPr>
              <p:cNvSpPr/>
              <p:nvPr/>
            </p:nvSpPr>
            <p:spPr>
              <a:xfrm>
                <a:off x="8197693" y="3175085"/>
                <a:ext cx="2717794" cy="8487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𝐶𝑎𝑛𝑑𝑖𝑑𝑎𝑡𝑒𝐺𝑒𝑛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Ovale 13">
                <a:extLst>
                  <a:ext uri="{FF2B5EF4-FFF2-40B4-BE49-F238E27FC236}">
                    <a16:creationId xmlns:a16="http://schemas.microsoft.com/office/drawing/2014/main" id="{F50D7345-78AF-4854-9A5F-1EB27C844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693" y="3175085"/>
                <a:ext cx="2717794" cy="84870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18765C9-F78D-4030-9071-AA848EFE6788}"/>
              </a:ext>
            </a:extLst>
          </p:cNvPr>
          <p:cNvCxnSpPr>
            <a:cxnSpLocks/>
          </p:cNvCxnSpPr>
          <p:nvPr/>
        </p:nvCxnSpPr>
        <p:spPr>
          <a:xfrm flipH="1">
            <a:off x="9556590" y="4121566"/>
            <a:ext cx="1" cy="7488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1B5F6E32-4C4E-493F-B28A-01F4CFFB048F}"/>
                  </a:ext>
                </a:extLst>
              </p:cNvPr>
              <p:cNvSpPr/>
              <p:nvPr/>
            </p:nvSpPr>
            <p:spPr>
              <a:xfrm>
                <a:off x="8328993" y="4968150"/>
                <a:ext cx="2534108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𝑣𝑒𝑟𝑖𝑓𝑦𝐶𝑎𝑛𝑑𝑖𝑑𝑎𝑡𝑒𝑠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1B5F6E32-4C4E-493F-B28A-01F4CFFB04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8993" y="4968150"/>
                <a:ext cx="2534108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ati 21">
                <a:extLst>
                  <a:ext uri="{FF2B5EF4-FFF2-40B4-BE49-F238E27FC236}">
                    <a16:creationId xmlns:a16="http://schemas.microsoft.com/office/drawing/2014/main" id="{8B0FD312-8A11-477C-ABE9-1CD102DF5927}"/>
                  </a:ext>
                </a:extLst>
              </p:cNvPr>
              <p:cNvSpPr/>
              <p:nvPr/>
            </p:nvSpPr>
            <p:spPr>
              <a:xfrm>
                <a:off x="5369916" y="4288010"/>
                <a:ext cx="2141730" cy="680140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22" name="Dati 21">
                <a:extLst>
                  <a:ext uri="{FF2B5EF4-FFF2-40B4-BE49-F238E27FC236}">
                    <a16:creationId xmlns:a16="http://schemas.microsoft.com/office/drawing/2014/main" id="{8B0FD312-8A11-477C-ABE9-1CD102DF5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916" y="4288010"/>
                <a:ext cx="2141730" cy="680140"/>
              </a:xfrm>
              <a:prstGeom prst="flowChartInputOutp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79F6B7E-7C3D-4DCA-A745-0B4A706DCB7E}"/>
              </a:ext>
            </a:extLst>
          </p:cNvPr>
          <p:cNvCxnSpPr>
            <a:cxnSpLocks/>
          </p:cNvCxnSpPr>
          <p:nvPr/>
        </p:nvCxnSpPr>
        <p:spPr>
          <a:xfrm flipH="1" flipV="1">
            <a:off x="7248128" y="4797152"/>
            <a:ext cx="976998" cy="3549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4980A51-E4FF-4F25-9FC7-BB3DE6B5A322}"/>
              </a:ext>
            </a:extLst>
          </p:cNvPr>
          <p:cNvCxnSpPr>
            <a:cxnSpLocks/>
          </p:cNvCxnSpPr>
          <p:nvPr/>
        </p:nvCxnSpPr>
        <p:spPr>
          <a:xfrm flipH="1" flipV="1">
            <a:off x="4651488" y="4168260"/>
            <a:ext cx="940456" cy="3408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Decisione 27">
                <a:extLst>
                  <a:ext uri="{FF2B5EF4-FFF2-40B4-BE49-F238E27FC236}">
                    <a16:creationId xmlns:a16="http://schemas.microsoft.com/office/drawing/2014/main" id="{F1745EEF-FB7F-4375-8656-5924277A2DBB}"/>
                  </a:ext>
                </a:extLst>
              </p:cNvPr>
              <p:cNvSpPr/>
              <p:nvPr/>
            </p:nvSpPr>
            <p:spPr>
              <a:xfrm>
                <a:off x="2457516" y="3190422"/>
                <a:ext cx="2486614" cy="136814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 ∅</m:t>
                    </m:r>
                  </m:oMath>
                </a14:m>
                <a:r>
                  <a:rPr lang="en-US" dirty="0"/>
                  <a:t> </a:t>
                </a:r>
                <a:endParaRPr lang="it-IT" dirty="0"/>
              </a:p>
            </p:txBody>
          </p:sp>
        </mc:Choice>
        <mc:Fallback xmlns="">
          <p:sp>
            <p:nvSpPr>
              <p:cNvPr id="28" name="Decisione 27">
                <a:extLst>
                  <a:ext uri="{FF2B5EF4-FFF2-40B4-BE49-F238E27FC236}">
                    <a16:creationId xmlns:a16="http://schemas.microsoft.com/office/drawing/2014/main" id="{F1745EEF-FB7F-4375-8656-5924277A2D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516" y="3190422"/>
                <a:ext cx="2486614" cy="1368148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51707EF-907E-49CA-80DA-D8313591918A}"/>
              </a:ext>
            </a:extLst>
          </p:cNvPr>
          <p:cNvCxnSpPr>
            <a:cxnSpLocks/>
          </p:cNvCxnSpPr>
          <p:nvPr/>
        </p:nvCxnSpPr>
        <p:spPr>
          <a:xfrm flipV="1">
            <a:off x="4439816" y="2689742"/>
            <a:ext cx="5040560" cy="8043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9AA13B88-290D-4F07-8212-5986E5064482}"/>
              </a:ext>
            </a:extLst>
          </p:cNvPr>
          <p:cNvCxnSpPr>
            <a:cxnSpLocks/>
          </p:cNvCxnSpPr>
          <p:nvPr/>
        </p:nvCxnSpPr>
        <p:spPr>
          <a:xfrm>
            <a:off x="3699775" y="4603310"/>
            <a:ext cx="7904" cy="7971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sagono 35">
                <a:extLst>
                  <a:ext uri="{FF2B5EF4-FFF2-40B4-BE49-F238E27FC236}">
                    <a16:creationId xmlns:a16="http://schemas.microsoft.com/office/drawing/2014/main" id="{37BCF024-32E2-4BE9-AC9E-A1AEBC4C4B6B}"/>
                  </a:ext>
                </a:extLst>
              </p:cNvPr>
              <p:cNvSpPr/>
              <p:nvPr/>
            </p:nvSpPr>
            <p:spPr>
              <a:xfrm>
                <a:off x="2667011" y="5445224"/>
                <a:ext cx="2141730" cy="68014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𝑇𝑜𝑝</m:t>
                      </m:r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36" name="Esagono 35">
                <a:extLst>
                  <a:ext uri="{FF2B5EF4-FFF2-40B4-BE49-F238E27FC236}">
                    <a16:creationId xmlns:a16="http://schemas.microsoft.com/office/drawing/2014/main" id="{37BCF024-32E2-4BE9-AC9E-A1AEBC4C4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11" y="5445224"/>
                <a:ext cx="2141730" cy="680140"/>
              </a:xfrm>
              <a:prstGeom prst="hexagon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e 36">
                <a:extLst>
                  <a:ext uri="{FF2B5EF4-FFF2-40B4-BE49-F238E27FC236}">
                    <a16:creationId xmlns:a16="http://schemas.microsoft.com/office/drawing/2014/main" id="{A2745D15-3963-4872-A6A1-7BA2E7D51E09}"/>
                  </a:ext>
                </a:extLst>
              </p:cNvPr>
              <p:cNvSpPr/>
              <p:nvPr/>
            </p:nvSpPr>
            <p:spPr>
              <a:xfrm>
                <a:off x="4208728" y="1656245"/>
                <a:ext cx="2717794" cy="8487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𝐶𝑎𝑛𝑑𝑖𝑑𝑎𝑡𝑒𝐺𝑒𝑛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7" name="Ovale 36">
                <a:extLst>
                  <a:ext uri="{FF2B5EF4-FFF2-40B4-BE49-F238E27FC236}">
                    <a16:creationId xmlns:a16="http://schemas.microsoft.com/office/drawing/2014/main" id="{A2745D15-3963-4872-A6A1-7BA2E7D51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728" y="1656245"/>
                <a:ext cx="2717794" cy="84870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D8719E72-2C1C-4E19-851E-DEED4B7FF3F7}"/>
                  </a:ext>
                </a:extLst>
              </p:cNvPr>
              <p:cNvSpPr/>
              <p:nvPr/>
            </p:nvSpPr>
            <p:spPr>
              <a:xfrm>
                <a:off x="8374832" y="1675379"/>
                <a:ext cx="2534108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𝑣𝑒𝑟𝑖𝑓𝑦𝐶𝑎𝑛𝑑𝑖𝑑𝑎𝑡𝑒𝑠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D8719E72-2C1C-4E19-851E-DEED4B7FF3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832" y="1675379"/>
                <a:ext cx="2534108" cy="720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860C98C-5295-4F1F-B190-8D82444C46BD}"/>
              </a:ext>
            </a:extLst>
          </p:cNvPr>
          <p:cNvSpPr txBox="1"/>
          <p:nvPr/>
        </p:nvSpPr>
        <p:spPr>
          <a:xfrm>
            <a:off x="4439816" y="3163256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endParaRPr lang="it-IT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A48F468-678D-4A48-8B92-D9EE37ED1EE3}"/>
              </a:ext>
            </a:extLst>
          </p:cNvPr>
          <p:cNvSpPr txBox="1"/>
          <p:nvPr/>
        </p:nvSpPr>
        <p:spPr>
          <a:xfrm>
            <a:off x="3383328" y="4573934"/>
            <a:ext cx="295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F</a:t>
            </a:r>
            <a:endParaRPr lang="it-IT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Segnaposto contenuto 1">
            <a:extLst>
              <a:ext uri="{FF2B5EF4-FFF2-40B4-BE49-F238E27FC236}">
                <a16:creationId xmlns:a16="http://schemas.microsoft.com/office/drawing/2014/main" id="{344A0322-51F0-4D85-B863-293CC4CB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4832" y="224876"/>
            <a:ext cx="3201763" cy="376760"/>
          </a:xfrm>
        </p:spPr>
        <p:txBody>
          <a:bodyPr>
            <a:noAutofit/>
          </a:bodyPr>
          <a:lstStyle/>
          <a:p>
            <a:r>
              <a:rPr lang="en-US" sz="1600" dirty="0"/>
              <a:t>Threshold (</a:t>
            </a:r>
            <a:r>
              <a:rPr lang="en-US" sz="1600" dirty="0" err="1"/>
              <a:t>soglia</a:t>
            </a:r>
            <a:r>
              <a:rPr lang="en-US" sz="1600" dirty="0"/>
              <a:t>) di PI: </a:t>
            </a:r>
            <a:r>
              <a:rPr lang="el-GR" sz="1600" b="1" dirty="0"/>
              <a:t>θ</a:t>
            </a:r>
            <a:endParaRPr lang="en-US" sz="1600" dirty="0"/>
          </a:p>
        </p:txBody>
      </p:sp>
      <p:sp>
        <p:nvSpPr>
          <p:cNvPr id="48" name="Segnaposto contenuto 1">
            <a:extLst>
              <a:ext uri="{FF2B5EF4-FFF2-40B4-BE49-F238E27FC236}">
                <a16:creationId xmlns:a16="http://schemas.microsoft.com/office/drawing/2014/main" id="{06E82E6A-AE90-4177-995C-B5CEB85BDA43}"/>
              </a:ext>
            </a:extLst>
          </p:cNvPr>
          <p:cNvSpPr txBox="1">
            <a:spLocks/>
          </p:cNvSpPr>
          <p:nvPr/>
        </p:nvSpPr>
        <p:spPr>
          <a:xfrm>
            <a:off x="8374832" y="561942"/>
            <a:ext cx="2831944" cy="37676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600" dirty="0" err="1"/>
              <a:t>Insieme</a:t>
            </a:r>
            <a:r>
              <a:rPr lang="en-US" sz="1600" dirty="0"/>
              <a:t> </a:t>
            </a:r>
            <a:r>
              <a:rPr lang="en-US" sz="1600" i="1" dirty="0"/>
              <a:t>Top </a:t>
            </a:r>
            <a:r>
              <a:rPr lang="en-US" sz="1600" dirty="0"/>
              <a:t>(</a:t>
            </a:r>
            <a:r>
              <a:rPr lang="en-US" sz="1600" b="1" dirty="0"/>
              <a:t>OUTPUT</a:t>
            </a:r>
            <a:r>
              <a:rPr lang="en-US" sz="1600" dirty="0"/>
              <a:t>)</a:t>
            </a:r>
          </a:p>
        </p:txBody>
      </p:sp>
      <p:sp>
        <p:nvSpPr>
          <p:cNvPr id="49" name="Segnaposto contenuto 1">
            <a:extLst>
              <a:ext uri="{FF2B5EF4-FFF2-40B4-BE49-F238E27FC236}">
                <a16:creationId xmlns:a16="http://schemas.microsoft.com/office/drawing/2014/main" id="{E71F6A07-CFD6-4753-BD57-83ABC1556895}"/>
              </a:ext>
            </a:extLst>
          </p:cNvPr>
          <p:cNvSpPr txBox="1">
            <a:spLocks/>
          </p:cNvSpPr>
          <p:nvPr/>
        </p:nvSpPr>
        <p:spPr>
          <a:xfrm>
            <a:off x="8374832" y="890831"/>
            <a:ext cx="3963783" cy="37676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600" dirty="0" err="1"/>
              <a:t>Numero</a:t>
            </a:r>
            <a:r>
              <a:rPr lang="en-US" sz="1600" dirty="0"/>
              <a:t> </a:t>
            </a:r>
            <a:r>
              <a:rPr lang="en-US" sz="1600" dirty="0" err="1"/>
              <a:t>elementi</a:t>
            </a:r>
            <a:r>
              <a:rPr lang="en-US" sz="1600" dirty="0"/>
              <a:t> in </a:t>
            </a:r>
            <a:r>
              <a:rPr lang="en-US" sz="1600" i="1" dirty="0"/>
              <a:t>Top</a:t>
            </a:r>
            <a:r>
              <a:rPr lang="en-US" sz="1600" dirty="0"/>
              <a:t>:</a:t>
            </a:r>
            <a:r>
              <a:rPr lang="en-US" sz="1600" i="1" dirty="0"/>
              <a:t> </a:t>
            </a:r>
            <a:r>
              <a:rPr lang="en-US" sz="1600" b="1" dirty="0"/>
              <a:t>Num</a:t>
            </a:r>
          </a:p>
        </p:txBody>
      </p:sp>
      <p:sp>
        <p:nvSpPr>
          <p:cNvPr id="24" name="Segnaposto contenuto 1">
            <a:extLst>
              <a:ext uri="{FF2B5EF4-FFF2-40B4-BE49-F238E27FC236}">
                <a16:creationId xmlns:a16="http://schemas.microsoft.com/office/drawing/2014/main" id="{96F2C1E6-5292-426F-824B-7659BA614982}"/>
              </a:ext>
            </a:extLst>
          </p:cNvPr>
          <p:cNvSpPr txBox="1">
            <a:spLocks/>
          </p:cNvSpPr>
          <p:nvPr/>
        </p:nvSpPr>
        <p:spPr>
          <a:xfrm>
            <a:off x="420754" y="387002"/>
            <a:ext cx="3201763" cy="67889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600" dirty="0" err="1"/>
              <a:t>Raggio</a:t>
            </a:r>
            <a:r>
              <a:rPr lang="en-US" sz="1600" dirty="0"/>
              <a:t> </a:t>
            </a:r>
            <a:r>
              <a:rPr lang="en-US" sz="1600" dirty="0" err="1"/>
              <a:t>spaziale</a:t>
            </a:r>
            <a:r>
              <a:rPr lang="en-US" sz="1600" dirty="0"/>
              <a:t>: </a:t>
            </a:r>
            <a:r>
              <a:rPr lang="en-US" sz="1600" b="1" dirty="0"/>
              <a:t>R</a:t>
            </a:r>
          </a:p>
          <a:p>
            <a:r>
              <a:rPr lang="en-US" sz="1600" dirty="0"/>
              <a:t>Intervallo </a:t>
            </a:r>
            <a:r>
              <a:rPr lang="en-US" sz="1600" dirty="0" err="1"/>
              <a:t>temporale</a:t>
            </a:r>
            <a:r>
              <a:rPr lang="en-US" sz="1600" dirty="0"/>
              <a:t>: </a:t>
            </a:r>
            <a:r>
              <a:rPr lang="en-US" sz="1600" b="1" dirty="0"/>
              <a:t>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8576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9" grpId="0" animBg="1"/>
      <p:bldP spid="22" grpId="0" animBg="1"/>
      <p:bldP spid="28" grpId="0" animBg="1"/>
      <p:bldP spid="36" grpId="0" animBg="1"/>
      <p:bldP spid="37" grpId="0" animBg="1"/>
      <p:bldP spid="38" grpId="0" animBg="1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7CEC9B40-5735-4330-915C-2807B5CE0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3735" y="3636305"/>
            <a:ext cx="4899048" cy="1713408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1800" dirty="0" err="1"/>
              <a:t>Componenti</a:t>
            </a:r>
            <a:r>
              <a:rPr lang="en-US" sz="1800" dirty="0"/>
              <a:t> </a:t>
            </a:r>
            <a:r>
              <a:rPr lang="en-US" sz="1800" dirty="0" err="1"/>
              <a:t>nodo</a:t>
            </a:r>
            <a:r>
              <a:rPr lang="en-US" sz="1800" dirty="0"/>
              <a:t>:</a:t>
            </a:r>
          </a:p>
          <a:p>
            <a:r>
              <a:rPr lang="en-US" sz="1800" dirty="0"/>
              <a:t>First parent</a:t>
            </a:r>
          </a:p>
          <a:p>
            <a:r>
              <a:rPr lang="en-US" sz="1800" dirty="0"/>
              <a:t>Second parent</a:t>
            </a:r>
          </a:p>
          <a:p>
            <a:r>
              <a:rPr lang="en-US" sz="1800" dirty="0"/>
              <a:t>Value</a:t>
            </a:r>
          </a:p>
          <a:p>
            <a:r>
              <a:rPr lang="en-US" sz="1800" dirty="0"/>
              <a:t>Children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5DF1161-DAFB-4725-8177-A638950D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12" y="273727"/>
            <a:ext cx="10972800" cy="1143000"/>
          </a:xfrm>
        </p:spPr>
        <p:txBody>
          <a:bodyPr/>
          <a:lstStyle/>
          <a:p>
            <a:pPr algn="ctr"/>
            <a:r>
              <a:rPr lang="en-US" dirty="0"/>
              <a:t>Sequence Pattern Tree (</a:t>
            </a:r>
            <a:r>
              <a:rPr lang="en-US" dirty="0" err="1"/>
              <a:t>SPTree</a:t>
            </a:r>
            <a:r>
              <a:rPr lang="en-US" dirty="0"/>
              <a:t>)</a:t>
            </a:r>
            <a:endParaRPr lang="it-IT" dirty="0"/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92721421-904A-4764-A727-31DB436DD8EE}"/>
              </a:ext>
            </a:extLst>
          </p:cNvPr>
          <p:cNvSpPr txBox="1">
            <a:spLocks/>
          </p:cNvSpPr>
          <p:nvPr/>
        </p:nvSpPr>
        <p:spPr>
          <a:xfrm>
            <a:off x="1955540" y="846139"/>
            <a:ext cx="8280920" cy="678813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 err="1"/>
              <a:t>Struttura</a:t>
            </a:r>
            <a:r>
              <a:rPr lang="en-US" sz="2400" dirty="0"/>
              <a:t> </a:t>
            </a:r>
            <a:r>
              <a:rPr lang="en-US" sz="2400" dirty="0" err="1"/>
              <a:t>dati</a:t>
            </a:r>
            <a:r>
              <a:rPr lang="en-US" sz="2400" dirty="0"/>
              <a:t> ad </a:t>
            </a:r>
            <a:r>
              <a:rPr lang="en-US" sz="2400" dirty="0" err="1"/>
              <a:t>albero</a:t>
            </a:r>
            <a:r>
              <a:rPr lang="en-US" sz="2400" dirty="0"/>
              <a:t> di </a:t>
            </a:r>
            <a:r>
              <a:rPr lang="en-US" sz="2400" dirty="0" err="1"/>
              <a:t>supporto</a:t>
            </a:r>
            <a:endParaRPr lang="it-IT" sz="2400" dirty="0"/>
          </a:p>
        </p:txBody>
      </p:sp>
      <p:pic>
        <p:nvPicPr>
          <p:cNvPr id="12" name="Immagine 11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0862D7E9-D305-4305-96FF-498387847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584" y="1515044"/>
            <a:ext cx="7937081" cy="439803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9FF79AD-CCE9-4C05-8039-3842829EB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83" y="1409186"/>
            <a:ext cx="4461320" cy="1546782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45A8F3BE-8B0E-49DD-A605-396EDFE82D38}"/>
              </a:ext>
            </a:extLst>
          </p:cNvPr>
          <p:cNvSpPr/>
          <p:nvPr/>
        </p:nvSpPr>
        <p:spPr>
          <a:xfrm>
            <a:off x="7883735" y="1938420"/>
            <a:ext cx="748318" cy="26173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D5438DC7-D426-4E17-9E2A-29FACA1E81D0}"/>
              </a:ext>
            </a:extLst>
          </p:cNvPr>
          <p:cNvSpPr/>
          <p:nvPr/>
        </p:nvSpPr>
        <p:spPr>
          <a:xfrm rot="2850328">
            <a:off x="2063544" y="2554566"/>
            <a:ext cx="640764" cy="1715735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B6A4252-98AC-413E-A95B-436231DCD820}"/>
              </a:ext>
            </a:extLst>
          </p:cNvPr>
          <p:cNvCxnSpPr>
            <a:cxnSpLocks/>
          </p:cNvCxnSpPr>
          <p:nvPr/>
        </p:nvCxnSpPr>
        <p:spPr>
          <a:xfrm flipV="1">
            <a:off x="2273766" y="3059068"/>
            <a:ext cx="1079150" cy="65499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e 18">
            <a:extLst>
              <a:ext uri="{FF2B5EF4-FFF2-40B4-BE49-F238E27FC236}">
                <a16:creationId xmlns:a16="http://schemas.microsoft.com/office/drawing/2014/main" id="{6B9DF360-23DB-4242-B289-5DBD3ED15B6B}"/>
              </a:ext>
            </a:extLst>
          </p:cNvPr>
          <p:cNvSpPr/>
          <p:nvPr/>
        </p:nvSpPr>
        <p:spPr>
          <a:xfrm>
            <a:off x="2546352" y="3655869"/>
            <a:ext cx="604998" cy="424743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E0E379CE-EE64-4521-AA89-1E1D26B0A08A}"/>
              </a:ext>
            </a:extLst>
          </p:cNvPr>
          <p:cNvSpPr/>
          <p:nvPr/>
        </p:nvSpPr>
        <p:spPr>
          <a:xfrm>
            <a:off x="3345391" y="3642596"/>
            <a:ext cx="604998" cy="424743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F928A34-488F-4178-9B4E-292D5E8D8198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2224471" y="4005137"/>
            <a:ext cx="1209520" cy="59421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E2ABEB1-0A6C-4820-90CE-80CD56952270}"/>
              </a:ext>
            </a:extLst>
          </p:cNvPr>
          <p:cNvCxnSpPr>
            <a:cxnSpLocks/>
            <a:stCxn id="19" idx="3"/>
          </p:cNvCxnSpPr>
          <p:nvPr/>
        </p:nvCxnSpPr>
        <p:spPr>
          <a:xfrm flipH="1">
            <a:off x="1341958" y="4018410"/>
            <a:ext cx="1292994" cy="58094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D3489EB2-9730-479E-9D9B-70583B37F4AB}"/>
              </a:ext>
            </a:extLst>
          </p:cNvPr>
          <p:cNvSpPr/>
          <p:nvPr/>
        </p:nvSpPr>
        <p:spPr>
          <a:xfrm>
            <a:off x="8475589" y="2162780"/>
            <a:ext cx="1226653" cy="248652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D9B3D4F6-5DED-4EEE-B3C3-D63B623D3760}"/>
              </a:ext>
            </a:extLst>
          </p:cNvPr>
          <p:cNvSpPr/>
          <p:nvPr/>
        </p:nvSpPr>
        <p:spPr>
          <a:xfrm>
            <a:off x="9801588" y="2153009"/>
            <a:ext cx="1226654" cy="245337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1F47026-2D78-4E02-A7A7-CFB5F43D3718}"/>
              </a:ext>
            </a:extLst>
          </p:cNvPr>
          <p:cNvCxnSpPr>
            <a:cxnSpLocks/>
          </p:cNvCxnSpPr>
          <p:nvPr/>
        </p:nvCxnSpPr>
        <p:spPr>
          <a:xfrm>
            <a:off x="7031808" y="2104845"/>
            <a:ext cx="39506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1AB8BBB-11E0-4458-97B7-8709D72237F2}"/>
              </a:ext>
            </a:extLst>
          </p:cNvPr>
          <p:cNvCxnSpPr>
            <a:cxnSpLocks/>
          </p:cNvCxnSpPr>
          <p:nvPr/>
        </p:nvCxnSpPr>
        <p:spPr>
          <a:xfrm>
            <a:off x="7031808" y="2463175"/>
            <a:ext cx="39506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DC08778-23D0-4CE1-8C11-71835F4F5B40}"/>
              </a:ext>
            </a:extLst>
          </p:cNvPr>
          <p:cNvSpPr txBox="1"/>
          <p:nvPr/>
        </p:nvSpPr>
        <p:spPr>
          <a:xfrm>
            <a:off x="2546352" y="2359934"/>
            <a:ext cx="71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first 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parent</a:t>
            </a:r>
            <a:endParaRPr lang="it-IT" sz="1200" b="1" dirty="0">
              <a:solidFill>
                <a:srgbClr val="00B050"/>
              </a:solidFill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E259299-5E9C-4244-939D-6E77A791B645}"/>
              </a:ext>
            </a:extLst>
          </p:cNvPr>
          <p:cNvSpPr txBox="1"/>
          <p:nvPr/>
        </p:nvSpPr>
        <p:spPr>
          <a:xfrm>
            <a:off x="3295721" y="2460577"/>
            <a:ext cx="812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second 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parent</a:t>
            </a:r>
            <a:endParaRPr lang="it-IT" sz="1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73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16" grpId="0" animBg="1"/>
      <p:bldP spid="19" grpId="0" animBg="1"/>
      <p:bldP spid="20" grpId="0" animBg="1"/>
      <p:bldP spid="27" grpId="0" animBg="1"/>
      <p:bldP spid="28" grpId="0" animBg="1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8441C0E-41DA-4BCA-80DC-0363493B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332656"/>
            <a:ext cx="8640960" cy="11675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Implementazione</a:t>
            </a:r>
            <a:r>
              <a:rPr lang="en-US" dirty="0"/>
              <a:t> e dataset di test</a:t>
            </a:r>
            <a:endParaRPr lang="it-IT" dirty="0"/>
          </a:p>
        </p:txBody>
      </p:sp>
      <p:pic>
        <p:nvPicPr>
          <p:cNvPr id="1026" name="Picture 2" descr="Immagine correlata">
            <a:extLst>
              <a:ext uri="{FF2B5EF4-FFF2-40B4-BE49-F238E27FC236}">
                <a16:creationId xmlns:a16="http://schemas.microsoft.com/office/drawing/2014/main" id="{635FD5AC-8E67-42E2-AB01-73980F1C5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650" y="4122907"/>
            <a:ext cx="2802494" cy="155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olo 2">
            <a:extLst>
              <a:ext uri="{FF2B5EF4-FFF2-40B4-BE49-F238E27FC236}">
                <a16:creationId xmlns:a16="http://schemas.microsoft.com/office/drawing/2014/main" id="{86DC07D1-8D02-42A9-A171-8F97C441FEDD}"/>
              </a:ext>
            </a:extLst>
          </p:cNvPr>
          <p:cNvSpPr txBox="1">
            <a:spLocks/>
          </p:cNvSpPr>
          <p:nvPr/>
        </p:nvSpPr>
        <p:spPr>
          <a:xfrm>
            <a:off x="4195144" y="1181903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Tipi di </a:t>
            </a:r>
            <a:r>
              <a:rPr lang="en-US" sz="2800" dirty="0" err="1"/>
              <a:t>eventi</a:t>
            </a:r>
            <a:endParaRPr lang="it-IT" sz="2800" dirty="0"/>
          </a:p>
        </p:txBody>
      </p:sp>
      <p:sp>
        <p:nvSpPr>
          <p:cNvPr id="7" name="Segnaposto contenuto 1">
            <a:extLst>
              <a:ext uri="{FF2B5EF4-FFF2-40B4-BE49-F238E27FC236}">
                <a16:creationId xmlns:a16="http://schemas.microsoft.com/office/drawing/2014/main" id="{880A88BA-FBD9-4D7B-9846-A84AF0149777}"/>
              </a:ext>
            </a:extLst>
          </p:cNvPr>
          <p:cNvSpPr txBox="1">
            <a:spLocks/>
          </p:cNvSpPr>
          <p:nvPr/>
        </p:nvSpPr>
        <p:spPr>
          <a:xfrm>
            <a:off x="2351584" y="1857150"/>
            <a:ext cx="3131840" cy="17094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66928" indent="-457200">
              <a:buFont typeface="+mj-lt"/>
              <a:buAutoNum type="arabicPeriod"/>
            </a:pPr>
            <a:r>
              <a:rPr lang="en-US" sz="1800" dirty="0"/>
              <a:t>Aggravated Assault</a:t>
            </a:r>
          </a:p>
          <a:p>
            <a:pPr marL="566928" indent="-457200">
              <a:buFont typeface="+mj-lt"/>
              <a:buAutoNum type="arabicPeriod"/>
            </a:pPr>
            <a:r>
              <a:rPr lang="it-IT" sz="1800" dirty="0"/>
              <a:t>Auto </a:t>
            </a:r>
            <a:r>
              <a:rPr lang="it-IT" sz="1800" dirty="0" err="1"/>
              <a:t>Theft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/>
              <a:t>Commercial </a:t>
            </a:r>
            <a:r>
              <a:rPr lang="it-IT" sz="1800" dirty="0" err="1"/>
              <a:t>Burglary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 err="1"/>
              <a:t>Homicide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 err="1"/>
              <a:t>Robbery</a:t>
            </a:r>
            <a:endParaRPr lang="it-IT" sz="1800" dirty="0"/>
          </a:p>
        </p:txBody>
      </p:sp>
      <p:sp>
        <p:nvSpPr>
          <p:cNvPr id="8" name="Segnaposto contenuto 1">
            <a:extLst>
              <a:ext uri="{FF2B5EF4-FFF2-40B4-BE49-F238E27FC236}">
                <a16:creationId xmlns:a16="http://schemas.microsoft.com/office/drawing/2014/main" id="{C1BBB13D-A9CE-4EE5-B94A-6C8BEACD9A41}"/>
              </a:ext>
            </a:extLst>
          </p:cNvPr>
          <p:cNvSpPr txBox="1">
            <a:spLocks/>
          </p:cNvSpPr>
          <p:nvPr/>
        </p:nvSpPr>
        <p:spPr>
          <a:xfrm>
            <a:off x="6096000" y="1854527"/>
            <a:ext cx="3131840" cy="1608377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Larceny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Residential</a:t>
            </a:r>
            <a:r>
              <a:rPr lang="it-IT" sz="1800" dirty="0"/>
              <a:t> </a:t>
            </a:r>
            <a:r>
              <a:rPr lang="it-IT" sz="1800" dirty="0" err="1"/>
              <a:t>Burglary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Larceny</a:t>
            </a:r>
            <a:r>
              <a:rPr lang="it-IT" sz="1800" dirty="0"/>
              <a:t> from Motor </a:t>
            </a:r>
            <a:r>
              <a:rPr lang="it-IT" sz="1800" dirty="0" err="1"/>
              <a:t>Vehicle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Other</a:t>
            </a:r>
            <a:r>
              <a:rPr lang="it-IT" sz="1800" dirty="0"/>
              <a:t> </a:t>
            </a:r>
            <a:r>
              <a:rPr lang="it-IT" sz="1800" dirty="0" err="1"/>
              <a:t>Burglary</a:t>
            </a:r>
            <a:endParaRPr lang="it-IT" sz="1800" dirty="0"/>
          </a:p>
        </p:txBody>
      </p:sp>
      <p:sp>
        <p:nvSpPr>
          <p:cNvPr id="9" name="Titolo 2">
            <a:extLst>
              <a:ext uri="{FF2B5EF4-FFF2-40B4-BE49-F238E27FC236}">
                <a16:creationId xmlns:a16="http://schemas.microsoft.com/office/drawing/2014/main" id="{A4E3CFB7-5A50-4F7D-9FD7-54FCC83CC6BB}"/>
              </a:ext>
            </a:extLst>
          </p:cNvPr>
          <p:cNvSpPr txBox="1">
            <a:spLocks/>
          </p:cNvSpPr>
          <p:nvPr/>
        </p:nvSpPr>
        <p:spPr>
          <a:xfrm>
            <a:off x="8184232" y="3933056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Dataset di test</a:t>
            </a:r>
            <a:endParaRPr lang="it-IT" sz="2800" dirty="0"/>
          </a:p>
        </p:txBody>
      </p:sp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EBE0922F-BA42-4F34-A1D3-36A949FD764E}"/>
              </a:ext>
            </a:extLst>
          </p:cNvPr>
          <p:cNvSpPr txBox="1">
            <a:spLocks/>
          </p:cNvSpPr>
          <p:nvPr/>
        </p:nvSpPr>
        <p:spPr>
          <a:xfrm>
            <a:off x="8758929" y="4649048"/>
            <a:ext cx="2306989" cy="149528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1043 record</a:t>
            </a:r>
          </a:p>
          <a:p>
            <a:r>
              <a:rPr lang="en-US" sz="1800" dirty="0"/>
              <a:t>2235 record</a:t>
            </a:r>
          </a:p>
          <a:p>
            <a:r>
              <a:rPr lang="en-US" sz="1800" dirty="0"/>
              <a:t>3129 record</a:t>
            </a:r>
          </a:p>
          <a:p>
            <a:r>
              <a:rPr lang="en-US" sz="1800" dirty="0"/>
              <a:t>5216 record</a:t>
            </a:r>
          </a:p>
        </p:txBody>
      </p:sp>
      <p:sp>
        <p:nvSpPr>
          <p:cNvPr id="12" name="Titolo 2">
            <a:extLst>
              <a:ext uri="{FF2B5EF4-FFF2-40B4-BE49-F238E27FC236}">
                <a16:creationId xmlns:a16="http://schemas.microsoft.com/office/drawing/2014/main" id="{750842DA-97E1-4B47-97ED-DCFA6255C3DD}"/>
              </a:ext>
            </a:extLst>
          </p:cNvPr>
          <p:cNvSpPr txBox="1">
            <a:spLocks/>
          </p:cNvSpPr>
          <p:nvPr/>
        </p:nvSpPr>
        <p:spPr>
          <a:xfrm>
            <a:off x="4696975" y="4488768"/>
            <a:ext cx="3456384" cy="821467"/>
          </a:xfrm>
          <a:prstGeom prst="rect">
            <a:avLst/>
          </a:prstGeom>
        </p:spPr>
        <p:txBody>
          <a:bodyPr vert="horz" rtlCol="0" anchor="ctr">
            <a:normAutofit fontScale="92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Dataset di </a:t>
            </a:r>
            <a:r>
              <a:rPr lang="en-US" sz="2800" dirty="0" err="1"/>
              <a:t>partenza</a:t>
            </a:r>
            <a:r>
              <a:rPr lang="en-US" sz="2000" dirty="0"/>
              <a:t>: </a:t>
            </a:r>
          </a:p>
          <a:p>
            <a:pPr algn="ctr"/>
            <a:r>
              <a:rPr lang="en-US" sz="2000" dirty="0"/>
              <a:t>15 648 record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67639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E4B7B16-9124-4BA2-A3FB-3A4D5DF03089}"/>
              </a:ext>
            </a:extLst>
          </p:cNvPr>
          <p:cNvSpPr/>
          <p:nvPr/>
        </p:nvSpPr>
        <p:spPr>
          <a:xfrm>
            <a:off x="1055440" y="2132856"/>
            <a:ext cx="2160240" cy="2941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CD1FF557-9CDE-4FC1-BA28-695E5CE24BF1}"/>
              </a:ext>
            </a:extLst>
          </p:cNvPr>
          <p:cNvSpPr/>
          <p:nvPr/>
        </p:nvSpPr>
        <p:spPr>
          <a:xfrm>
            <a:off x="1055440" y="1844824"/>
            <a:ext cx="1800200" cy="24566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DD9E267D-0544-4E33-A70C-984F1C2F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6379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pic>
        <p:nvPicPr>
          <p:cNvPr id="5" name="Immagine 4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B3B77998-DD10-4D27-9442-B8C5A9933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112" y="3110056"/>
            <a:ext cx="4425064" cy="3211032"/>
          </a:xfrm>
          <a:prstGeom prst="rect">
            <a:avLst/>
          </a:prstGeom>
        </p:spPr>
      </p:pic>
      <p:pic>
        <p:nvPicPr>
          <p:cNvPr id="7" name="Immagine 6" descr="Immagine che contiene mappa, pioggia, ombrello&#10;&#10;Descrizione generata automaticamente">
            <a:extLst>
              <a:ext uri="{FF2B5EF4-FFF2-40B4-BE49-F238E27FC236}">
                <a16:creationId xmlns:a16="http://schemas.microsoft.com/office/drawing/2014/main" id="{940649B9-E24E-411D-A1D8-72219DCD8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3815009"/>
            <a:ext cx="4076608" cy="3056291"/>
          </a:xfrm>
          <a:prstGeom prst="rect">
            <a:avLst/>
          </a:prstGeom>
        </p:spPr>
      </p:pic>
      <p:pic>
        <p:nvPicPr>
          <p:cNvPr id="11" name="Immagine 10" descr="Immagine che contiene ombrello&#10;&#10;Descrizione generata automaticamente">
            <a:extLst>
              <a:ext uri="{FF2B5EF4-FFF2-40B4-BE49-F238E27FC236}">
                <a16:creationId xmlns:a16="http://schemas.microsoft.com/office/drawing/2014/main" id="{2BD1C13D-ADCA-422C-9A86-EFB1A7FA3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599" y="461513"/>
            <a:ext cx="4371267" cy="3056291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681ED5-0E7E-48BF-B596-EC510353F18A}"/>
              </a:ext>
            </a:extLst>
          </p:cNvPr>
          <p:cNvSpPr txBox="1"/>
          <p:nvPr/>
        </p:nvSpPr>
        <p:spPr>
          <a:xfrm>
            <a:off x="2079006" y="2891431"/>
            <a:ext cx="3371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T e num record</a:t>
            </a:r>
            <a:endParaRPr lang="it-IT" sz="16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89BB029-0433-4829-8F39-8DFDB6C05325}"/>
              </a:ext>
            </a:extLst>
          </p:cNvPr>
          <p:cNvSpPr txBox="1"/>
          <p:nvPr/>
        </p:nvSpPr>
        <p:spPr>
          <a:xfrm>
            <a:off x="7248128" y="3591538"/>
            <a:ext cx="2254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R e T</a:t>
            </a:r>
            <a:endParaRPr lang="it-IT" sz="16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63CC89B-32F2-4AED-854E-DF3E65E5937D}"/>
              </a:ext>
            </a:extLst>
          </p:cNvPr>
          <p:cNvSpPr txBox="1"/>
          <p:nvPr/>
        </p:nvSpPr>
        <p:spPr>
          <a:xfrm>
            <a:off x="7626173" y="235431"/>
            <a:ext cx="3292643" cy="34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R e num record</a:t>
            </a:r>
            <a:endParaRPr lang="it-IT" sz="1600" dirty="0"/>
          </a:p>
        </p:txBody>
      </p:sp>
      <p:sp>
        <p:nvSpPr>
          <p:cNvPr id="10" name="Titolo 2">
            <a:extLst>
              <a:ext uri="{FF2B5EF4-FFF2-40B4-BE49-F238E27FC236}">
                <a16:creationId xmlns:a16="http://schemas.microsoft.com/office/drawing/2014/main" id="{BD9F83F0-A2C0-4D08-BCFD-02FFAA209421}"/>
              </a:ext>
            </a:extLst>
          </p:cNvPr>
          <p:cNvSpPr txBox="1">
            <a:spLocks/>
          </p:cNvSpPr>
          <p:nvPr/>
        </p:nvSpPr>
        <p:spPr>
          <a:xfrm>
            <a:off x="3143672" y="618339"/>
            <a:ext cx="3960440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Tempi di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computazione</a:t>
            </a:r>
            <a:endParaRPr lang="it-IT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Segnaposto contenuto 1">
            <a:extLst>
              <a:ext uri="{FF2B5EF4-FFF2-40B4-BE49-F238E27FC236}">
                <a16:creationId xmlns:a16="http://schemas.microsoft.com/office/drawing/2014/main" id="{FAB9E694-33EE-4063-8BB8-25BE8DE806B4}"/>
              </a:ext>
            </a:extLst>
          </p:cNvPr>
          <p:cNvSpPr txBox="1">
            <a:spLocks/>
          </p:cNvSpPr>
          <p:nvPr/>
        </p:nvSpPr>
        <p:spPr>
          <a:xfrm>
            <a:off x="623392" y="1156423"/>
            <a:ext cx="6018589" cy="17350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 err="1"/>
              <a:t>Effettuati</a:t>
            </a:r>
            <a:r>
              <a:rPr lang="en-US" sz="1800" dirty="0"/>
              <a:t> 48 test </a:t>
            </a:r>
          </a:p>
          <a:p>
            <a:pPr marL="109728" indent="0">
              <a:buNone/>
            </a:pPr>
            <a:r>
              <a:rPr lang="en-US" sz="1800" dirty="0" err="1"/>
              <a:t>Parametri</a:t>
            </a:r>
            <a:r>
              <a:rPr lang="en-US" sz="1800" dirty="0"/>
              <a:t>:</a:t>
            </a:r>
          </a:p>
          <a:p>
            <a:r>
              <a:rPr lang="it-IT" sz="1800" dirty="0"/>
              <a:t>Numero record</a:t>
            </a:r>
          </a:p>
          <a:p>
            <a:r>
              <a:rPr lang="it-IT" sz="1800" dirty="0"/>
              <a:t>R (raggio spaziale)</a:t>
            </a:r>
          </a:p>
          <a:p>
            <a:r>
              <a:rPr lang="it-IT" sz="1800" dirty="0"/>
              <a:t>T (intervallo temporale)</a:t>
            </a:r>
          </a:p>
        </p:txBody>
      </p:sp>
    </p:spTree>
    <p:extLst>
      <p:ext uri="{BB962C8B-B14F-4D97-AF65-F5344CB8AC3E}">
        <p14:creationId xmlns:p14="http://schemas.microsoft.com/office/powerpoint/2010/main" val="79998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105B47A1-F943-45D7-B32D-409F404B8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86360"/>
                <a:ext cx="3538736" cy="1296144"/>
              </a:xfrm>
            </p:spPr>
            <p:txBody>
              <a:bodyPr>
                <a:normAutofit/>
              </a:bodyPr>
              <a:lstStyle/>
              <a:p>
                <a:pPr marL="109728" indent="0">
                  <a:buNone/>
                </a:pPr>
                <a:r>
                  <a:rPr lang="en-US" sz="2200" dirty="0"/>
                  <a:t>Test con (3129 record):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sz="2200" dirty="0"/>
              </a:p>
              <a:p>
                <a:pPr marL="109728" indent="0">
                  <a:buNone/>
                </a:pPr>
                <a:endParaRPr lang="it-IT" sz="2400" dirty="0"/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105B47A1-F943-45D7-B32D-409F404B8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86360"/>
                <a:ext cx="3538736" cy="1296144"/>
              </a:xfrm>
              <a:blipFill>
                <a:blip r:embed="rId2"/>
                <a:stretch>
                  <a:fillRect t="-3286" r="-6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olo 2">
            <a:extLst>
              <a:ext uri="{FF2B5EF4-FFF2-40B4-BE49-F238E27FC236}">
                <a16:creationId xmlns:a16="http://schemas.microsoft.com/office/drawing/2014/main" id="{4F329FE0-8729-4433-8D73-129E66E3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0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7CDC932-B351-411D-ACA2-A5C3A8348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754" y="1556792"/>
            <a:ext cx="9782505" cy="4501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1">
                <a:extLst>
                  <a:ext uri="{FF2B5EF4-FFF2-40B4-BE49-F238E27FC236}">
                    <a16:creationId xmlns:a16="http://schemas.microsoft.com/office/drawing/2014/main" id="{8CFEC1C9-40AE-4CD5-B4C2-8D888C12C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179974"/>
                <a:ext cx="3935760" cy="1249025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=168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𝑜𝑟𝑒</m:t>
                    </m:r>
                  </m:oMath>
                </a14:m>
                <a:endParaRPr lang="en-US" sz="2200" dirty="0"/>
              </a:p>
              <a:p>
                <a:pPr marL="109728" indent="0">
                  <a:buNone/>
                </a:pPr>
                <a:r>
                  <a:rPr lang="en-US" sz="2200" dirty="0"/>
                  <a:t>  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(7 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𝑔𝑖𝑜𝑟𝑛𝑖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109728" indent="0">
                  <a:buNone/>
                </a:pPr>
                <a:endParaRPr lang="it-IT" sz="2400" dirty="0"/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5" name="Segnaposto contenuto 1">
                <a:extLst>
                  <a:ext uri="{FF2B5EF4-FFF2-40B4-BE49-F238E27FC236}">
                    <a16:creationId xmlns:a16="http://schemas.microsoft.com/office/drawing/2014/main" id="{8CFEC1C9-40AE-4CD5-B4C2-8D888C12C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79974"/>
                <a:ext cx="3935760" cy="1249025"/>
              </a:xfrm>
              <a:prstGeom prst="rect">
                <a:avLst/>
              </a:prstGeom>
              <a:blipFill>
                <a:blip r:embed="rId4"/>
                <a:stretch>
                  <a:fillRect b="-9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olo 2">
            <a:extLst>
              <a:ext uri="{FF2B5EF4-FFF2-40B4-BE49-F238E27FC236}">
                <a16:creationId xmlns:a16="http://schemas.microsoft.com/office/drawing/2014/main" id="{3A069E3F-63A3-46C1-B828-C829ED74DAA4}"/>
              </a:ext>
            </a:extLst>
          </p:cNvPr>
          <p:cNvSpPr txBox="1">
            <a:spLocks/>
          </p:cNvSpPr>
          <p:nvPr/>
        </p:nvSpPr>
        <p:spPr>
          <a:xfrm>
            <a:off x="4115780" y="563880"/>
            <a:ext cx="3960440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Indici</a:t>
            </a:r>
            <a:endParaRPr lang="it-IT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297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9C9B489-6EB7-4BE5-B82E-EF01E8C42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24744"/>
            <a:ext cx="11017224" cy="2664296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 err="1"/>
              <a:t>Interfaccia</a:t>
            </a:r>
            <a:r>
              <a:rPr lang="en-US" sz="2400" dirty="0"/>
              <a:t> </a:t>
            </a:r>
            <a:r>
              <a:rPr lang="en-US" sz="2400" dirty="0" err="1"/>
              <a:t>grafica</a:t>
            </a:r>
            <a:r>
              <a:rPr lang="en-US" sz="2400" dirty="0"/>
              <a:t> che </a:t>
            </a:r>
            <a:r>
              <a:rPr lang="en-US" sz="2400" dirty="0" err="1"/>
              <a:t>permetta</a:t>
            </a:r>
            <a:r>
              <a:rPr lang="en-US" sz="2400" dirty="0"/>
              <a:t> di </a:t>
            </a:r>
            <a:r>
              <a:rPr lang="en-US" sz="2400" dirty="0" err="1"/>
              <a:t>effettuare</a:t>
            </a:r>
            <a:r>
              <a:rPr lang="en-US" sz="2400" dirty="0"/>
              <a:t> test </a:t>
            </a:r>
            <a:r>
              <a:rPr lang="en-US" sz="2400" dirty="0" err="1"/>
              <a:t>anche</a:t>
            </a:r>
            <a:r>
              <a:rPr lang="en-US" sz="2400" dirty="0"/>
              <a:t> </a:t>
            </a:r>
            <a:r>
              <a:rPr lang="en-US" sz="2400" dirty="0" err="1"/>
              <a:t>variando</a:t>
            </a:r>
            <a:r>
              <a:rPr lang="en-US" sz="2400" dirty="0"/>
              <a:t> dataset</a:t>
            </a:r>
          </a:p>
          <a:p>
            <a:endParaRPr lang="en-US" sz="2400" dirty="0"/>
          </a:p>
          <a:p>
            <a:r>
              <a:rPr lang="en-US" sz="2400" dirty="0" err="1"/>
              <a:t>Mappa</a:t>
            </a:r>
            <a:r>
              <a:rPr lang="en-US" sz="2400" dirty="0"/>
              <a:t> </a:t>
            </a:r>
            <a:r>
              <a:rPr lang="en-US" sz="2400" dirty="0" err="1"/>
              <a:t>geografica</a:t>
            </a:r>
            <a:r>
              <a:rPr lang="en-US" sz="2400" dirty="0"/>
              <a:t> in cui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mostrtano</a:t>
            </a:r>
            <a:r>
              <a:rPr lang="en-US" sz="2400" dirty="0"/>
              <a:t> </a:t>
            </a:r>
            <a:r>
              <a:rPr lang="en-US" sz="2400" dirty="0" err="1"/>
              <a:t>gli</a:t>
            </a:r>
            <a:r>
              <a:rPr lang="en-US" sz="2400" dirty="0"/>
              <a:t> </a:t>
            </a:r>
            <a:r>
              <a:rPr lang="en-US" sz="2400" dirty="0" err="1"/>
              <a:t>eventi</a:t>
            </a:r>
            <a:r>
              <a:rPr lang="en-US" sz="2400" dirty="0"/>
              <a:t> </a:t>
            </a:r>
            <a:r>
              <a:rPr lang="en-US" sz="2400" dirty="0" err="1"/>
              <a:t>connessi</a:t>
            </a:r>
            <a:r>
              <a:rPr lang="en-US" sz="2400" dirty="0"/>
              <a:t> in base ad una </a:t>
            </a:r>
            <a:r>
              <a:rPr lang="en-US" sz="2400" dirty="0" err="1"/>
              <a:t>determinata</a:t>
            </a:r>
            <a:r>
              <a:rPr lang="en-US" sz="2400" dirty="0"/>
              <a:t> </a:t>
            </a:r>
            <a:r>
              <a:rPr lang="en-US" sz="2400" dirty="0" err="1"/>
              <a:t>sequenza</a:t>
            </a:r>
            <a:r>
              <a:rPr lang="en-US" sz="2400" dirty="0"/>
              <a:t> di tipi</a:t>
            </a:r>
          </a:p>
          <a:p>
            <a:endParaRPr lang="en-US" sz="2400" dirty="0"/>
          </a:p>
          <a:p>
            <a:r>
              <a:rPr lang="en-US" sz="2400" dirty="0" err="1"/>
              <a:t>Adattare</a:t>
            </a:r>
            <a:r>
              <a:rPr lang="en-US" sz="2400" dirty="0"/>
              <a:t> </a:t>
            </a:r>
            <a:r>
              <a:rPr lang="en-US" sz="2400" dirty="0" err="1"/>
              <a:t>il</a:t>
            </a:r>
            <a:r>
              <a:rPr lang="en-US" sz="2400" dirty="0"/>
              <a:t> software per </a:t>
            </a:r>
            <a:r>
              <a:rPr lang="en-US" sz="2400" dirty="0" err="1"/>
              <a:t>concetrarsi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determinate zone </a:t>
            </a:r>
            <a:r>
              <a:rPr lang="en-US" sz="2400" dirty="0" err="1"/>
              <a:t>della</a:t>
            </a:r>
            <a:r>
              <a:rPr lang="en-US" sz="2400" dirty="0"/>
              <a:t> </a:t>
            </a:r>
            <a:r>
              <a:rPr lang="en-US" sz="2400" dirty="0" err="1"/>
              <a:t>città</a:t>
            </a:r>
            <a:r>
              <a:rPr lang="en-US" sz="2400" dirty="0"/>
              <a:t> (</a:t>
            </a:r>
            <a:r>
              <a:rPr lang="en-US" sz="2400" dirty="0" err="1"/>
              <a:t>criminalità</a:t>
            </a:r>
            <a:r>
              <a:rPr lang="en-US" sz="2400" dirty="0"/>
              <a:t> locale)</a:t>
            </a:r>
          </a:p>
          <a:p>
            <a:pPr marL="109728" indent="0">
              <a:buNone/>
            </a:pPr>
            <a:endParaRPr lang="en-US" sz="2400" dirty="0"/>
          </a:p>
          <a:p>
            <a:r>
              <a:rPr lang="en-US" sz="2400" dirty="0" err="1"/>
              <a:t>Provare</a:t>
            </a:r>
            <a:r>
              <a:rPr lang="en-US" sz="2400" dirty="0"/>
              <a:t> la </a:t>
            </a:r>
            <a:r>
              <a:rPr lang="en-US" sz="2400" dirty="0" err="1"/>
              <a:t>applicazione</a:t>
            </a:r>
            <a:r>
              <a:rPr lang="en-US" sz="2400" dirty="0"/>
              <a:t> ad un </a:t>
            </a:r>
            <a:r>
              <a:rPr lang="en-US" sz="2400" dirty="0" err="1"/>
              <a:t>diverso</a:t>
            </a:r>
            <a:r>
              <a:rPr lang="en-US" sz="2400" dirty="0"/>
              <a:t> </a:t>
            </a:r>
            <a:r>
              <a:rPr lang="en-US" sz="2400" dirty="0" err="1"/>
              <a:t>tipo</a:t>
            </a:r>
            <a:r>
              <a:rPr lang="en-US" sz="2400" dirty="0"/>
              <a:t> di </a:t>
            </a:r>
            <a:r>
              <a:rPr lang="en-US" sz="2400" dirty="0" err="1"/>
              <a:t>contesto</a:t>
            </a:r>
            <a:r>
              <a:rPr lang="en-US" sz="2400" dirty="0"/>
              <a:t> (es. </a:t>
            </a:r>
            <a:r>
              <a:rPr lang="en-US" sz="2400" dirty="0" err="1"/>
              <a:t>eventi</a:t>
            </a:r>
            <a:r>
              <a:rPr lang="en-US" sz="2400" dirty="0"/>
              <a:t> </a:t>
            </a:r>
            <a:r>
              <a:rPr lang="en-US" sz="2400" dirty="0" err="1"/>
              <a:t>epidemiologici</a:t>
            </a:r>
            <a:r>
              <a:rPr lang="en-US" sz="2400" dirty="0"/>
              <a:t>)</a:t>
            </a:r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198D2DE-8328-4831-AEBE-F3622315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356" y="203745"/>
            <a:ext cx="8507288" cy="1143000"/>
          </a:xfrm>
        </p:spPr>
        <p:txBody>
          <a:bodyPr>
            <a:normAutofit/>
          </a:bodyPr>
          <a:lstStyle/>
          <a:p>
            <a:r>
              <a:rPr lang="en-US"/>
              <a:t>Conclusioni e prospettive future</a:t>
            </a:r>
            <a:endParaRPr lang="it-IT" dirty="0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29F7E1D-464D-4F05-BB8A-677BF9479213}"/>
              </a:ext>
            </a:extLst>
          </p:cNvPr>
          <p:cNvSpPr txBox="1">
            <a:spLocks/>
          </p:cNvSpPr>
          <p:nvPr/>
        </p:nvSpPr>
        <p:spPr>
          <a:xfrm>
            <a:off x="2060966" y="3636745"/>
            <a:ext cx="8070068" cy="177309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5400" dirty="0">
                <a:solidFill>
                  <a:srgbClr val="0E8EAE"/>
                </a:solidFill>
                <a:latin typeface="Broadway" panose="04040905080B02020502" pitchFamily="82" charset="0"/>
              </a:rPr>
              <a:t>GRAZIE PER L’ATTENZIONE</a:t>
            </a:r>
            <a:endParaRPr lang="it-IT" sz="5400" dirty="0">
              <a:solidFill>
                <a:srgbClr val="0E8EAE"/>
              </a:solidFill>
              <a:latin typeface="Broadway" panose="04040905080B02020502" pitchFamily="82" charset="0"/>
            </a:endParaRPr>
          </a:p>
        </p:txBody>
      </p:sp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AD225A12-3BCA-477A-A764-839372D454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360" y="4416360"/>
            <a:ext cx="2160240" cy="2160240"/>
          </a:xfrm>
          <a:prstGeom prst="rect">
            <a:avLst/>
          </a:prstGeom>
        </p:spPr>
      </p:pic>
      <p:sp>
        <p:nvSpPr>
          <p:cNvPr id="6" name="Sottotitolo 2">
            <a:extLst>
              <a:ext uri="{FF2B5EF4-FFF2-40B4-BE49-F238E27FC236}">
                <a16:creationId xmlns:a16="http://schemas.microsoft.com/office/drawing/2014/main" id="{1A0105C4-4F16-4D11-BBAE-449C0524B8A2}"/>
              </a:ext>
            </a:extLst>
          </p:cNvPr>
          <p:cNvSpPr txBox="1">
            <a:spLocks/>
          </p:cNvSpPr>
          <p:nvPr/>
        </p:nvSpPr>
        <p:spPr>
          <a:xfrm>
            <a:off x="5447928" y="5658437"/>
            <a:ext cx="3888432" cy="668243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 err="1"/>
              <a:t>Codice</a:t>
            </a:r>
            <a:r>
              <a:rPr lang="en-US" sz="1800" dirty="0"/>
              <a:t> </a:t>
            </a:r>
            <a:r>
              <a:rPr lang="en-US" sz="1800" dirty="0" err="1"/>
              <a:t>sorgente</a:t>
            </a:r>
            <a:r>
              <a:rPr lang="en-US" sz="1800" dirty="0"/>
              <a:t>:</a:t>
            </a:r>
          </a:p>
          <a:p>
            <a:pPr marL="109728" indent="0">
              <a:buNone/>
            </a:pPr>
            <a:r>
              <a:rPr lang="it-IT" sz="1800" dirty="0">
                <a:hlinkClick r:id="rId3"/>
              </a:rPr>
              <a:t>https://github.com/fedelux3/BostonCrime</a:t>
            </a:r>
            <a:endParaRPr lang="it-IT" sz="1800" dirty="0"/>
          </a:p>
        </p:txBody>
      </p:sp>
    </p:spTree>
    <p:extLst>
      <p:ext uri="{BB962C8B-B14F-4D97-AF65-F5344CB8AC3E}">
        <p14:creationId xmlns:p14="http://schemas.microsoft.com/office/powerpoint/2010/main" val="383718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C96E74B8-7AD5-4B07-BACE-BB17E4056A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95400" y="314774"/>
                <a:ext cx="4536504" cy="72219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CandidatesGen(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C96E74B8-7AD5-4B07-BACE-BB17E4056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95400" y="314774"/>
                <a:ext cx="4536504" cy="722193"/>
              </a:xfrm>
              <a:blipFill>
                <a:blip r:embed="rId2"/>
                <a:stretch>
                  <a:fillRect b="-8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A4D27D6-5DB4-4226-AF88-6C2426807260}"/>
                  </a:ext>
                </a:extLst>
              </p:cNvPr>
              <p:cNvSpPr>
                <a:spLocks noGrp="1"/>
              </p:cNvSpPr>
              <p:nvPr>
                <p:ph type="body" sz="half" idx="3"/>
              </p:nvPr>
            </p:nvSpPr>
            <p:spPr>
              <a:xfrm>
                <a:off x="5639702" y="314774"/>
                <a:ext cx="6192688" cy="715878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VerifyCandidates(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A4D27D6-5DB4-4226-AF88-6C2426807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3"/>
              </p:nvPr>
            </p:nvSpPr>
            <p:spPr>
              <a:xfrm>
                <a:off x="5639702" y="314774"/>
                <a:ext cx="6192688" cy="715878"/>
              </a:xfrm>
              <a:blipFill>
                <a:blip r:embed="rId3"/>
                <a:stretch>
                  <a:fillRect b="-16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laborazione alternativa 6">
                <a:extLst>
                  <a:ext uri="{FF2B5EF4-FFF2-40B4-BE49-F238E27FC236}">
                    <a16:creationId xmlns:a16="http://schemas.microsoft.com/office/drawing/2014/main" id="{CDF69CBE-0153-4F88-A543-72A103EFE829}"/>
                  </a:ext>
                </a:extLst>
              </p:cNvPr>
              <p:cNvSpPr/>
              <p:nvPr/>
            </p:nvSpPr>
            <p:spPr>
              <a:xfrm>
                <a:off x="1256705" y="1251320"/>
                <a:ext cx="1810544" cy="432048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each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7" name="Elaborazione alternativa 6">
                <a:extLst>
                  <a:ext uri="{FF2B5EF4-FFF2-40B4-BE49-F238E27FC236}">
                    <a16:creationId xmlns:a16="http://schemas.microsoft.com/office/drawing/2014/main" id="{CDF69CBE-0153-4F88-A543-72A103EFE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705" y="1251320"/>
                <a:ext cx="1810544" cy="432048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laborazione alternativa 7">
                <a:extLst>
                  <a:ext uri="{FF2B5EF4-FFF2-40B4-BE49-F238E27FC236}">
                    <a16:creationId xmlns:a16="http://schemas.microsoft.com/office/drawing/2014/main" id="{5E4DB5EF-3EB3-4E36-B95D-071AC1B2E0B1}"/>
                  </a:ext>
                </a:extLst>
              </p:cNvPr>
              <p:cNvSpPr/>
              <p:nvPr/>
            </p:nvSpPr>
            <p:spPr>
              <a:xfrm>
                <a:off x="2150378" y="1796510"/>
                <a:ext cx="2304583" cy="550181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𝑐h𝑖𝑙𝑑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𝑠𝑒𝑐𝑜𝑛𝑑𝑃𝑎𝑟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8" name="Elaborazione alternativa 7">
                <a:extLst>
                  <a:ext uri="{FF2B5EF4-FFF2-40B4-BE49-F238E27FC236}">
                    <a16:creationId xmlns:a16="http://schemas.microsoft.com/office/drawing/2014/main" id="{5E4DB5EF-3EB3-4E36-B95D-071AC1B2E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378" y="1796510"/>
                <a:ext cx="2304583" cy="550181"/>
              </a:xfrm>
              <a:prstGeom prst="flowChartAlternateProcess">
                <a:avLst/>
              </a:prstGeom>
              <a:blipFill>
                <a:blip r:embed="rId5"/>
                <a:stretch>
                  <a:fillRect b="-40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laborazione 8">
                <a:extLst>
                  <a:ext uri="{FF2B5EF4-FFF2-40B4-BE49-F238E27FC236}">
                    <a16:creationId xmlns:a16="http://schemas.microsoft.com/office/drawing/2014/main" id="{443A1ACA-9340-48B3-A6CD-F139EAA2998A}"/>
                  </a:ext>
                </a:extLst>
              </p:cNvPr>
              <p:cNvSpPr/>
              <p:nvPr/>
            </p:nvSpPr>
            <p:spPr>
              <a:xfrm>
                <a:off x="2764818" y="2572316"/>
                <a:ext cx="1944216" cy="3758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−1] 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9" name="Elaborazione 8">
                <a:extLst>
                  <a:ext uri="{FF2B5EF4-FFF2-40B4-BE49-F238E27FC236}">
                    <a16:creationId xmlns:a16="http://schemas.microsoft.com/office/drawing/2014/main" id="{443A1ACA-9340-48B3-A6CD-F139EAA29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818" y="2572316"/>
                <a:ext cx="1944216" cy="375810"/>
              </a:xfrm>
              <a:prstGeom prst="flowChartProcess">
                <a:avLst/>
              </a:prstGeom>
              <a:blipFill>
                <a:blip r:embed="rId6"/>
                <a:stretch>
                  <a:fillRect t="-14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aborazione 9">
                <a:extLst>
                  <a:ext uri="{FF2B5EF4-FFF2-40B4-BE49-F238E27FC236}">
                    <a16:creationId xmlns:a16="http://schemas.microsoft.com/office/drawing/2014/main" id="{D6B90D47-10B5-4CD1-A844-11D824059869}"/>
                  </a:ext>
                </a:extLst>
              </p:cNvPr>
              <p:cNvSpPr/>
              <p:nvPr/>
            </p:nvSpPr>
            <p:spPr>
              <a:xfrm>
                <a:off x="2765188" y="3122497"/>
                <a:ext cx="1944216" cy="3758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𝑠𝑒𝑡𝐼𝑛𝑠𝑡𝑎𝑛𝑐𝑒𝑠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Elaborazione 9">
                <a:extLst>
                  <a:ext uri="{FF2B5EF4-FFF2-40B4-BE49-F238E27FC236}">
                    <a16:creationId xmlns:a16="http://schemas.microsoft.com/office/drawing/2014/main" id="{D6B90D47-10B5-4CD1-A844-11D824059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188" y="3122497"/>
                <a:ext cx="1944216" cy="375810"/>
              </a:xfrm>
              <a:prstGeom prst="flowChartProcess">
                <a:avLst/>
              </a:prstGeom>
              <a:blipFill>
                <a:blip r:embed="rId7"/>
                <a:stretch>
                  <a:fillRect t="-28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laborazione 10">
                <a:extLst>
                  <a:ext uri="{FF2B5EF4-FFF2-40B4-BE49-F238E27FC236}">
                    <a16:creationId xmlns:a16="http://schemas.microsoft.com/office/drawing/2014/main" id="{DDD2801B-8DC7-436B-AC90-3E079DDC212B}"/>
                  </a:ext>
                </a:extLst>
              </p:cNvPr>
              <p:cNvSpPr/>
              <p:nvPr/>
            </p:nvSpPr>
            <p:spPr>
              <a:xfrm>
                <a:off x="2553875" y="3685610"/>
                <a:ext cx="2448272" cy="907984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𝑓𝑖𝑟𝑠𝑡𝑃𝑎𝑟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𝑠𝑒𝑐𝑜𝑛𝑑𝑃𝑎𝑟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𝑐h𝑖𝑙𝑑𝑟𝑒𝑛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11" name="Elaborazione 10">
                <a:extLst>
                  <a:ext uri="{FF2B5EF4-FFF2-40B4-BE49-F238E27FC236}">
                    <a16:creationId xmlns:a16="http://schemas.microsoft.com/office/drawing/2014/main" id="{DDD2801B-8DC7-436B-AC90-3E079DDC21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875" y="3685610"/>
                <a:ext cx="2448272" cy="907984"/>
              </a:xfrm>
              <a:prstGeom prst="flowChartProcess">
                <a:avLst/>
              </a:prstGeom>
              <a:blipFill>
                <a:blip r:embed="rId8"/>
                <a:stretch>
                  <a:fillRect t="-6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aborazione 11">
                <a:extLst>
                  <a:ext uri="{FF2B5EF4-FFF2-40B4-BE49-F238E27FC236}">
                    <a16:creationId xmlns:a16="http://schemas.microsoft.com/office/drawing/2014/main" id="{9CF1BD13-0B54-4747-8CA3-7FEAB95D4DD2}"/>
                  </a:ext>
                </a:extLst>
              </p:cNvPr>
              <p:cNvSpPr/>
              <p:nvPr/>
            </p:nvSpPr>
            <p:spPr>
              <a:xfrm>
                <a:off x="2803060" y="4857385"/>
                <a:ext cx="1944216" cy="36004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Elaborazione 11">
                <a:extLst>
                  <a:ext uri="{FF2B5EF4-FFF2-40B4-BE49-F238E27FC236}">
                    <a16:creationId xmlns:a16="http://schemas.microsoft.com/office/drawing/2014/main" id="{9CF1BD13-0B54-4747-8CA3-7FEAB95D4D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060" y="4857385"/>
                <a:ext cx="1944216" cy="360040"/>
              </a:xfrm>
              <a:prstGeom prst="flowChartProcess">
                <a:avLst/>
              </a:prstGeom>
              <a:blipFill>
                <a:blip r:embed="rId9"/>
                <a:stretch>
                  <a:fillRect t="-19118" b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rminatore 12">
                <a:extLst>
                  <a:ext uri="{FF2B5EF4-FFF2-40B4-BE49-F238E27FC236}">
                    <a16:creationId xmlns:a16="http://schemas.microsoft.com/office/drawing/2014/main" id="{51ECB1DF-53C8-438E-9C24-99CED4557B03}"/>
                  </a:ext>
                </a:extLst>
              </p:cNvPr>
              <p:cNvSpPr/>
              <p:nvPr/>
            </p:nvSpPr>
            <p:spPr>
              <a:xfrm>
                <a:off x="602849" y="5645842"/>
                <a:ext cx="1656184" cy="576064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rminatore 12">
                <a:extLst>
                  <a:ext uri="{FF2B5EF4-FFF2-40B4-BE49-F238E27FC236}">
                    <a16:creationId xmlns:a16="http://schemas.microsoft.com/office/drawing/2014/main" id="{51ECB1DF-53C8-438E-9C24-99CED4557B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9" y="5645842"/>
                <a:ext cx="1656184" cy="576064"/>
              </a:xfrm>
              <a:prstGeom prst="flowChartTerminator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laborazione alternativa 13">
                <a:extLst>
                  <a:ext uri="{FF2B5EF4-FFF2-40B4-BE49-F238E27FC236}">
                    <a16:creationId xmlns:a16="http://schemas.microsoft.com/office/drawing/2014/main" id="{AECD9128-03BA-45AE-AD79-13638AB1410F}"/>
                  </a:ext>
                </a:extLst>
              </p:cNvPr>
              <p:cNvSpPr/>
              <p:nvPr/>
            </p:nvSpPr>
            <p:spPr>
              <a:xfrm>
                <a:off x="5591944" y="1322477"/>
                <a:ext cx="1810544" cy="289733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Elaborazione alternativa 13">
                <a:extLst>
                  <a:ext uri="{FF2B5EF4-FFF2-40B4-BE49-F238E27FC236}">
                    <a16:creationId xmlns:a16="http://schemas.microsoft.com/office/drawing/2014/main" id="{AECD9128-03BA-45AE-AD79-13638AB14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944" y="1322477"/>
                <a:ext cx="1810544" cy="289733"/>
              </a:xfrm>
              <a:prstGeom prst="flowChartAlternateProcess">
                <a:avLst/>
              </a:prstGeom>
              <a:blipFill>
                <a:blip r:embed="rId11"/>
                <a:stretch>
                  <a:fillRect t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laborazione 14">
                <a:extLst>
                  <a:ext uri="{FF2B5EF4-FFF2-40B4-BE49-F238E27FC236}">
                    <a16:creationId xmlns:a16="http://schemas.microsoft.com/office/drawing/2014/main" id="{BF0BD3DF-713E-4682-921A-1D9E6885D7B2}"/>
                  </a:ext>
                </a:extLst>
              </p:cNvPr>
              <p:cNvSpPr/>
              <p:nvPr/>
            </p:nvSpPr>
            <p:spPr>
              <a:xfrm>
                <a:off x="6592315" y="1733122"/>
                <a:ext cx="2016224" cy="289733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𝑃𝐼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𝑐𝑎𝑙𝑐𝑢𝑙𝑎𝑡𝑒𝑃𝐼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15" name="Elaborazione 14">
                <a:extLst>
                  <a:ext uri="{FF2B5EF4-FFF2-40B4-BE49-F238E27FC236}">
                    <a16:creationId xmlns:a16="http://schemas.microsoft.com/office/drawing/2014/main" id="{BF0BD3DF-713E-4682-921A-1D9E6885D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315" y="1733122"/>
                <a:ext cx="2016224" cy="289733"/>
              </a:xfrm>
              <a:prstGeom prst="flowChartProcess">
                <a:avLst/>
              </a:prstGeom>
              <a:blipFill>
                <a:blip r:embed="rId12"/>
                <a:stretch>
                  <a:fillRect t="-15789" r="-5882" b="-5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Decisione 15">
                <a:extLst>
                  <a:ext uri="{FF2B5EF4-FFF2-40B4-BE49-F238E27FC236}">
                    <a16:creationId xmlns:a16="http://schemas.microsoft.com/office/drawing/2014/main" id="{B6682EB5-1D83-400C-A87A-7D0D00C70A9B}"/>
                  </a:ext>
                </a:extLst>
              </p:cNvPr>
              <p:cNvSpPr/>
              <p:nvPr/>
            </p:nvSpPr>
            <p:spPr>
              <a:xfrm>
                <a:off x="6782550" y="2182905"/>
                <a:ext cx="1656184" cy="420253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Decisione 15">
                <a:extLst>
                  <a:ext uri="{FF2B5EF4-FFF2-40B4-BE49-F238E27FC236}">
                    <a16:creationId xmlns:a16="http://schemas.microsoft.com/office/drawing/2014/main" id="{B6682EB5-1D83-400C-A87A-7D0D00C70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550" y="2182905"/>
                <a:ext cx="1656184" cy="420253"/>
              </a:xfrm>
              <a:prstGeom prst="flowChartDecision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ati 16">
                <a:extLst>
                  <a:ext uri="{FF2B5EF4-FFF2-40B4-BE49-F238E27FC236}">
                    <a16:creationId xmlns:a16="http://schemas.microsoft.com/office/drawing/2014/main" id="{AC943C1A-76EB-4B27-9AA3-21B81CD8FDB5}"/>
                  </a:ext>
                </a:extLst>
              </p:cNvPr>
              <p:cNvSpPr/>
              <p:nvPr/>
            </p:nvSpPr>
            <p:spPr>
              <a:xfrm>
                <a:off x="9281266" y="1956339"/>
                <a:ext cx="1979712" cy="550181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𝐷𝑒𝑙𝑒𝑡𝑒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𝑓𝑟𝑜𝑚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𝑇𝑟𝑒𝑒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Dati 16">
                <a:extLst>
                  <a:ext uri="{FF2B5EF4-FFF2-40B4-BE49-F238E27FC236}">
                    <a16:creationId xmlns:a16="http://schemas.microsoft.com/office/drawing/2014/main" id="{AC943C1A-76EB-4B27-9AA3-21B81CD8F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266" y="1956339"/>
                <a:ext cx="1979712" cy="550181"/>
              </a:xfrm>
              <a:prstGeom prst="flowChartInputOutput">
                <a:avLst/>
              </a:prstGeom>
              <a:blipFill>
                <a:blip r:embed="rId14"/>
                <a:stretch>
                  <a:fillRect t="-50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reparazione 17">
                <a:extLst>
                  <a:ext uri="{FF2B5EF4-FFF2-40B4-BE49-F238E27FC236}">
                    <a16:creationId xmlns:a16="http://schemas.microsoft.com/office/drawing/2014/main" id="{5AA274FE-579D-4D79-8363-EA028DAD53AC}"/>
                  </a:ext>
                </a:extLst>
              </p:cNvPr>
              <p:cNvSpPr/>
              <p:nvPr/>
            </p:nvSpPr>
            <p:spPr>
              <a:xfrm>
                <a:off x="6484720" y="2771961"/>
                <a:ext cx="2304256" cy="420254"/>
              </a:xfrm>
              <a:prstGeom prst="flowChartPreparat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𝐴𝑑𝑑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𝑇𝑜𝑝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8" name="Preparazione 17">
                <a:extLst>
                  <a:ext uri="{FF2B5EF4-FFF2-40B4-BE49-F238E27FC236}">
                    <a16:creationId xmlns:a16="http://schemas.microsoft.com/office/drawing/2014/main" id="{5AA274FE-579D-4D79-8363-EA028DAD53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720" y="2771961"/>
                <a:ext cx="2304256" cy="420254"/>
              </a:xfrm>
              <a:prstGeom prst="flowChartPreparation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Decisione 18">
                <a:extLst>
                  <a:ext uri="{FF2B5EF4-FFF2-40B4-BE49-F238E27FC236}">
                    <a16:creationId xmlns:a16="http://schemas.microsoft.com/office/drawing/2014/main" id="{631B659B-5C75-4923-83EC-2DF46EE016B2}"/>
                  </a:ext>
                </a:extLst>
              </p:cNvPr>
              <p:cNvSpPr/>
              <p:nvPr/>
            </p:nvSpPr>
            <p:spPr>
              <a:xfrm>
                <a:off x="6966181" y="3368405"/>
                <a:ext cx="1368152" cy="70406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𝑁𝑢𝑚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Decisione 18">
                <a:extLst>
                  <a:ext uri="{FF2B5EF4-FFF2-40B4-BE49-F238E27FC236}">
                    <a16:creationId xmlns:a16="http://schemas.microsoft.com/office/drawing/2014/main" id="{631B659B-5C75-4923-83EC-2DF46EE01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181" y="3368405"/>
                <a:ext cx="1368152" cy="704068"/>
              </a:xfrm>
              <a:prstGeom prst="flowChartDecision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aborazione 19">
                <a:extLst>
                  <a:ext uri="{FF2B5EF4-FFF2-40B4-BE49-F238E27FC236}">
                    <a16:creationId xmlns:a16="http://schemas.microsoft.com/office/drawing/2014/main" id="{41FAF6BD-A1F3-455C-AC55-FE531ED0A4DA}"/>
                  </a:ext>
                </a:extLst>
              </p:cNvPr>
              <p:cNvSpPr/>
              <p:nvPr/>
            </p:nvSpPr>
            <p:spPr>
              <a:xfrm>
                <a:off x="8951945" y="3299300"/>
                <a:ext cx="1921859" cy="3740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𝑃𝐼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Elaborazione 19">
                <a:extLst>
                  <a:ext uri="{FF2B5EF4-FFF2-40B4-BE49-F238E27FC236}">
                    <a16:creationId xmlns:a16="http://schemas.microsoft.com/office/drawing/2014/main" id="{41FAF6BD-A1F3-455C-AC55-FE531ED0A4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945" y="3299300"/>
                <a:ext cx="1921859" cy="374010"/>
              </a:xfrm>
              <a:prstGeom prst="flowChartProcess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Dati 20">
                <a:extLst>
                  <a:ext uri="{FF2B5EF4-FFF2-40B4-BE49-F238E27FC236}">
                    <a16:creationId xmlns:a16="http://schemas.microsoft.com/office/drawing/2014/main" id="{98D7DE8E-0DFB-4590-B922-E43B33B133E0}"/>
                  </a:ext>
                </a:extLst>
              </p:cNvPr>
              <p:cNvSpPr/>
              <p:nvPr/>
            </p:nvSpPr>
            <p:spPr>
              <a:xfrm>
                <a:off x="6325853" y="5366663"/>
                <a:ext cx="2982593" cy="814956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𝐷𝑒𝑙𝑒𝑡𝑒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𝑇𝑟𝑒𝑒</m:t>
                      </m:r>
                    </m:oMath>
                  </m:oMathPara>
                </a14:m>
                <a:endParaRPr lang="en-US" sz="16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𝑃𝐼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sz="1600" dirty="0"/>
                  <a:t> </a:t>
                </a:r>
              </a:p>
            </p:txBody>
          </p:sp>
        </mc:Choice>
        <mc:Fallback xmlns="">
          <p:sp>
            <p:nvSpPr>
              <p:cNvPr id="21" name="Dati 20">
                <a:extLst>
                  <a:ext uri="{FF2B5EF4-FFF2-40B4-BE49-F238E27FC236}">
                    <a16:creationId xmlns:a16="http://schemas.microsoft.com/office/drawing/2014/main" id="{98D7DE8E-0DFB-4590-B922-E43B33B133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853" y="5366663"/>
                <a:ext cx="2982593" cy="814956"/>
              </a:xfrm>
              <a:prstGeom prst="flowChartInputOutput">
                <a:avLst/>
              </a:prstGeom>
              <a:blipFill>
                <a:blip r:embed="rId18"/>
                <a:stretch>
                  <a:fillRect t="-209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ecisione 21">
                <a:extLst>
                  <a:ext uri="{FF2B5EF4-FFF2-40B4-BE49-F238E27FC236}">
                    <a16:creationId xmlns:a16="http://schemas.microsoft.com/office/drawing/2014/main" id="{D0EB7C18-ADC0-4DE7-A485-EF6EFF5AC4BD}"/>
                  </a:ext>
                </a:extLst>
              </p:cNvPr>
              <p:cNvSpPr/>
              <p:nvPr/>
            </p:nvSpPr>
            <p:spPr>
              <a:xfrm>
                <a:off x="6768159" y="4228190"/>
                <a:ext cx="1764196" cy="399014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2" name="Decisione 21">
                <a:extLst>
                  <a:ext uri="{FF2B5EF4-FFF2-40B4-BE49-F238E27FC236}">
                    <a16:creationId xmlns:a16="http://schemas.microsoft.com/office/drawing/2014/main" id="{D0EB7C18-ADC0-4DE7-A485-EF6EFF5AC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159" y="4228190"/>
                <a:ext cx="1764196" cy="399014"/>
              </a:xfrm>
              <a:prstGeom prst="flowChartDecision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aborazione 22">
                <a:extLst>
                  <a:ext uri="{FF2B5EF4-FFF2-40B4-BE49-F238E27FC236}">
                    <a16:creationId xmlns:a16="http://schemas.microsoft.com/office/drawing/2014/main" id="{80CA1E72-C133-4284-B2F3-EF420015EA26}"/>
                  </a:ext>
                </a:extLst>
              </p:cNvPr>
              <p:cNvSpPr/>
              <p:nvPr/>
            </p:nvSpPr>
            <p:spPr>
              <a:xfrm>
                <a:off x="6704215" y="4776009"/>
                <a:ext cx="1921859" cy="3740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𝑃𝐼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3" name="Elaborazione 22">
                <a:extLst>
                  <a:ext uri="{FF2B5EF4-FFF2-40B4-BE49-F238E27FC236}">
                    <a16:creationId xmlns:a16="http://schemas.microsoft.com/office/drawing/2014/main" id="{80CA1E72-C133-4284-B2F3-EF420015E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215" y="4776009"/>
                <a:ext cx="1921859" cy="374010"/>
              </a:xfrm>
              <a:prstGeom prst="flowChartProcess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rminatore 23">
                <a:extLst>
                  <a:ext uri="{FF2B5EF4-FFF2-40B4-BE49-F238E27FC236}">
                    <a16:creationId xmlns:a16="http://schemas.microsoft.com/office/drawing/2014/main" id="{ABFA0CE0-B79F-41A1-9409-519646CF668A}"/>
                  </a:ext>
                </a:extLst>
              </p:cNvPr>
              <p:cNvSpPr/>
              <p:nvPr/>
            </p:nvSpPr>
            <p:spPr>
              <a:xfrm>
                <a:off x="5407818" y="6326303"/>
                <a:ext cx="1461699" cy="432048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4" name="Terminatore 23">
                <a:extLst>
                  <a:ext uri="{FF2B5EF4-FFF2-40B4-BE49-F238E27FC236}">
                    <a16:creationId xmlns:a16="http://schemas.microsoft.com/office/drawing/2014/main" id="{ABFA0CE0-B79F-41A1-9409-519646CF66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818" y="6326303"/>
                <a:ext cx="1461699" cy="432048"/>
              </a:xfrm>
              <a:prstGeom prst="flowChartTerminator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3C9800D6-7D9A-457A-87F6-EE38E185D73C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1873797" y="1795019"/>
            <a:ext cx="374799" cy="1783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CC0B518-5170-4847-9F71-0EB8C09AE83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736926" y="2948126"/>
            <a:ext cx="370" cy="1743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40189F47-E122-4228-B852-25CF89B666D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737296" y="3498307"/>
            <a:ext cx="0" cy="1786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3521A9D3-89CE-4CE5-8F5F-12253DFE8104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775168" y="4593594"/>
            <a:ext cx="2843" cy="2637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a gomito 43">
            <a:extLst>
              <a:ext uri="{FF2B5EF4-FFF2-40B4-BE49-F238E27FC236}">
                <a16:creationId xmlns:a16="http://schemas.microsoft.com/office/drawing/2014/main" id="{F6B3451D-6A04-4B69-AC2C-9B9D427697E3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2445201" y="2440604"/>
            <a:ext cx="420570" cy="2186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a gomito 49">
            <a:extLst>
              <a:ext uri="{FF2B5EF4-FFF2-40B4-BE49-F238E27FC236}">
                <a16:creationId xmlns:a16="http://schemas.microsoft.com/office/drawing/2014/main" id="{8D2AD858-5752-434D-B88F-4C2DA693D80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325855" y="1659685"/>
            <a:ext cx="266460" cy="218304"/>
          </a:xfrm>
          <a:prstGeom prst="bentConnector3">
            <a:avLst>
              <a:gd name="adj1" fmla="val -466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6191C45C-6B87-4CD0-9483-F2A94CBF0E03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7600427" y="2022855"/>
            <a:ext cx="10215" cy="1600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87E13A22-C7C6-40DB-BCCC-1926240C4E4F}"/>
              </a:ext>
            </a:extLst>
          </p:cNvPr>
          <p:cNvCxnSpPr>
            <a:stCxn id="16" idx="3"/>
            <a:endCxn id="17" idx="2"/>
          </p:cNvCxnSpPr>
          <p:nvPr/>
        </p:nvCxnSpPr>
        <p:spPr>
          <a:xfrm flipV="1">
            <a:off x="8438734" y="2231430"/>
            <a:ext cx="1040503" cy="1616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a gomito 60">
            <a:extLst>
              <a:ext uri="{FF2B5EF4-FFF2-40B4-BE49-F238E27FC236}">
                <a16:creationId xmlns:a16="http://schemas.microsoft.com/office/drawing/2014/main" id="{973EFA52-30F2-46EB-8C82-164A0F1AB4F5}"/>
              </a:ext>
            </a:extLst>
          </p:cNvPr>
          <p:cNvCxnSpPr>
            <a:stCxn id="17" idx="1"/>
            <a:endCxn id="14" idx="3"/>
          </p:cNvCxnSpPr>
          <p:nvPr/>
        </p:nvCxnSpPr>
        <p:spPr>
          <a:xfrm rot="16200000" flipV="1">
            <a:off x="8592308" y="277525"/>
            <a:ext cx="488995" cy="286863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04C55FC0-8AC8-428D-9E7F-B8D6E7A943F1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7610642" y="2603158"/>
            <a:ext cx="26206" cy="168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8EFF6F70-920B-4E68-9928-0E335AAAB2C4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7636848" y="3192215"/>
            <a:ext cx="13409" cy="1761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724EA766-C966-4C04-B10E-C1DE43B3B917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8334333" y="3486305"/>
            <a:ext cx="617612" cy="2341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a gomito 71">
            <a:extLst>
              <a:ext uri="{FF2B5EF4-FFF2-40B4-BE49-F238E27FC236}">
                <a16:creationId xmlns:a16="http://schemas.microsoft.com/office/drawing/2014/main" id="{51CA0587-AC67-4FDC-BD83-B8DBA4534DCD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10309628" y="1482105"/>
            <a:ext cx="564176" cy="2004200"/>
          </a:xfrm>
          <a:prstGeom prst="bentConnector4">
            <a:avLst>
              <a:gd name="adj1" fmla="val -123146"/>
              <a:gd name="adj2" fmla="val 9984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C06A4594-91DE-4432-B787-C19578E5E6D6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>
            <a:off x="7650257" y="4072473"/>
            <a:ext cx="0" cy="1557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0799B745-5E75-46DC-B00B-83BE4C5117B8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7650257" y="4627204"/>
            <a:ext cx="14888" cy="14880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0CE2A9D6-BCCC-436D-AC87-03D110E895D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8532355" y="3499542"/>
            <a:ext cx="3036253" cy="928155"/>
          </a:xfrm>
          <a:prstGeom prst="bentConnector3">
            <a:avLst>
              <a:gd name="adj1" fmla="val 9960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046A9EF7-3EDD-4A59-AEFC-1848F778D057}"/>
              </a:ext>
            </a:extLst>
          </p:cNvPr>
          <p:cNvCxnSpPr>
            <a:cxnSpLocks/>
          </p:cNvCxnSpPr>
          <p:nvPr/>
        </p:nvCxnSpPr>
        <p:spPr>
          <a:xfrm>
            <a:off x="7707984" y="5184700"/>
            <a:ext cx="6295" cy="1472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ttore a gomito 120">
            <a:extLst>
              <a:ext uri="{FF2B5EF4-FFF2-40B4-BE49-F238E27FC236}">
                <a16:creationId xmlns:a16="http://schemas.microsoft.com/office/drawing/2014/main" id="{049C0EA1-33EF-491A-8727-C1430C2EA4A1}"/>
              </a:ext>
            </a:extLst>
          </p:cNvPr>
          <p:cNvCxnSpPr>
            <a:cxnSpLocks/>
            <a:stCxn id="21" idx="5"/>
          </p:cNvCxnSpPr>
          <p:nvPr/>
        </p:nvCxnSpPr>
        <p:spPr>
          <a:xfrm flipV="1">
            <a:off x="9010187" y="4440934"/>
            <a:ext cx="2558421" cy="1333207"/>
          </a:xfrm>
          <a:prstGeom prst="bentConnector3">
            <a:avLst>
              <a:gd name="adj1" fmla="val 10010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a gomito 145">
            <a:extLst>
              <a:ext uri="{FF2B5EF4-FFF2-40B4-BE49-F238E27FC236}">
                <a16:creationId xmlns:a16="http://schemas.microsoft.com/office/drawing/2014/main" id="{B616F544-B58A-4D61-8476-423A02612893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2300198" y="2346691"/>
            <a:ext cx="502862" cy="269071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ttore 2 155">
            <a:extLst>
              <a:ext uri="{FF2B5EF4-FFF2-40B4-BE49-F238E27FC236}">
                <a16:creationId xmlns:a16="http://schemas.microsoft.com/office/drawing/2014/main" id="{CE55F082-7DA7-4E66-B2F2-266E9437D649}"/>
              </a:ext>
            </a:extLst>
          </p:cNvPr>
          <p:cNvCxnSpPr>
            <a:cxnSpLocks/>
          </p:cNvCxnSpPr>
          <p:nvPr/>
        </p:nvCxnSpPr>
        <p:spPr>
          <a:xfrm>
            <a:off x="5905919" y="1644970"/>
            <a:ext cx="54307" cy="46813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CasellaDiTesto 171">
            <a:extLst>
              <a:ext uri="{FF2B5EF4-FFF2-40B4-BE49-F238E27FC236}">
                <a16:creationId xmlns:a16="http://schemas.microsoft.com/office/drawing/2014/main" id="{DB8D3664-E49D-4104-BE52-5F90F928DE57}"/>
              </a:ext>
            </a:extLst>
          </p:cNvPr>
          <p:cNvSpPr txBox="1"/>
          <p:nvPr/>
        </p:nvSpPr>
        <p:spPr>
          <a:xfrm>
            <a:off x="8356018" y="2082625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3" name="CasellaDiTesto 172">
            <a:extLst>
              <a:ext uri="{FF2B5EF4-FFF2-40B4-BE49-F238E27FC236}">
                <a16:creationId xmlns:a16="http://schemas.microsoft.com/office/drawing/2014/main" id="{EE8F963A-0B28-4A81-90C3-1A835E7D56E0}"/>
              </a:ext>
            </a:extLst>
          </p:cNvPr>
          <p:cNvSpPr txBox="1"/>
          <p:nvPr/>
        </p:nvSpPr>
        <p:spPr>
          <a:xfrm>
            <a:off x="7288193" y="2536230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4" name="CasellaDiTesto 173">
            <a:extLst>
              <a:ext uri="{FF2B5EF4-FFF2-40B4-BE49-F238E27FC236}">
                <a16:creationId xmlns:a16="http://schemas.microsoft.com/office/drawing/2014/main" id="{78167273-1E5F-4080-9A98-A813BB5D13A3}"/>
              </a:ext>
            </a:extLst>
          </p:cNvPr>
          <p:cNvSpPr txBox="1"/>
          <p:nvPr/>
        </p:nvSpPr>
        <p:spPr>
          <a:xfrm>
            <a:off x="8305171" y="3399483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5" name="CasellaDiTesto 174">
            <a:extLst>
              <a:ext uri="{FF2B5EF4-FFF2-40B4-BE49-F238E27FC236}">
                <a16:creationId xmlns:a16="http://schemas.microsoft.com/office/drawing/2014/main" id="{070FB722-3ED5-4322-992E-6B4F173041FD}"/>
              </a:ext>
            </a:extLst>
          </p:cNvPr>
          <p:cNvSpPr txBox="1"/>
          <p:nvPr/>
        </p:nvSpPr>
        <p:spPr>
          <a:xfrm>
            <a:off x="7270400" y="3972490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3F6AF443-AF3E-4C2B-A0E6-0F4F901ECD10}"/>
              </a:ext>
            </a:extLst>
          </p:cNvPr>
          <p:cNvSpPr txBox="1"/>
          <p:nvPr/>
        </p:nvSpPr>
        <p:spPr>
          <a:xfrm>
            <a:off x="8527978" y="4129870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7" name="CasellaDiTesto 176">
            <a:extLst>
              <a:ext uri="{FF2B5EF4-FFF2-40B4-BE49-F238E27FC236}">
                <a16:creationId xmlns:a16="http://schemas.microsoft.com/office/drawing/2014/main" id="{15D6B7A1-052D-4CA8-AACD-41530A39D704}"/>
              </a:ext>
            </a:extLst>
          </p:cNvPr>
          <p:cNvSpPr txBox="1"/>
          <p:nvPr/>
        </p:nvSpPr>
        <p:spPr>
          <a:xfrm>
            <a:off x="7186726" y="4531658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9" name="CasellaDiTesto 178">
            <a:extLst>
              <a:ext uri="{FF2B5EF4-FFF2-40B4-BE49-F238E27FC236}">
                <a16:creationId xmlns:a16="http://schemas.microsoft.com/office/drawing/2014/main" id="{08E02151-1CFE-4A86-B4C4-4E99C5E574B2}"/>
              </a:ext>
            </a:extLst>
          </p:cNvPr>
          <p:cNvSpPr txBox="1"/>
          <p:nvPr/>
        </p:nvSpPr>
        <p:spPr>
          <a:xfrm>
            <a:off x="5600589" y="3192215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80" name="CasellaDiTesto 179">
            <a:extLst>
              <a:ext uri="{FF2B5EF4-FFF2-40B4-BE49-F238E27FC236}">
                <a16:creationId xmlns:a16="http://schemas.microsoft.com/office/drawing/2014/main" id="{06F255D3-61E7-461C-AA16-9952734199E1}"/>
              </a:ext>
            </a:extLst>
          </p:cNvPr>
          <p:cNvSpPr txBox="1"/>
          <p:nvPr/>
        </p:nvSpPr>
        <p:spPr>
          <a:xfrm>
            <a:off x="982570" y="3670218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cxnSp>
        <p:nvCxnSpPr>
          <p:cNvPr id="6" name="Connettore a gomito 5">
            <a:extLst>
              <a:ext uri="{FF2B5EF4-FFF2-40B4-BE49-F238E27FC236}">
                <a16:creationId xmlns:a16="http://schemas.microsoft.com/office/drawing/2014/main" id="{41ABB7EC-CE5D-4BBF-995C-83CD1168EE0F}"/>
              </a:ext>
            </a:extLst>
          </p:cNvPr>
          <p:cNvCxnSpPr>
            <a:cxnSpLocks/>
          </p:cNvCxnSpPr>
          <p:nvPr/>
        </p:nvCxnSpPr>
        <p:spPr>
          <a:xfrm rot="10800000">
            <a:off x="1430943" y="1722171"/>
            <a:ext cx="686852" cy="509258"/>
          </a:xfrm>
          <a:prstGeom prst="bentConnector3">
            <a:avLst>
              <a:gd name="adj1" fmla="val 9959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0FC546FC-A565-4CCF-9C26-682B302F597D}"/>
              </a:ext>
            </a:extLst>
          </p:cNvPr>
          <p:cNvSpPr txBox="1"/>
          <p:nvPr/>
        </p:nvSpPr>
        <p:spPr>
          <a:xfrm rot="5400000">
            <a:off x="1495078" y="2022467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7B510DE2-799A-4FE9-9A42-7C057033E8C6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 flipV="1">
            <a:off x="1256705" y="1467344"/>
            <a:ext cx="38765" cy="4153127"/>
          </a:xfrm>
          <a:prstGeom prst="bentConnector4">
            <a:avLst>
              <a:gd name="adj1" fmla="val -589707"/>
              <a:gd name="adj2" fmla="val 5260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04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C0767E69-B884-49AC-B713-33B8D09CB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4081" y="1139288"/>
                <a:ext cx="3510104" cy="165618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err="1"/>
                  <a:t>Supporto</a:t>
                </a:r>
                <a:endParaRPr lang="en-US" sz="2400" dirty="0"/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C0767E69-B884-49AC-B713-33B8D09CB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4081" y="1139288"/>
                <a:ext cx="3510104" cy="1656183"/>
              </a:xfrm>
              <a:blipFill>
                <a:blip r:embed="rId2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olo 2">
            <a:extLst>
              <a:ext uri="{FF2B5EF4-FFF2-40B4-BE49-F238E27FC236}">
                <a16:creationId xmlns:a16="http://schemas.microsoft.com/office/drawing/2014/main" id="{C83FDF46-E993-4E3E-B6EA-4A221E0D0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371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D79BE033-3A72-4BBC-B6F4-B936BFC0EB57}"/>
              </a:ext>
            </a:extLst>
          </p:cNvPr>
          <p:cNvSpPr txBox="1">
            <a:spLocks/>
          </p:cNvSpPr>
          <p:nvPr/>
        </p:nvSpPr>
        <p:spPr>
          <a:xfrm>
            <a:off x="4072404" y="552338"/>
            <a:ext cx="3960440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Indici</a:t>
            </a:r>
            <a:endParaRPr lang="it-IT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contenuto 1">
                <a:extLst>
                  <a:ext uri="{FF2B5EF4-FFF2-40B4-BE49-F238E27FC236}">
                    <a16:creationId xmlns:a16="http://schemas.microsoft.com/office/drawing/2014/main" id="{77256A98-FFE6-4E4D-A630-0583D83257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4081" y="2600908"/>
                <a:ext cx="6110068" cy="1656183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en-US" sz="2400" dirty="0"/>
                  <a:t>Confidenza</a:t>
                </a:r>
              </a:p>
              <a:p>
                <a:pPr marL="109728" indent="0">
                  <a:buNone/>
                </a:pPr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6" name="Segnaposto contenuto 1">
                <a:extLst>
                  <a:ext uri="{FF2B5EF4-FFF2-40B4-BE49-F238E27FC236}">
                    <a16:creationId xmlns:a16="http://schemas.microsoft.com/office/drawing/2014/main" id="{77256A98-FFE6-4E4D-A630-0583D8325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81" y="2600908"/>
                <a:ext cx="6110068" cy="1656183"/>
              </a:xfrm>
              <a:prstGeom prst="rect">
                <a:avLst/>
              </a:prstGeom>
              <a:blipFill>
                <a:blip r:embed="rId3"/>
                <a:stretch>
                  <a:fillRect t="-29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1">
                <a:extLst>
                  <a:ext uri="{FF2B5EF4-FFF2-40B4-BE49-F238E27FC236}">
                    <a16:creationId xmlns:a16="http://schemas.microsoft.com/office/drawing/2014/main" id="{664D5A56-BA27-4B78-9073-06441FDE88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4081" y="4238017"/>
                <a:ext cx="5544616" cy="2016224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en-US" sz="2400" dirty="0"/>
                  <a:t>Lift</a:t>
                </a:r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𝐿𝑖𝑓𝑡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7" name="Segnaposto contenuto 1">
                <a:extLst>
                  <a:ext uri="{FF2B5EF4-FFF2-40B4-BE49-F238E27FC236}">
                    <a16:creationId xmlns:a16="http://schemas.microsoft.com/office/drawing/2014/main" id="{664D5A56-BA27-4B78-9073-06441FDE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81" y="4238017"/>
                <a:ext cx="5544616" cy="2016224"/>
              </a:xfrm>
              <a:prstGeom prst="rect">
                <a:avLst/>
              </a:prstGeom>
              <a:blipFill>
                <a:blip r:embed="rId4"/>
                <a:stretch>
                  <a:fillRect t="-2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F797468-0070-4CF4-BCAB-59F37728362A}"/>
                  </a:ext>
                </a:extLst>
              </p:cNvPr>
              <p:cNvSpPr txBox="1"/>
              <p:nvPr/>
            </p:nvSpPr>
            <p:spPr>
              <a:xfrm>
                <a:off x="5461248" y="1341395"/>
                <a:ext cx="47160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numero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istanze</a:t>
                </a:r>
                <a:r>
                  <a:rPr lang="en-US" sz="2000" dirty="0"/>
                  <a:t> con </a:t>
                </a:r>
                <a:r>
                  <a:rPr lang="en-US" sz="2000" dirty="0" err="1"/>
                  <a:t>sia</a:t>
                </a:r>
                <a:r>
                  <a:rPr lang="en-US" sz="2000" dirty="0"/>
                  <a:t> A che B </a:t>
                </a:r>
                <a:endParaRPr lang="it-IT" sz="20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F797468-0070-4CF4-BCAB-59F37728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248" y="1341395"/>
                <a:ext cx="4716016" cy="707886"/>
              </a:xfrm>
              <a:prstGeom prst="rect">
                <a:avLst/>
              </a:prstGeom>
              <a:blipFill>
                <a:blip r:embed="rId5"/>
                <a:stretch>
                  <a:fillRect l="-1423" t="-3448" b="-146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B8FC6F9-D199-43E6-91D4-8798D930629D}"/>
                  </a:ext>
                </a:extLst>
              </p:cNvPr>
              <p:cNvSpPr txBox="1"/>
              <p:nvPr/>
            </p:nvSpPr>
            <p:spPr>
              <a:xfrm>
                <a:off x="7300319" y="4308504"/>
                <a:ext cx="471601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sz="2000" dirty="0"/>
                  <a:t> i tipi sono indipendenti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it-IT" sz="2000" dirty="0"/>
                  <a:t> i tipi sono associati positivamente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it-IT" sz="2000" dirty="0"/>
                  <a:t> i tipi sono associati negativamente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B8FC6F9-D199-43E6-91D4-8798D9306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319" y="4308504"/>
                <a:ext cx="4716016" cy="2185214"/>
              </a:xfrm>
              <a:prstGeom prst="rect">
                <a:avLst/>
              </a:prstGeom>
              <a:blipFill>
                <a:blip r:embed="rId6"/>
                <a:stretch>
                  <a:fillRect l="-1164" t="-1676" r="-11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920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le">
  <a:themeElements>
    <a:clrScheme name="Vial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Vial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Vial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36D46CB-964F-4BC7-AE9A-8AF03533C7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 Gabbiano</Template>
  <TotalTime>2055</TotalTime>
  <Words>778</Words>
  <Application>Microsoft Office PowerPoint</Application>
  <PresentationFormat>Widescreen</PresentationFormat>
  <Paragraphs>166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0" baseType="lpstr">
      <vt:lpstr>Arial</vt:lpstr>
      <vt:lpstr>Broadway</vt:lpstr>
      <vt:lpstr>Cambria Math</vt:lpstr>
      <vt:lpstr>Lucida Sans Unicode</vt:lpstr>
      <vt:lpstr>Verdana</vt:lpstr>
      <vt:lpstr>Wingdings 2</vt:lpstr>
      <vt:lpstr>Wingdings 3</vt:lpstr>
      <vt:lpstr>Viale</vt:lpstr>
      <vt:lpstr>Identificazione di eventi spazio-temporali associati: studio e implementazione su dataset di crimini</vt:lpstr>
      <vt:lpstr>Paper e Dataset utilizzato</vt:lpstr>
      <vt:lpstr>Stato dell’Arte</vt:lpstr>
      <vt:lpstr>Stato dell’Arte</vt:lpstr>
      <vt:lpstr>Algoritmo STBFM</vt:lpstr>
      <vt:lpstr>Sequence Pattern Tree (SPTree)</vt:lpstr>
      <vt:lpstr>Implementazione e dataset di test</vt:lpstr>
      <vt:lpstr>Analisi dei risultati</vt:lpstr>
      <vt:lpstr>Analisi dei risultati</vt:lpstr>
      <vt:lpstr>Conclusioni e prospettive future</vt:lpstr>
      <vt:lpstr>Presentazione standard di PowerPoint</vt:lpstr>
      <vt:lpstr>Analisi dei risultati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RISCHIO DI CREDITO</dc:title>
  <dc:creator>Fede Luzzi</dc:creator>
  <cp:keywords/>
  <cp:lastModifiedBy>Fede Luzzi</cp:lastModifiedBy>
  <cp:revision>74</cp:revision>
  <dcterms:created xsi:type="dcterms:W3CDTF">2019-10-08T07:28:59Z</dcterms:created>
  <dcterms:modified xsi:type="dcterms:W3CDTF">2019-10-23T21:03:55Z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TC020188469991</vt:lpwstr>
  </property>
</Properties>
</file>