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"/>
  </p:sldMasterIdLst>
  <p:sldIdLst>
    <p:sldId id="256" r:id="rId3"/>
    <p:sldId id="258" r:id="rId4"/>
    <p:sldId id="257" r:id="rId5"/>
    <p:sldId id="259" r:id="rId6"/>
    <p:sldId id="261" r:id="rId7"/>
    <p:sldId id="260" r:id="rId8"/>
    <p:sldId id="263" r:id="rId9"/>
    <p:sldId id="264" r:id="rId10"/>
    <p:sldId id="266" r:id="rId11"/>
    <p:sldId id="267" r:id="rId1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8E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75" d="100"/>
          <a:sy n="75" d="100"/>
        </p:scale>
        <p:origin x="82" y="28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1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12201452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914400" y="1752602"/>
            <a:ext cx="103632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914400" y="3611607"/>
            <a:ext cx="103632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5019" y="4953000"/>
            <a:ext cx="12197020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 sz="1800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 sz="1800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 sz="1800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63168" y="1059712"/>
            <a:ext cx="103632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230284" y="2931712"/>
            <a:ext cx="6096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4848907" y="3005472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  <p:sp>
        <p:nvSpPr>
          <p:cNvPr id="8" name="Gallone 7"/>
          <p:cNvSpPr/>
          <p:nvPr/>
        </p:nvSpPr>
        <p:spPr>
          <a:xfrm>
            <a:off x="4600352" y="3005472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609600" y="1481329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481329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109728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609600" y="5410200"/>
            <a:ext cx="5386917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6193369" y="5410200"/>
            <a:ext cx="5389033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609600" y="1444295"/>
            <a:ext cx="5386917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1444295"/>
            <a:ext cx="5389033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219200" y="4876800"/>
            <a:ext cx="9975701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5892800" y="5355102"/>
            <a:ext cx="5299456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1219200" y="274320"/>
            <a:ext cx="9973056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8969376" y="6407944"/>
            <a:ext cx="2560320" cy="365760"/>
          </a:xfrm>
        </p:spPr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521643" y="5443402"/>
            <a:ext cx="95504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304800" y="189968"/>
            <a:ext cx="115824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5840097" y="6407945"/>
            <a:ext cx="313424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304800" y="4865122"/>
            <a:ext cx="10767243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665697" y="5944936"/>
            <a:ext cx="6587499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647623" y="5939011"/>
            <a:ext cx="492060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8056" y="5791253"/>
            <a:ext cx="4536419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 sz="1800"/>
          </a:p>
        </p:txBody>
      </p:sp>
      <p:cxnSp>
        <p:nvCxnSpPr>
          <p:cNvPr id="11" name="Connettore 1 10"/>
          <p:cNvCxnSpPr/>
          <p:nvPr/>
        </p:nvCxnSpPr>
        <p:spPr>
          <a:xfrm>
            <a:off x="-12316" y="5787739"/>
            <a:ext cx="454067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11552149" y="4988440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  <p:sp>
        <p:nvSpPr>
          <p:cNvPr id="13" name="Gallone 12"/>
          <p:cNvSpPr/>
          <p:nvPr/>
        </p:nvSpPr>
        <p:spPr>
          <a:xfrm>
            <a:off x="11303595" y="4988440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09600" y="1481330"/>
            <a:ext cx="10972800" cy="4386071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9125351" y="274641"/>
            <a:ext cx="2369960" cy="5592761"/>
          </a:xfrm>
        </p:spPr>
        <p:txBody>
          <a:bodyPr vert="eaVert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432800" cy="5592760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665697" y="5944936"/>
            <a:ext cx="6587499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647623" y="5939011"/>
            <a:ext cx="492060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8056" y="5791253"/>
            <a:ext cx="4536419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 sz="1800"/>
          </a:p>
        </p:txBody>
      </p:sp>
      <p:cxnSp>
        <p:nvCxnSpPr>
          <p:cNvPr id="15" name="Connettore 1 14"/>
          <p:cNvCxnSpPr/>
          <p:nvPr/>
        </p:nvCxnSpPr>
        <p:spPr>
          <a:xfrm>
            <a:off x="-12316" y="5787739"/>
            <a:ext cx="454067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it-IT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609600" y="1481329"/>
            <a:ext cx="109728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it-IT"/>
              <a:t>Fare clic per modificare stili del testo dello schema</a:t>
            </a:r>
          </a:p>
          <a:p>
            <a:pPr lvl="1" eaLnBrk="1" latinLnBrk="0" hangingPunct="1"/>
            <a:r>
              <a:rPr kumimoji="0" lang="it-IT"/>
              <a:t>Secondo livello</a:t>
            </a:r>
          </a:p>
          <a:p>
            <a:pPr lvl="2" eaLnBrk="1" latinLnBrk="0" hangingPunct="1"/>
            <a:r>
              <a:rPr kumimoji="0" lang="it-IT"/>
              <a:t>Terzo livello</a:t>
            </a:r>
          </a:p>
          <a:p>
            <a:pPr lvl="3" eaLnBrk="1" latinLnBrk="0" hangingPunct="1"/>
            <a:r>
              <a:rPr kumimoji="0" lang="it-IT"/>
              <a:t>Quarto livello</a:t>
            </a:r>
          </a:p>
          <a:p>
            <a:pPr lvl="4" eaLnBrk="1" latinLnBrk="0" hangingPunct="1"/>
            <a:r>
              <a:rPr kumimoji="0" lang="it-IT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8969376" y="6407944"/>
            <a:ext cx="256032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18/10/2019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5840097" y="6407945"/>
            <a:ext cx="313424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11529696" y="6407945"/>
            <a:ext cx="48768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data.boston.gov/dataset/crime-incident-reports-august-2015-to-date-source-new-syste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edelux3/BostonCrime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15380" y="1916832"/>
            <a:ext cx="11161240" cy="2054163"/>
          </a:xfrm>
        </p:spPr>
        <p:txBody>
          <a:bodyPr>
            <a:normAutofit/>
          </a:bodyPr>
          <a:lstStyle/>
          <a:p>
            <a:pPr algn="ctr"/>
            <a:r>
              <a:rPr lang="it-IT" sz="4000" dirty="0"/>
              <a:t>Identificazione di eventi spazio-temporali associati: studio e implementazione su dataset di crimini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9E5C38D-810E-47E8-939E-98A514F753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321615"/>
            <a:ext cx="1008112" cy="98806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0FCA91-9875-44F3-9180-8489EFF4E487}"/>
              </a:ext>
            </a:extLst>
          </p:cNvPr>
          <p:cNvSpPr txBox="1"/>
          <p:nvPr/>
        </p:nvSpPr>
        <p:spPr>
          <a:xfrm>
            <a:off x="2790974" y="321614"/>
            <a:ext cx="68334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Università</a:t>
            </a:r>
            <a:r>
              <a:rPr lang="en-US" sz="1600" dirty="0"/>
              <a:t> </a:t>
            </a:r>
            <a:r>
              <a:rPr lang="en-US" sz="1600" dirty="0" err="1"/>
              <a:t>degli</a:t>
            </a:r>
            <a:r>
              <a:rPr lang="en-US" sz="1600" dirty="0"/>
              <a:t> </a:t>
            </a:r>
            <a:r>
              <a:rPr lang="en-US" sz="1600" dirty="0" err="1"/>
              <a:t>studi</a:t>
            </a:r>
            <a:r>
              <a:rPr lang="en-US" sz="1600" dirty="0"/>
              <a:t> di Milano Bicocca</a:t>
            </a:r>
          </a:p>
          <a:p>
            <a:r>
              <a:rPr lang="en-US" sz="1600" b="1" dirty="0" err="1"/>
              <a:t>Scuola</a:t>
            </a:r>
            <a:r>
              <a:rPr lang="en-US" sz="1600" b="1" dirty="0"/>
              <a:t> di </a:t>
            </a:r>
            <a:r>
              <a:rPr lang="en-US" sz="1600" b="1" dirty="0" err="1"/>
              <a:t>Scienze</a:t>
            </a:r>
            <a:endParaRPr lang="en-US" sz="1600" b="1" dirty="0"/>
          </a:p>
          <a:p>
            <a:r>
              <a:rPr lang="en-US" sz="1600" b="1" dirty="0" err="1"/>
              <a:t>Dipartimento</a:t>
            </a:r>
            <a:r>
              <a:rPr lang="en-US" sz="1600" b="1" dirty="0"/>
              <a:t> di </a:t>
            </a:r>
            <a:r>
              <a:rPr lang="it-IT" sz="1600" b="1" dirty="0"/>
              <a:t>Informatica</a:t>
            </a:r>
            <a:r>
              <a:rPr lang="en-US" sz="1600" b="1" dirty="0"/>
              <a:t>, </a:t>
            </a:r>
            <a:r>
              <a:rPr lang="en-US" sz="1600" b="1" dirty="0" err="1"/>
              <a:t>Sistemistica</a:t>
            </a:r>
            <a:r>
              <a:rPr lang="en-US" sz="1600" b="1" dirty="0"/>
              <a:t> e </a:t>
            </a:r>
            <a:r>
              <a:rPr lang="en-US" sz="1600" b="1" dirty="0" err="1"/>
              <a:t>Comunicazione</a:t>
            </a:r>
            <a:endParaRPr lang="en-US" sz="1600" b="1" dirty="0"/>
          </a:p>
          <a:p>
            <a:r>
              <a:rPr lang="en-US" sz="1600" b="1" dirty="0"/>
              <a:t>Corso di </a:t>
            </a:r>
            <a:r>
              <a:rPr lang="en-US" sz="1600" b="1" dirty="0" err="1"/>
              <a:t>laurea</a:t>
            </a:r>
            <a:r>
              <a:rPr lang="en-US" sz="1600" b="1" dirty="0"/>
              <a:t> in Informatica</a:t>
            </a:r>
            <a:endParaRPr lang="it-IT" sz="1600" b="1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D3F04D9-BC20-475A-9212-643CBA668B28}"/>
              </a:ext>
            </a:extLst>
          </p:cNvPr>
          <p:cNvSpPr txBox="1"/>
          <p:nvPr/>
        </p:nvSpPr>
        <p:spPr>
          <a:xfrm>
            <a:off x="191344" y="5301208"/>
            <a:ext cx="4509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Prof. Fabio Antonio Stella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Corelatore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 err="1">
                <a:solidFill>
                  <a:schemeClr val="bg1"/>
                </a:solidFill>
              </a:rPr>
              <a:t>Dott.ssa</a:t>
            </a:r>
            <a:r>
              <a:rPr lang="en-US" sz="2000" b="1" dirty="0">
                <a:solidFill>
                  <a:schemeClr val="bg1"/>
                </a:solidFill>
              </a:rPr>
              <a:t> Paola Chiesa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6FF2545-EA2C-4AB7-8D34-E3E845BAFEA7}"/>
              </a:ext>
            </a:extLst>
          </p:cNvPr>
          <p:cNvSpPr txBox="1"/>
          <p:nvPr/>
        </p:nvSpPr>
        <p:spPr>
          <a:xfrm>
            <a:off x="7603413" y="5734986"/>
            <a:ext cx="4041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Relazione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della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prova</a:t>
            </a:r>
            <a:r>
              <a:rPr lang="en-US" sz="2000" dirty="0">
                <a:solidFill>
                  <a:schemeClr val="bg1"/>
                </a:solidFill>
              </a:rPr>
              <a:t> finale di: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Federico Luzzi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Matricola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816753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122DA-1238-43E5-B5E1-DEEF3B3B2B78}"/>
              </a:ext>
            </a:extLst>
          </p:cNvPr>
          <p:cNvSpPr txBox="1"/>
          <p:nvPr/>
        </p:nvSpPr>
        <p:spPr>
          <a:xfrm>
            <a:off x="3287688" y="6381317"/>
            <a:ext cx="3783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Anno </a:t>
            </a:r>
            <a:r>
              <a:rPr lang="en-US" dirty="0" err="1">
                <a:solidFill>
                  <a:schemeClr val="bg1"/>
                </a:solidFill>
              </a:rPr>
              <a:t>Accademico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b="1" dirty="0">
                <a:solidFill>
                  <a:schemeClr val="bg1"/>
                </a:solidFill>
              </a:rPr>
              <a:t>2018 - 2019</a:t>
            </a:r>
            <a:endParaRPr lang="it-IT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D74B050E-D832-48DB-9512-8E6BE496C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2114114"/>
            <a:ext cx="9754943" cy="1054160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endParaRPr lang="de-DE" sz="1800" b="1" dirty="0"/>
          </a:p>
          <a:p>
            <a:r>
              <a:rPr lang="de-DE" sz="1800" dirty="0" err="1"/>
              <a:t>L‘algoritmo</a:t>
            </a:r>
            <a:r>
              <a:rPr lang="de-DE" sz="1800" dirty="0"/>
              <a:t> </a:t>
            </a:r>
            <a:r>
              <a:rPr lang="de-DE" sz="1800" dirty="0" err="1"/>
              <a:t>preso</a:t>
            </a:r>
            <a:r>
              <a:rPr lang="de-DE" sz="1800" dirty="0"/>
              <a:t> in </a:t>
            </a:r>
            <a:r>
              <a:rPr lang="de-DE" sz="1800" dirty="0" err="1"/>
              <a:t>esame</a:t>
            </a:r>
            <a:r>
              <a:rPr lang="de-DE" sz="1800" dirty="0"/>
              <a:t>: </a:t>
            </a:r>
            <a:r>
              <a:rPr lang="de-DE" sz="1800" b="1" dirty="0" err="1"/>
              <a:t>Spatio</a:t>
            </a:r>
            <a:r>
              <a:rPr lang="de-DE" sz="1800" b="1" dirty="0"/>
              <a:t>-temporal </a:t>
            </a:r>
            <a:r>
              <a:rPr lang="de-DE" sz="1800" b="1" dirty="0" err="1"/>
              <a:t>Breadth</a:t>
            </a:r>
            <a:r>
              <a:rPr lang="de-DE" sz="1800" b="1" dirty="0"/>
              <a:t>-first Miner (STBFM)</a:t>
            </a:r>
            <a:endParaRPr lang="en-US" sz="1800" dirty="0"/>
          </a:p>
          <a:p>
            <a:pPr marL="109728" indent="0">
              <a:buNone/>
            </a:pPr>
            <a:endParaRPr lang="de-DE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0FC337B4-8827-4368-BBE3-7CA55A9E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Paper e Dataset </a:t>
            </a:r>
            <a:r>
              <a:rPr lang="en-US" dirty="0" err="1"/>
              <a:t>utilizzato</a:t>
            </a:r>
            <a:endParaRPr lang="it-IT" dirty="0"/>
          </a:p>
        </p:txBody>
      </p:sp>
      <p:sp>
        <p:nvSpPr>
          <p:cNvPr id="4" name="Segnaposto contenuto 1">
            <a:extLst>
              <a:ext uri="{FF2B5EF4-FFF2-40B4-BE49-F238E27FC236}">
                <a16:creationId xmlns:a16="http://schemas.microsoft.com/office/drawing/2014/main" id="{EEB2E799-03C8-4615-85DA-821461ED4038}"/>
              </a:ext>
            </a:extLst>
          </p:cNvPr>
          <p:cNvSpPr txBox="1">
            <a:spLocks/>
          </p:cNvSpPr>
          <p:nvPr/>
        </p:nvSpPr>
        <p:spPr>
          <a:xfrm>
            <a:off x="4007768" y="4340400"/>
            <a:ext cx="6840760" cy="167075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I record </a:t>
            </a:r>
            <a:r>
              <a:rPr lang="en-US" sz="1800" dirty="0" err="1"/>
              <a:t>rispettano</a:t>
            </a:r>
            <a:r>
              <a:rPr lang="en-US" sz="1800" dirty="0"/>
              <a:t> le </a:t>
            </a:r>
            <a:r>
              <a:rPr lang="en-US" sz="1800" dirty="0" err="1"/>
              <a:t>seguenti</a:t>
            </a:r>
            <a:r>
              <a:rPr lang="en-US" sz="1800" dirty="0"/>
              <a:t> </a:t>
            </a:r>
            <a:r>
              <a:rPr lang="en-US" sz="1800" dirty="0" err="1"/>
              <a:t>caratteristiche</a:t>
            </a:r>
            <a:r>
              <a:rPr lang="en-US" sz="1800" dirty="0"/>
              <a:t>: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Chiave</a:t>
            </a:r>
            <a:r>
              <a:rPr lang="de-DE" sz="1800" dirty="0"/>
              <a:t> ID </a:t>
            </a:r>
            <a:r>
              <a:rPr lang="de-DE" sz="1800" dirty="0" err="1"/>
              <a:t>unica</a:t>
            </a:r>
            <a:endParaRPr lang="de-DE" sz="1800" dirty="0"/>
          </a:p>
          <a:p>
            <a:pPr marL="452628" indent="-342900">
              <a:buFont typeface="+mj-lt"/>
              <a:buAutoNum type="arabicPeriod"/>
            </a:pPr>
            <a:r>
              <a:rPr lang="de-DE" sz="1800" dirty="0"/>
              <a:t>Location </a:t>
            </a:r>
            <a:r>
              <a:rPr lang="de-DE" sz="1800" dirty="0" err="1"/>
              <a:t>spaziale</a:t>
            </a:r>
            <a:r>
              <a:rPr lang="de-DE" sz="1800" dirty="0"/>
              <a:t> (</a:t>
            </a:r>
            <a:r>
              <a:rPr lang="de-DE" sz="1800" dirty="0" err="1"/>
              <a:t>latitudine</a:t>
            </a:r>
            <a:r>
              <a:rPr lang="de-DE" sz="1800" dirty="0"/>
              <a:t>, </a:t>
            </a:r>
            <a:r>
              <a:rPr lang="de-DE" sz="1800" dirty="0" err="1"/>
              <a:t>longitudine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Istante</a:t>
            </a:r>
            <a:r>
              <a:rPr lang="de-DE" sz="1800" dirty="0"/>
              <a:t> temporale </a:t>
            </a:r>
            <a:r>
              <a:rPr lang="de-DE" sz="1800" dirty="0" err="1"/>
              <a:t>preciso</a:t>
            </a:r>
            <a:r>
              <a:rPr lang="de-DE" sz="1800" dirty="0"/>
              <a:t> (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ora</a:t>
            </a:r>
            <a:r>
              <a:rPr lang="de-DE" sz="1800" dirty="0"/>
              <a:t>, </a:t>
            </a:r>
            <a:r>
              <a:rPr lang="de-DE" sz="1800" dirty="0" err="1"/>
              <a:t>minuto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Tipologia</a:t>
            </a:r>
            <a:r>
              <a:rPr lang="de-DE" sz="1800" dirty="0"/>
              <a:t> di </a:t>
            </a:r>
            <a:r>
              <a:rPr lang="de-DE" sz="1800" dirty="0" err="1"/>
              <a:t>evento</a:t>
            </a:r>
            <a:r>
              <a:rPr lang="de-DE" sz="1800" dirty="0"/>
              <a:t> (</a:t>
            </a:r>
            <a:r>
              <a:rPr lang="de-DE" sz="1800" dirty="0" err="1"/>
              <a:t>aggressione</a:t>
            </a:r>
            <a:r>
              <a:rPr lang="de-DE" sz="1800" dirty="0"/>
              <a:t>, </a:t>
            </a:r>
            <a:r>
              <a:rPr lang="de-DE" sz="1800" dirty="0" err="1"/>
              <a:t>furto</a:t>
            </a:r>
            <a:r>
              <a:rPr lang="de-DE" sz="1800" dirty="0"/>
              <a:t>, </a:t>
            </a:r>
            <a:r>
              <a:rPr lang="de-DE" sz="1800" dirty="0" err="1"/>
              <a:t>omicidio</a:t>
            </a:r>
            <a:r>
              <a:rPr lang="de-DE" sz="1800" dirty="0"/>
              <a:t>)</a:t>
            </a:r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068F6011-1833-4DEE-B98F-F9AB2BEDA402}"/>
              </a:ext>
            </a:extLst>
          </p:cNvPr>
          <p:cNvSpPr txBox="1">
            <a:spLocks/>
          </p:cNvSpPr>
          <p:nvPr/>
        </p:nvSpPr>
        <p:spPr>
          <a:xfrm>
            <a:off x="551384" y="1483874"/>
            <a:ext cx="10972800" cy="93610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Il </a:t>
            </a:r>
            <a:r>
              <a:rPr lang="en-US" sz="1800" dirty="0" err="1"/>
              <a:t>lavoro</a:t>
            </a:r>
            <a:r>
              <a:rPr lang="en-US" sz="1800" dirty="0"/>
              <a:t> </a:t>
            </a:r>
            <a:r>
              <a:rPr lang="en-US" sz="1800" dirty="0" err="1"/>
              <a:t>svolto</a:t>
            </a:r>
            <a:r>
              <a:rPr lang="en-US" sz="1800" dirty="0"/>
              <a:t> </a:t>
            </a:r>
            <a:r>
              <a:rPr lang="en-US" sz="1800" dirty="0" err="1"/>
              <a:t>si</a:t>
            </a:r>
            <a:r>
              <a:rPr lang="en-US" sz="1800" dirty="0"/>
              <a:t> </a:t>
            </a:r>
            <a:r>
              <a:rPr lang="en-US" sz="1800" dirty="0" err="1"/>
              <a:t>basa</a:t>
            </a:r>
            <a:r>
              <a:rPr lang="en-US" sz="1800" dirty="0"/>
              <a:t> sul paper:</a:t>
            </a:r>
            <a:r>
              <a:rPr lang="it-IT" sz="1800" dirty="0"/>
              <a:t> </a:t>
            </a:r>
            <a:r>
              <a:rPr lang="it-IT" sz="1800" b="1" dirty="0"/>
              <a:t>A </a:t>
            </a:r>
            <a:r>
              <a:rPr lang="it-IT" sz="1800" b="1" dirty="0" err="1"/>
              <a:t>Novel</a:t>
            </a:r>
            <a:r>
              <a:rPr lang="it-IT" sz="1800" b="1" dirty="0"/>
              <a:t> </a:t>
            </a:r>
            <a:r>
              <a:rPr lang="it-IT" sz="1800" b="1" dirty="0" err="1"/>
              <a:t>Breadth</a:t>
            </a:r>
            <a:r>
              <a:rPr lang="it-IT" sz="1800" b="1" dirty="0"/>
              <a:t>-first Strategy </a:t>
            </a:r>
            <a:r>
              <a:rPr lang="it-IT" sz="1800" b="1" dirty="0" err="1"/>
              <a:t>Algorithm</a:t>
            </a:r>
            <a:r>
              <a:rPr lang="it-IT" sz="1800" b="1" dirty="0"/>
              <a:t> for </a:t>
            </a:r>
            <a:r>
              <a:rPr lang="it-IT" sz="1800" b="1" dirty="0" err="1"/>
              <a:t>Dscovering</a:t>
            </a:r>
            <a:r>
              <a:rPr lang="it-IT" sz="1800" b="1" dirty="0"/>
              <a:t> </a:t>
            </a:r>
            <a:r>
              <a:rPr lang="it-IT" sz="1800" b="1" dirty="0" err="1"/>
              <a:t>Sequential</a:t>
            </a:r>
            <a:r>
              <a:rPr lang="it-IT" sz="1800" b="1" dirty="0"/>
              <a:t> Patterns from </a:t>
            </a:r>
            <a:r>
              <a:rPr lang="it-IT" sz="1800" b="1" dirty="0" err="1"/>
              <a:t>Spatio-temporal</a:t>
            </a:r>
            <a:r>
              <a:rPr lang="it-IT" sz="1800" b="1" dirty="0"/>
              <a:t> Data </a:t>
            </a:r>
            <a:r>
              <a:rPr lang="it-IT" sz="1800" dirty="0"/>
              <a:t>(</a:t>
            </a:r>
            <a:r>
              <a:rPr lang="de-DE" sz="1800" i="1" dirty="0"/>
              <a:t>Piotr S. </a:t>
            </a:r>
            <a:r>
              <a:rPr lang="de-DE" sz="1800" i="1" dirty="0" err="1"/>
              <a:t>Maciag</a:t>
            </a:r>
            <a:r>
              <a:rPr lang="de-DE" sz="1800" i="1" dirty="0"/>
              <a:t> e Robert </a:t>
            </a:r>
            <a:r>
              <a:rPr lang="de-DE" sz="1800" i="1" dirty="0" err="1"/>
              <a:t>Bembenik</a:t>
            </a:r>
            <a:r>
              <a:rPr lang="de-DE" sz="1800" i="1" dirty="0"/>
              <a:t>, 2019</a:t>
            </a:r>
            <a:r>
              <a:rPr lang="de-DE" sz="1800" dirty="0"/>
              <a:t>)</a:t>
            </a:r>
          </a:p>
          <a:p>
            <a:endParaRPr lang="de-DE" sz="1800" b="1" dirty="0"/>
          </a:p>
          <a:p>
            <a:pPr marL="109728" indent="0">
              <a:buNone/>
            </a:pPr>
            <a:endParaRPr lang="de-DE" sz="1800" dirty="0"/>
          </a:p>
        </p:txBody>
      </p:sp>
      <p:sp>
        <p:nvSpPr>
          <p:cNvPr id="6" name="Segnaposto contenuto 1">
            <a:extLst>
              <a:ext uri="{FF2B5EF4-FFF2-40B4-BE49-F238E27FC236}">
                <a16:creationId xmlns:a16="http://schemas.microsoft.com/office/drawing/2014/main" id="{7B172736-3961-4471-8924-9E5FE2467003}"/>
              </a:ext>
            </a:extLst>
          </p:cNvPr>
          <p:cNvSpPr txBox="1">
            <a:spLocks/>
          </p:cNvSpPr>
          <p:nvPr/>
        </p:nvSpPr>
        <p:spPr>
          <a:xfrm>
            <a:off x="551384" y="2795658"/>
            <a:ext cx="10729192" cy="126668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endParaRPr lang="en-US" sz="1800" b="1" dirty="0"/>
          </a:p>
          <a:p>
            <a:r>
              <a:rPr lang="en-US" sz="1800" dirty="0"/>
              <a:t>Il dataset </a:t>
            </a:r>
            <a:r>
              <a:rPr lang="en-US" sz="1800" dirty="0" err="1"/>
              <a:t>scelto</a:t>
            </a:r>
            <a:r>
              <a:rPr lang="en-US" sz="1800" dirty="0"/>
              <a:t> per </a:t>
            </a:r>
            <a:r>
              <a:rPr lang="en-US" sz="1800" dirty="0" err="1"/>
              <a:t>l’applicazione</a:t>
            </a:r>
            <a:r>
              <a:rPr lang="en-US" sz="1800" dirty="0"/>
              <a:t> è del Department of Innovation and Technology del Boston Police Department, </a:t>
            </a:r>
            <a:r>
              <a:rPr lang="en-US" sz="1800" dirty="0" err="1"/>
              <a:t>dati</a:t>
            </a:r>
            <a:r>
              <a:rPr lang="en-US" sz="1800" dirty="0"/>
              <a:t> del 2018 </a:t>
            </a:r>
            <a:r>
              <a:rPr lang="it-IT" sz="1800" dirty="0">
                <a:hlinkClick r:id="rId2"/>
              </a:rPr>
              <a:t>https://data.boston.gov/dataset/crime-incident-reports-august-2015-to-date-source-new-system</a:t>
            </a:r>
            <a:endParaRPr lang="en-US" sz="1800" dirty="0"/>
          </a:p>
          <a:p>
            <a:endParaRPr lang="en-US" sz="1800" dirty="0"/>
          </a:p>
          <a:p>
            <a:pPr marL="109728" indent="0">
              <a:buNone/>
            </a:pPr>
            <a:endParaRPr lang="de-DE" sz="1800" dirty="0"/>
          </a:p>
        </p:txBody>
      </p:sp>
      <p:pic>
        <p:nvPicPr>
          <p:cNvPr id="1026" name="Picture 2" descr="Risultati immagini per boston police department logo">
            <a:extLst>
              <a:ext uri="{FF2B5EF4-FFF2-40B4-BE49-F238E27FC236}">
                <a16:creationId xmlns:a16="http://schemas.microsoft.com/office/drawing/2014/main" id="{270EF616-16FD-4DB7-ADA5-6997C7F12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1504" y="4216806"/>
            <a:ext cx="1518061" cy="1794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97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Immagine che contiene testo&#10;&#10;Descrizione generata automaticamente">
            <a:extLst>
              <a:ext uri="{FF2B5EF4-FFF2-40B4-BE49-F238E27FC236}">
                <a16:creationId xmlns:a16="http://schemas.microsoft.com/office/drawing/2014/main" id="{AE8991F2-9CBC-4A52-BC95-56EABB895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9" y="1619672"/>
            <a:ext cx="5514514" cy="4195633"/>
          </a:xfrm>
          <a:prstGeom prst="rect">
            <a:avLst/>
          </a:prstGeom>
        </p:spPr>
      </p:pic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9D8EFE16-4DD7-4F16-98C3-6D932A9D9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64305"/>
            <a:ext cx="5112568" cy="873224"/>
          </a:xfrm>
        </p:spPr>
        <p:txBody>
          <a:bodyPr>
            <a:normAutofit/>
          </a:bodyPr>
          <a:lstStyle/>
          <a:p>
            <a:r>
              <a:rPr lang="en-US" sz="1600" b="1" dirty="0"/>
              <a:t>Neighborhood</a:t>
            </a:r>
            <a:r>
              <a:rPr lang="en-US" sz="1600" dirty="0"/>
              <a:t> </a:t>
            </a:r>
            <a:r>
              <a:rPr lang="en-US" sz="1600" dirty="0" err="1"/>
              <a:t>definito</a:t>
            </a:r>
            <a:r>
              <a:rPr lang="en-US" sz="1600" dirty="0"/>
              <a:t> da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spaziale</a:t>
            </a:r>
            <a:r>
              <a:rPr lang="en-US" sz="1600" dirty="0"/>
              <a:t> </a:t>
            </a:r>
            <a:r>
              <a:rPr lang="en-US" sz="1600" b="1" dirty="0"/>
              <a:t>R</a:t>
            </a:r>
            <a:r>
              <a:rPr lang="en-US" sz="1600" dirty="0"/>
              <a:t> ed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temporale</a:t>
            </a:r>
            <a:r>
              <a:rPr lang="en-US" sz="1600" dirty="0"/>
              <a:t> </a:t>
            </a:r>
            <a:r>
              <a:rPr lang="en-US" sz="1600" b="1" dirty="0"/>
              <a:t>T</a:t>
            </a:r>
            <a:r>
              <a:rPr lang="en-US" sz="1600" dirty="0"/>
              <a:t>:</a:t>
            </a:r>
            <a:endParaRPr lang="it-IT" sz="16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949F0703-FF79-4697-A6AD-478DE2B13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60" y="116632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2CA663DD-65B7-4B15-9218-25EE749F3CF6}"/>
              </a:ext>
            </a:extLst>
          </p:cNvPr>
          <p:cNvSpPr txBox="1">
            <a:spLocks/>
          </p:cNvSpPr>
          <p:nvPr/>
        </p:nvSpPr>
        <p:spPr>
          <a:xfrm>
            <a:off x="2135560" y="476672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Neighborhood (o </a:t>
            </a:r>
            <a:r>
              <a:rPr lang="en-US" sz="2400" dirty="0" err="1"/>
              <a:t>vicinato</a:t>
            </a:r>
            <a:r>
              <a:rPr lang="en-US" sz="2400" dirty="0"/>
              <a:t>) e Set di </a:t>
            </a:r>
            <a:r>
              <a:rPr lang="en-US" sz="2400" dirty="0" err="1"/>
              <a:t>Istanze</a:t>
            </a:r>
            <a:endParaRPr lang="it-IT" sz="24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CBC66E2-3E46-423B-81F7-53FD151F5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2" y="2202491"/>
            <a:ext cx="4246952" cy="93610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24E8B82-DEB2-4253-9DE3-CAD54E02B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576" y="4185394"/>
            <a:ext cx="3060551" cy="315928"/>
          </a:xfrm>
          <a:prstGeom prst="rect">
            <a:avLst/>
          </a:prstGeom>
        </p:spPr>
      </p:pic>
      <p:sp>
        <p:nvSpPr>
          <p:cNvPr id="10" name="Segnaposto contenuto 1">
            <a:extLst>
              <a:ext uri="{FF2B5EF4-FFF2-40B4-BE49-F238E27FC236}">
                <a16:creationId xmlns:a16="http://schemas.microsoft.com/office/drawing/2014/main" id="{45794F42-E4CC-4264-BBBC-6E3B1A1D22E1}"/>
              </a:ext>
            </a:extLst>
          </p:cNvPr>
          <p:cNvSpPr txBox="1">
            <a:spLocks/>
          </p:cNvSpPr>
          <p:nvPr/>
        </p:nvSpPr>
        <p:spPr>
          <a:xfrm>
            <a:off x="6234499" y="3673915"/>
            <a:ext cx="4392488" cy="1368149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285750" indent="-285750"/>
            <a:r>
              <a:rPr lang="en-US" sz="1600" b="1" dirty="0"/>
              <a:t>Set di </a:t>
            </a:r>
            <a:r>
              <a:rPr lang="en-US" sz="1600" b="1" dirty="0" err="1"/>
              <a:t>istanze</a:t>
            </a:r>
            <a:r>
              <a:rPr lang="en-US" sz="1600" dirty="0"/>
              <a:t> per una </a:t>
            </a:r>
            <a:r>
              <a:rPr lang="en-US" sz="1600" dirty="0" err="1"/>
              <a:t>sequenza</a:t>
            </a:r>
            <a:r>
              <a:rPr lang="en-US" sz="1600" dirty="0"/>
              <a:t> di tipi di </a:t>
            </a:r>
            <a:r>
              <a:rPr lang="en-US" sz="1600" dirty="0" err="1"/>
              <a:t>eventi</a:t>
            </a:r>
            <a:r>
              <a:rPr lang="en-US" sz="1600" dirty="0"/>
              <a:t>: </a:t>
            </a:r>
          </a:p>
          <a:p>
            <a:pPr marL="109728" indent="0">
              <a:buNone/>
            </a:pPr>
            <a:endParaRPr lang="en-US" sz="1600" dirty="0"/>
          </a:p>
          <a:p>
            <a:pPr marL="109728" indent="0">
              <a:buNone/>
            </a:pPr>
            <a:r>
              <a:rPr lang="en-US" sz="1600" dirty="0"/>
              <a:t>    di </a:t>
            </a:r>
            <a:r>
              <a:rPr lang="en-US" sz="1600" dirty="0" err="1"/>
              <a:t>lunghezza</a:t>
            </a:r>
            <a:r>
              <a:rPr lang="en-US" sz="1600" dirty="0"/>
              <a:t> m</a:t>
            </a:r>
            <a:endParaRPr lang="it-IT" sz="16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C4DE8432-AFCD-4166-B792-EF6DC480AEEF}"/>
              </a:ext>
            </a:extLst>
          </p:cNvPr>
          <p:cNvSpPr txBox="1">
            <a:spLocks/>
          </p:cNvSpPr>
          <p:nvPr/>
        </p:nvSpPr>
        <p:spPr>
          <a:xfrm>
            <a:off x="6584392" y="4832404"/>
            <a:ext cx="4392488" cy="136815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342900" indent="-342900">
              <a:buFont typeface="+mj-lt"/>
              <a:buAutoNum type="arabicPeriod"/>
            </a:pPr>
            <a:r>
              <a:rPr lang="en-US" sz="1600" dirty="0"/>
              <a:t>Per un </a:t>
            </a:r>
            <a:r>
              <a:rPr lang="en-US" sz="1600" dirty="0" err="1"/>
              <a:t>tipo</a:t>
            </a:r>
            <a:r>
              <a:rPr lang="en-US" sz="1600" dirty="0"/>
              <a:t>  s[1]:                                     …………..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600" dirty="0"/>
              <a:t>Per </a:t>
            </a:r>
            <a:r>
              <a:rPr lang="en-US" sz="1600" dirty="0" err="1"/>
              <a:t>i</a:t>
            </a:r>
            <a:r>
              <a:rPr lang="en-US" sz="1600" dirty="0"/>
              <a:t> tipi s[2]……………….. :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C25C6F6-313F-4C8F-8FD3-D1934A6DF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9422" y="5363123"/>
            <a:ext cx="1781175" cy="28575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F7B3EEE-56C2-44F8-942E-C90BEEF3B2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14" y="4809505"/>
            <a:ext cx="428625" cy="295275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70FE459A-F9C5-4B77-8845-9A03D83AF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784" y="5687481"/>
            <a:ext cx="3308784" cy="566926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FA8248BE-DC74-4BF0-B7B8-72D37822BA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6921" y="5095879"/>
            <a:ext cx="190500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35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294E60C9-CC70-489E-BE52-F85744696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963" y="2240661"/>
            <a:ext cx="5050904" cy="507512"/>
          </a:xfrm>
        </p:spPr>
        <p:txBody>
          <a:bodyPr>
            <a:normAutofit/>
          </a:bodyPr>
          <a:lstStyle/>
          <a:p>
            <a:r>
              <a:rPr lang="en-US" sz="1800" dirty="0"/>
              <a:t>Participation </a:t>
            </a:r>
            <a:r>
              <a:rPr lang="en-US" sz="1800" dirty="0" err="1"/>
              <a:t>Rateo</a:t>
            </a:r>
            <a:r>
              <a:rPr lang="en-US" sz="1800" dirty="0"/>
              <a:t> (</a:t>
            </a:r>
            <a:r>
              <a:rPr lang="en-US" sz="1800" dirty="0" err="1"/>
              <a:t>tra</a:t>
            </a:r>
            <a:r>
              <a:rPr lang="en-US" sz="1800" dirty="0"/>
              <a:t> 2 soli tipi):</a:t>
            </a:r>
            <a:endParaRPr lang="it-IT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4D3C969E-DE23-462B-9107-BA1A5DCA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540" y="167060"/>
            <a:ext cx="8280920" cy="760614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F989E449-B0F6-45E6-9C8B-817E168E2F31}"/>
              </a:ext>
            </a:extLst>
          </p:cNvPr>
          <p:cNvSpPr txBox="1">
            <a:spLocks/>
          </p:cNvSpPr>
          <p:nvPr/>
        </p:nvSpPr>
        <p:spPr>
          <a:xfrm>
            <a:off x="2063552" y="562674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Participation </a:t>
            </a:r>
            <a:r>
              <a:rPr lang="en-US" sz="2400" dirty="0" err="1"/>
              <a:t>Rateo</a:t>
            </a:r>
            <a:r>
              <a:rPr lang="en-US" sz="2400" dirty="0"/>
              <a:t> &amp; Participation Index</a:t>
            </a:r>
            <a:endParaRPr lang="it-IT" sz="2400" dirty="0"/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53F25942-07E3-4AF3-BDDC-2BEB24250FB0}"/>
              </a:ext>
            </a:extLst>
          </p:cNvPr>
          <p:cNvSpPr txBox="1">
            <a:spLocks/>
          </p:cNvSpPr>
          <p:nvPr/>
        </p:nvSpPr>
        <p:spPr>
          <a:xfrm>
            <a:off x="565178" y="1264409"/>
            <a:ext cx="6984776" cy="327339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Data una </a:t>
            </a:r>
            <a:r>
              <a:rPr lang="en-US" sz="1800" dirty="0" err="1"/>
              <a:t>sequenza</a:t>
            </a:r>
            <a:r>
              <a:rPr lang="en-US" sz="1800" dirty="0"/>
              <a:t> di tipi di </a:t>
            </a:r>
            <a:r>
              <a:rPr lang="en-US" sz="1800" dirty="0" err="1"/>
              <a:t>eventi</a:t>
            </a:r>
            <a:r>
              <a:rPr lang="en-US" sz="1800" dirty="0"/>
              <a:t> di </a:t>
            </a:r>
            <a:r>
              <a:rPr lang="en-US" sz="1800" dirty="0" err="1"/>
              <a:t>lunghezza</a:t>
            </a:r>
            <a:r>
              <a:rPr lang="en-US" sz="1800" dirty="0"/>
              <a:t> m:</a:t>
            </a:r>
            <a:endParaRPr lang="it-IT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5EE2777-EA4E-4758-B425-382BDCB70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740" y="2515855"/>
            <a:ext cx="4104456" cy="704896"/>
          </a:xfrm>
          <a:prstGeom prst="rect">
            <a:avLst/>
          </a:prstGeom>
        </p:spPr>
      </p:pic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906672F-56BE-4380-ADD0-9607BF4370F6}"/>
              </a:ext>
            </a:extLst>
          </p:cNvPr>
          <p:cNvSpPr txBox="1">
            <a:spLocks/>
          </p:cNvSpPr>
          <p:nvPr/>
        </p:nvSpPr>
        <p:spPr>
          <a:xfrm>
            <a:off x="590963" y="3428935"/>
            <a:ext cx="5050904" cy="50751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Participation Index [0, 1]:</a:t>
            </a:r>
            <a:endParaRPr lang="it-IT" sz="1800" dirty="0"/>
          </a:p>
        </p:txBody>
      </p:sp>
      <p:sp>
        <p:nvSpPr>
          <p:cNvPr id="9" name="Segnaposto contenuto 1">
            <a:extLst>
              <a:ext uri="{FF2B5EF4-FFF2-40B4-BE49-F238E27FC236}">
                <a16:creationId xmlns:a16="http://schemas.microsoft.com/office/drawing/2014/main" id="{F430D6B9-662C-43FF-B115-C47764878351}"/>
              </a:ext>
            </a:extLst>
          </p:cNvPr>
          <p:cNvSpPr txBox="1">
            <a:spLocks/>
          </p:cNvSpPr>
          <p:nvPr/>
        </p:nvSpPr>
        <p:spPr>
          <a:xfrm>
            <a:off x="2063552" y="3824284"/>
            <a:ext cx="5050904" cy="180373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= 2:</a:t>
            </a:r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&gt; 2:</a:t>
            </a:r>
            <a:endParaRPr lang="it-IT" sz="18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025827C-26A8-4EEF-8315-33E558CCE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2820" y="4205719"/>
            <a:ext cx="3528392" cy="42768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505C8CB-19DC-473F-A037-3E0FD697E3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208" y="5065996"/>
            <a:ext cx="4892534" cy="98018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CE67D4-C288-458B-8556-BFF0436B01B1}"/>
              </a:ext>
            </a:extLst>
          </p:cNvPr>
          <p:cNvSpPr txBox="1"/>
          <p:nvPr/>
        </p:nvSpPr>
        <p:spPr>
          <a:xfrm>
            <a:off x="3063486" y="608353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dove </a:t>
            </a:r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453282A-A22C-4C29-BE1E-548626628D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6916" y="6060611"/>
            <a:ext cx="4610548" cy="40353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7247DCF8-B139-43D8-A13E-DF97B77BF7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2048" y="1550353"/>
            <a:ext cx="4076868" cy="39338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Segnaposto contenuto 1">
                <a:extLst>
                  <a:ext uri="{FF2B5EF4-FFF2-40B4-BE49-F238E27FC236}">
                    <a16:creationId xmlns:a16="http://schemas.microsoft.com/office/drawing/2014/main" id="{B5299535-83B9-4A75-8A13-C09E503896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15345" y="4205719"/>
                <a:ext cx="5276655" cy="1032955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365760" indent="-256032" algn="l" rtl="0" eaLnBrk="1" latinLnBrk="0" hangingPunct="1">
                  <a:spcBef>
                    <a:spcPts val="400"/>
                  </a:spcBef>
                  <a:spcAft>
                    <a:spcPts val="0"/>
                  </a:spcAft>
                  <a:buClr>
                    <a:schemeClr val="accent1"/>
                  </a:buClr>
                  <a:buSzPct val="68000"/>
                  <a:buFont typeface="Wingdings 3"/>
                  <a:buChar char=""/>
                  <a:defRPr kumimoji="0" sz="27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21792" indent="-228600" algn="l" rtl="0" eaLnBrk="1" latinLnBrk="0" hangingPunct="1">
                  <a:spcBef>
                    <a:spcPts val="324"/>
                  </a:spcBef>
                  <a:buClr>
                    <a:schemeClr val="accent1"/>
                  </a:buClr>
                  <a:buFont typeface="Verdana"/>
                  <a:buChar char="◦"/>
                  <a:defRPr kumimoji="0" sz="23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9536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SzPct val="100000"/>
                  <a:buFont typeface="Wingdings 2"/>
                  <a:buChar char=""/>
                  <a:defRPr kumimoji="0"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30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002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574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2860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  <a:extLst/>
              </a:lstStyle>
              <a:p>
                <a:pPr marL="109728" indent="0">
                  <a:buNone/>
                </a:pPr>
                <a:r>
                  <a:rPr lang="en-US" sz="1800" dirty="0"/>
                  <a:t>Es. </a:t>
                </a:r>
              </a:p>
              <a:p>
                <a:pPr marL="109728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𝐴𝑔𝑔𝑟𝑎𝑣𝑎𝑡𝑒𝑑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𝐴𝑠𝑠𝑎𝑢𝑙𝑡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𝐿𝑎𝑟𝑐𝑒𝑛𝑦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𝐻𝑜𝑚𝑖𝑐𝑖𝑑𝑒</m:t>
                    </m:r>
                  </m:oMath>
                </a14:m>
                <a:r>
                  <a:rPr lang="it-IT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𝑃𝐼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=0.65</m:t>
                    </m:r>
                  </m:oMath>
                </a14:m>
                <a:endParaRPr lang="it-IT" sz="1800" dirty="0"/>
              </a:p>
            </p:txBody>
          </p:sp>
        </mc:Choice>
        <mc:Fallback>
          <p:sp>
            <p:nvSpPr>
              <p:cNvPr id="16" name="Segnaposto contenuto 1">
                <a:extLst>
                  <a:ext uri="{FF2B5EF4-FFF2-40B4-BE49-F238E27FC236}">
                    <a16:creationId xmlns:a16="http://schemas.microsoft.com/office/drawing/2014/main" id="{B5299535-83B9-4A75-8A13-C09E50389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345" y="4205719"/>
                <a:ext cx="5276655" cy="1032955"/>
              </a:xfrm>
              <a:prstGeom prst="rect">
                <a:avLst/>
              </a:prstGeom>
              <a:blipFill>
                <a:blip r:embed="rId7"/>
                <a:stretch>
                  <a:fillRect t="-35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061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  <p:bldP spid="8" grpId="0"/>
      <p:bldP spid="9" grpId="0"/>
      <p:bldP spid="13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0134B2F3-CDA8-4A44-831C-4B2E414F3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8" y="251165"/>
            <a:ext cx="8229600" cy="778098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Algoritmo</a:t>
            </a:r>
            <a:r>
              <a:rPr lang="en-US" dirty="0"/>
              <a:t> STBFM</a:t>
            </a:r>
            <a:endParaRPr lang="it-IT" dirty="0"/>
          </a:p>
        </p:txBody>
      </p:sp>
      <p:sp>
        <p:nvSpPr>
          <p:cNvPr id="5" name="Trapezio 4">
            <a:extLst>
              <a:ext uri="{FF2B5EF4-FFF2-40B4-BE49-F238E27FC236}">
                <a16:creationId xmlns:a16="http://schemas.microsoft.com/office/drawing/2014/main" id="{098D7189-2B1E-4498-8770-3848EE2649D4}"/>
              </a:ext>
            </a:extLst>
          </p:cNvPr>
          <p:cNvSpPr/>
          <p:nvPr/>
        </p:nvSpPr>
        <p:spPr>
          <a:xfrm>
            <a:off x="1338575" y="1704175"/>
            <a:ext cx="1728192" cy="778098"/>
          </a:xfrm>
          <a:prstGeom prst="trapezoid">
            <a:avLst>
              <a:gd name="adj" fmla="val 118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</a:t>
            </a:r>
            <a:endParaRPr lang="it-IT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22460A79-2D30-4850-B871-4032877339A0}"/>
              </a:ext>
            </a:extLst>
          </p:cNvPr>
          <p:cNvCxnSpPr>
            <a:cxnSpLocks/>
          </p:cNvCxnSpPr>
          <p:nvPr/>
        </p:nvCxnSpPr>
        <p:spPr>
          <a:xfrm>
            <a:off x="3195719" y="2070050"/>
            <a:ext cx="88405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67802E51-C156-4023-B3F3-A309A40AFBF1}"/>
              </a:ext>
            </a:extLst>
          </p:cNvPr>
          <p:cNvCxnSpPr>
            <a:cxnSpLocks/>
          </p:cNvCxnSpPr>
          <p:nvPr/>
        </p:nvCxnSpPr>
        <p:spPr>
          <a:xfrm>
            <a:off x="7055474" y="2070050"/>
            <a:ext cx="1273519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D23D87FA-234E-4269-95B0-62054CEA829A}"/>
              </a:ext>
            </a:extLst>
          </p:cNvPr>
          <p:cNvCxnSpPr>
            <a:cxnSpLocks/>
          </p:cNvCxnSpPr>
          <p:nvPr/>
        </p:nvCxnSpPr>
        <p:spPr>
          <a:xfrm>
            <a:off x="9556590" y="2474580"/>
            <a:ext cx="0" cy="648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/>
              <p:nvPr/>
            </p:nvSpPr>
            <p:spPr>
              <a:xfrm>
                <a:off x="8197693" y="3175085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693" y="3175085"/>
                <a:ext cx="2717794" cy="84870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318765C9-F78D-4030-9071-AA848EFE6788}"/>
              </a:ext>
            </a:extLst>
          </p:cNvPr>
          <p:cNvCxnSpPr>
            <a:cxnSpLocks/>
          </p:cNvCxnSpPr>
          <p:nvPr/>
        </p:nvCxnSpPr>
        <p:spPr>
          <a:xfrm flipH="1">
            <a:off x="9556590" y="4121566"/>
            <a:ext cx="1" cy="7488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/>
              <p:nvPr/>
            </p:nvSpPr>
            <p:spPr>
              <a:xfrm>
                <a:off x="8328993" y="4968150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93" y="4968150"/>
                <a:ext cx="2534108" cy="72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/>
              <p:nvPr/>
            </p:nvSpPr>
            <p:spPr>
              <a:xfrm>
                <a:off x="5369916" y="4288010"/>
                <a:ext cx="2141730" cy="680140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𝑇𝑜𝑝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i="1" dirty="0"/>
              </a:p>
            </p:txBody>
          </p:sp>
        </mc:Choice>
        <mc:Fallback xmlns="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916" y="4288010"/>
                <a:ext cx="2141730" cy="680140"/>
              </a:xfrm>
              <a:prstGeom prst="flowChartInputOutpu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779F6B7E-7C3D-4DCA-A745-0B4A706DCB7E}"/>
              </a:ext>
            </a:extLst>
          </p:cNvPr>
          <p:cNvCxnSpPr>
            <a:cxnSpLocks/>
          </p:cNvCxnSpPr>
          <p:nvPr/>
        </p:nvCxnSpPr>
        <p:spPr>
          <a:xfrm flipH="1" flipV="1">
            <a:off x="7248128" y="4797152"/>
            <a:ext cx="976998" cy="3549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64980A51-E4FF-4F25-9FC7-BB3DE6B5A322}"/>
              </a:ext>
            </a:extLst>
          </p:cNvPr>
          <p:cNvCxnSpPr>
            <a:cxnSpLocks/>
          </p:cNvCxnSpPr>
          <p:nvPr/>
        </p:nvCxnSpPr>
        <p:spPr>
          <a:xfrm flipH="1" flipV="1">
            <a:off x="4651488" y="4168260"/>
            <a:ext cx="940456" cy="3408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/>
              <p:nvPr/>
            </p:nvSpPr>
            <p:spPr>
              <a:xfrm>
                <a:off x="2457516" y="3190422"/>
                <a:ext cx="2486614" cy="136814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 ∅</m:t>
                    </m:r>
                  </m:oMath>
                </a14:m>
                <a:r>
                  <a:rPr lang="en-US" dirty="0"/>
                  <a:t> </a:t>
                </a:r>
                <a:endParaRPr lang="it-IT" dirty="0"/>
              </a:p>
            </p:txBody>
          </p:sp>
        </mc:Choice>
        <mc:Fallback xmlns="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516" y="3190422"/>
                <a:ext cx="2486614" cy="1368148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51707EF-907E-49CA-80DA-D8313591918A}"/>
              </a:ext>
            </a:extLst>
          </p:cNvPr>
          <p:cNvCxnSpPr>
            <a:cxnSpLocks/>
          </p:cNvCxnSpPr>
          <p:nvPr/>
        </p:nvCxnSpPr>
        <p:spPr>
          <a:xfrm flipV="1">
            <a:off x="4439816" y="2689742"/>
            <a:ext cx="5040560" cy="8043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9AA13B88-290D-4F07-8212-5986E5064482}"/>
              </a:ext>
            </a:extLst>
          </p:cNvPr>
          <p:cNvCxnSpPr>
            <a:cxnSpLocks/>
          </p:cNvCxnSpPr>
          <p:nvPr/>
        </p:nvCxnSpPr>
        <p:spPr>
          <a:xfrm>
            <a:off x="3699775" y="4603310"/>
            <a:ext cx="7904" cy="7971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/>
              <p:nvPr/>
            </p:nvSpPr>
            <p:spPr>
              <a:xfrm>
                <a:off x="2667011" y="5445224"/>
                <a:ext cx="2141730" cy="680140"/>
              </a:xfrm>
              <a:prstGeom prst="hexag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𝑇𝑜𝑝</m:t>
                      </m:r>
                    </m:oMath>
                  </m:oMathPara>
                </a14:m>
                <a:endParaRPr lang="it-IT" i="1" dirty="0"/>
              </a:p>
            </p:txBody>
          </p:sp>
        </mc:Choice>
        <mc:Fallback xmlns="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11" y="5445224"/>
                <a:ext cx="2141730" cy="680140"/>
              </a:xfrm>
              <a:prstGeom prst="hexag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/>
              <p:nvPr/>
            </p:nvSpPr>
            <p:spPr>
              <a:xfrm>
                <a:off x="4208728" y="1656245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8728" y="1656245"/>
                <a:ext cx="2717794" cy="84870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/>
              <p:nvPr/>
            </p:nvSpPr>
            <p:spPr>
              <a:xfrm>
                <a:off x="8374832" y="1675379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832" y="1675379"/>
                <a:ext cx="2534108" cy="72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1860C98C-5295-4F1F-B190-8D82444C46BD}"/>
              </a:ext>
            </a:extLst>
          </p:cNvPr>
          <p:cNvSpPr txBox="1"/>
          <p:nvPr/>
        </p:nvSpPr>
        <p:spPr>
          <a:xfrm>
            <a:off x="4439816" y="3163256"/>
            <a:ext cx="314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T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6A48F468-678D-4A48-8B92-D9EE37ED1EE3}"/>
              </a:ext>
            </a:extLst>
          </p:cNvPr>
          <p:cNvSpPr txBox="1"/>
          <p:nvPr/>
        </p:nvSpPr>
        <p:spPr>
          <a:xfrm>
            <a:off x="3383328" y="4573934"/>
            <a:ext cx="2952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F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7" name="Segnaposto contenuto 1">
            <a:extLst>
              <a:ext uri="{FF2B5EF4-FFF2-40B4-BE49-F238E27FC236}">
                <a16:creationId xmlns:a16="http://schemas.microsoft.com/office/drawing/2014/main" id="{344A0322-51F0-4D85-B863-293CC4CB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12224" y="1018101"/>
            <a:ext cx="3201763" cy="376760"/>
          </a:xfrm>
        </p:spPr>
        <p:txBody>
          <a:bodyPr>
            <a:noAutofit/>
          </a:bodyPr>
          <a:lstStyle/>
          <a:p>
            <a:r>
              <a:rPr lang="en-US" sz="1600" dirty="0" err="1"/>
              <a:t>Theshold</a:t>
            </a:r>
            <a:r>
              <a:rPr lang="en-US" sz="1600" dirty="0"/>
              <a:t> (</a:t>
            </a:r>
            <a:r>
              <a:rPr lang="en-US" sz="1600" dirty="0" err="1"/>
              <a:t>soglia</a:t>
            </a:r>
            <a:r>
              <a:rPr lang="en-US" sz="1600" dirty="0"/>
              <a:t>) di PI: </a:t>
            </a:r>
            <a:r>
              <a:rPr lang="el-GR" sz="1600" b="1" dirty="0"/>
              <a:t>θ</a:t>
            </a:r>
            <a:endParaRPr lang="en-US" sz="1600" dirty="0"/>
          </a:p>
        </p:txBody>
      </p:sp>
      <p:sp>
        <p:nvSpPr>
          <p:cNvPr id="48" name="Segnaposto contenuto 1">
            <a:extLst>
              <a:ext uri="{FF2B5EF4-FFF2-40B4-BE49-F238E27FC236}">
                <a16:creationId xmlns:a16="http://schemas.microsoft.com/office/drawing/2014/main" id="{06E82E6A-AE90-4177-995C-B5CEB85BDA43}"/>
              </a:ext>
            </a:extLst>
          </p:cNvPr>
          <p:cNvSpPr txBox="1">
            <a:spLocks/>
          </p:cNvSpPr>
          <p:nvPr/>
        </p:nvSpPr>
        <p:spPr>
          <a:xfrm>
            <a:off x="906105" y="1011043"/>
            <a:ext cx="198127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Insieme</a:t>
            </a:r>
            <a:r>
              <a:rPr lang="en-US" sz="1600" dirty="0"/>
              <a:t> </a:t>
            </a:r>
            <a:r>
              <a:rPr lang="en-US" sz="1600" i="1" dirty="0"/>
              <a:t>Top</a:t>
            </a:r>
            <a:endParaRPr lang="en-US" sz="1600" dirty="0"/>
          </a:p>
        </p:txBody>
      </p:sp>
      <p:sp>
        <p:nvSpPr>
          <p:cNvPr id="49" name="Segnaposto contenuto 1">
            <a:extLst>
              <a:ext uri="{FF2B5EF4-FFF2-40B4-BE49-F238E27FC236}">
                <a16:creationId xmlns:a16="http://schemas.microsoft.com/office/drawing/2014/main" id="{E71F6A07-CFD6-4753-BD57-83ABC1556895}"/>
              </a:ext>
            </a:extLst>
          </p:cNvPr>
          <p:cNvSpPr txBox="1">
            <a:spLocks/>
          </p:cNvSpPr>
          <p:nvPr/>
        </p:nvSpPr>
        <p:spPr>
          <a:xfrm>
            <a:off x="3707679" y="1024538"/>
            <a:ext cx="396378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Numero</a:t>
            </a:r>
            <a:r>
              <a:rPr lang="en-US" sz="1600" dirty="0"/>
              <a:t> </a:t>
            </a:r>
            <a:r>
              <a:rPr lang="en-US" sz="1600" dirty="0" err="1"/>
              <a:t>elementi</a:t>
            </a:r>
            <a:r>
              <a:rPr lang="en-US" sz="1600" dirty="0"/>
              <a:t> in </a:t>
            </a:r>
            <a:r>
              <a:rPr lang="en-US" sz="1600" i="1" dirty="0"/>
              <a:t>Top</a:t>
            </a:r>
            <a:r>
              <a:rPr lang="en-US" sz="1600" dirty="0"/>
              <a:t>:</a:t>
            </a:r>
            <a:r>
              <a:rPr lang="en-US" sz="1600" i="1" dirty="0"/>
              <a:t> </a:t>
            </a:r>
            <a:r>
              <a:rPr lang="en-US" sz="1600" b="1" dirty="0"/>
              <a:t>Num</a:t>
            </a:r>
          </a:p>
        </p:txBody>
      </p:sp>
    </p:spTree>
    <p:extLst>
      <p:ext uri="{BB962C8B-B14F-4D97-AF65-F5344CB8AC3E}">
        <p14:creationId xmlns:p14="http://schemas.microsoft.com/office/powerpoint/2010/main" val="1885763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9" grpId="0" animBg="1"/>
      <p:bldP spid="22" grpId="0" animBg="1"/>
      <p:bldP spid="28" grpId="0" animBg="1"/>
      <p:bldP spid="36" grpId="0" animBg="1"/>
      <p:bldP spid="37" grpId="0" animBg="1"/>
      <p:bldP spid="38" grpId="0" animBg="1"/>
      <p:bldP spid="41" grpId="0"/>
      <p:bldP spid="4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7CEC9B40-5735-4330-915C-2807B5CE0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3735" y="3636305"/>
            <a:ext cx="4899048" cy="1713408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r>
              <a:rPr lang="en-US" sz="1800" dirty="0" err="1"/>
              <a:t>Componenti</a:t>
            </a:r>
            <a:r>
              <a:rPr lang="en-US" sz="1800" dirty="0"/>
              <a:t> </a:t>
            </a:r>
            <a:r>
              <a:rPr lang="en-US" sz="1800" dirty="0" err="1"/>
              <a:t>nodo</a:t>
            </a:r>
            <a:r>
              <a:rPr lang="en-US" sz="1800" dirty="0"/>
              <a:t>:</a:t>
            </a:r>
          </a:p>
          <a:p>
            <a:r>
              <a:rPr lang="en-US" sz="1800" dirty="0"/>
              <a:t>First parent</a:t>
            </a:r>
          </a:p>
          <a:p>
            <a:r>
              <a:rPr lang="en-US" sz="1800" dirty="0"/>
              <a:t>Second parent</a:t>
            </a:r>
          </a:p>
          <a:p>
            <a:r>
              <a:rPr lang="en-US" sz="1800" dirty="0"/>
              <a:t>Value</a:t>
            </a:r>
          </a:p>
          <a:p>
            <a:r>
              <a:rPr lang="en-US" sz="1800" dirty="0"/>
              <a:t>Children</a:t>
            </a:r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5DF1161-DAFB-4725-8177-A638950D4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712" y="273727"/>
            <a:ext cx="10972800" cy="1143000"/>
          </a:xfrm>
        </p:spPr>
        <p:txBody>
          <a:bodyPr/>
          <a:lstStyle/>
          <a:p>
            <a:pPr algn="ctr"/>
            <a:r>
              <a:rPr lang="en-US" dirty="0"/>
              <a:t>Sequence Pattern Tree (</a:t>
            </a:r>
            <a:r>
              <a:rPr lang="en-US" dirty="0" err="1"/>
              <a:t>SPTree</a:t>
            </a:r>
            <a:r>
              <a:rPr lang="en-US" dirty="0"/>
              <a:t>)</a:t>
            </a:r>
            <a:endParaRPr lang="it-IT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92721421-904A-4764-A727-31DB436DD8EE}"/>
              </a:ext>
            </a:extLst>
          </p:cNvPr>
          <p:cNvSpPr txBox="1">
            <a:spLocks/>
          </p:cNvSpPr>
          <p:nvPr/>
        </p:nvSpPr>
        <p:spPr>
          <a:xfrm>
            <a:off x="1955540" y="846139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 err="1"/>
              <a:t>Struttura</a:t>
            </a:r>
            <a:r>
              <a:rPr lang="en-US" sz="2400" dirty="0"/>
              <a:t> </a:t>
            </a:r>
            <a:r>
              <a:rPr lang="en-US" sz="2400" dirty="0" err="1"/>
              <a:t>dati</a:t>
            </a:r>
            <a:r>
              <a:rPr lang="en-US" sz="2400" dirty="0"/>
              <a:t> ad </a:t>
            </a:r>
            <a:r>
              <a:rPr lang="en-US" sz="2400" dirty="0" err="1"/>
              <a:t>albero</a:t>
            </a:r>
            <a:r>
              <a:rPr lang="en-US" sz="2400" dirty="0"/>
              <a:t> di </a:t>
            </a:r>
            <a:r>
              <a:rPr lang="en-US" sz="2400" dirty="0" err="1"/>
              <a:t>supporto</a:t>
            </a:r>
            <a:endParaRPr lang="it-IT" sz="2400" dirty="0"/>
          </a:p>
        </p:txBody>
      </p:sp>
      <p:pic>
        <p:nvPicPr>
          <p:cNvPr id="12" name="Immagine 11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0862D7E9-D305-4305-96FF-498387847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3584" y="1515044"/>
            <a:ext cx="7937081" cy="4398036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09FF79AD-CCE9-4C05-8039-3842829EB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83" y="1409186"/>
            <a:ext cx="4461320" cy="1546782"/>
          </a:xfrm>
          <a:prstGeom prst="rect">
            <a:avLst/>
          </a:prstGeom>
        </p:spPr>
      </p:pic>
      <p:sp>
        <p:nvSpPr>
          <p:cNvPr id="15" name="Rettangolo 14">
            <a:extLst>
              <a:ext uri="{FF2B5EF4-FFF2-40B4-BE49-F238E27FC236}">
                <a16:creationId xmlns:a16="http://schemas.microsoft.com/office/drawing/2014/main" id="{45A8F3BE-8B0E-49DD-A605-396EDFE82D38}"/>
              </a:ext>
            </a:extLst>
          </p:cNvPr>
          <p:cNvSpPr/>
          <p:nvPr/>
        </p:nvSpPr>
        <p:spPr>
          <a:xfrm>
            <a:off x="7883735" y="1938420"/>
            <a:ext cx="748318" cy="261738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D5438DC7-D426-4E17-9E2A-29FACA1E81D0}"/>
              </a:ext>
            </a:extLst>
          </p:cNvPr>
          <p:cNvSpPr/>
          <p:nvPr/>
        </p:nvSpPr>
        <p:spPr>
          <a:xfrm rot="2850328">
            <a:off x="2063544" y="2554566"/>
            <a:ext cx="640764" cy="1715735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7B6A4252-98AC-413E-A95B-436231DCD820}"/>
              </a:ext>
            </a:extLst>
          </p:cNvPr>
          <p:cNvCxnSpPr>
            <a:cxnSpLocks/>
          </p:cNvCxnSpPr>
          <p:nvPr/>
        </p:nvCxnSpPr>
        <p:spPr>
          <a:xfrm flipV="1">
            <a:off x="2273766" y="3059068"/>
            <a:ext cx="1079150" cy="654994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e 18">
            <a:extLst>
              <a:ext uri="{FF2B5EF4-FFF2-40B4-BE49-F238E27FC236}">
                <a16:creationId xmlns:a16="http://schemas.microsoft.com/office/drawing/2014/main" id="{6B9DF360-23DB-4242-B289-5DBD3ED15B6B}"/>
              </a:ext>
            </a:extLst>
          </p:cNvPr>
          <p:cNvSpPr/>
          <p:nvPr/>
        </p:nvSpPr>
        <p:spPr>
          <a:xfrm>
            <a:off x="2546352" y="3655869"/>
            <a:ext cx="604998" cy="424743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Ovale 19">
            <a:extLst>
              <a:ext uri="{FF2B5EF4-FFF2-40B4-BE49-F238E27FC236}">
                <a16:creationId xmlns:a16="http://schemas.microsoft.com/office/drawing/2014/main" id="{E0E379CE-EE64-4521-AA89-1E1D26B0A08A}"/>
              </a:ext>
            </a:extLst>
          </p:cNvPr>
          <p:cNvSpPr/>
          <p:nvPr/>
        </p:nvSpPr>
        <p:spPr>
          <a:xfrm>
            <a:off x="3345391" y="3642596"/>
            <a:ext cx="604998" cy="424743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F928A34-488F-4178-9B4E-292D5E8D8198}"/>
              </a:ext>
            </a:extLst>
          </p:cNvPr>
          <p:cNvCxnSpPr>
            <a:cxnSpLocks/>
            <a:stCxn id="20" idx="3"/>
          </p:cNvCxnSpPr>
          <p:nvPr/>
        </p:nvCxnSpPr>
        <p:spPr>
          <a:xfrm flipH="1">
            <a:off x="2224471" y="4005137"/>
            <a:ext cx="1209520" cy="5942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CE2ABEB1-0A6C-4820-90CE-80CD56952270}"/>
              </a:ext>
            </a:extLst>
          </p:cNvPr>
          <p:cNvCxnSpPr>
            <a:cxnSpLocks/>
            <a:stCxn id="19" idx="3"/>
          </p:cNvCxnSpPr>
          <p:nvPr/>
        </p:nvCxnSpPr>
        <p:spPr>
          <a:xfrm flipH="1">
            <a:off x="1341958" y="4018410"/>
            <a:ext cx="1292994" cy="580943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ttangolo 26">
            <a:extLst>
              <a:ext uri="{FF2B5EF4-FFF2-40B4-BE49-F238E27FC236}">
                <a16:creationId xmlns:a16="http://schemas.microsoft.com/office/drawing/2014/main" id="{D3489EB2-9730-479E-9D9B-70583B37F4AB}"/>
              </a:ext>
            </a:extLst>
          </p:cNvPr>
          <p:cNvSpPr/>
          <p:nvPr/>
        </p:nvSpPr>
        <p:spPr>
          <a:xfrm>
            <a:off x="8475589" y="2162780"/>
            <a:ext cx="1226653" cy="248652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D9B3D4F6-5DED-4EEE-B3C3-D63B623D3760}"/>
              </a:ext>
            </a:extLst>
          </p:cNvPr>
          <p:cNvSpPr/>
          <p:nvPr/>
        </p:nvSpPr>
        <p:spPr>
          <a:xfrm>
            <a:off x="9801588" y="2153009"/>
            <a:ext cx="1226654" cy="245337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81F47026-2D78-4E02-A7A7-CFB5F43D3718}"/>
              </a:ext>
            </a:extLst>
          </p:cNvPr>
          <p:cNvCxnSpPr>
            <a:cxnSpLocks/>
          </p:cNvCxnSpPr>
          <p:nvPr/>
        </p:nvCxnSpPr>
        <p:spPr>
          <a:xfrm>
            <a:off x="7031808" y="2104845"/>
            <a:ext cx="39506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91AB8BBB-11E0-4458-97B7-8709D72237F2}"/>
              </a:ext>
            </a:extLst>
          </p:cNvPr>
          <p:cNvCxnSpPr>
            <a:cxnSpLocks/>
          </p:cNvCxnSpPr>
          <p:nvPr/>
        </p:nvCxnSpPr>
        <p:spPr>
          <a:xfrm>
            <a:off x="7031808" y="2463175"/>
            <a:ext cx="39506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6DC08778-23D0-4CE1-8C11-71835F4F5B40}"/>
              </a:ext>
            </a:extLst>
          </p:cNvPr>
          <p:cNvSpPr txBox="1"/>
          <p:nvPr/>
        </p:nvSpPr>
        <p:spPr>
          <a:xfrm>
            <a:off x="2546352" y="2359934"/>
            <a:ext cx="71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first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E259299-5E9C-4244-939D-6E77A791B645}"/>
              </a:ext>
            </a:extLst>
          </p:cNvPr>
          <p:cNvSpPr txBox="1"/>
          <p:nvPr/>
        </p:nvSpPr>
        <p:spPr>
          <a:xfrm>
            <a:off x="3295721" y="2460577"/>
            <a:ext cx="812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second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3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 animBg="1"/>
      <p:bldP spid="16" grpId="0" animBg="1"/>
      <p:bldP spid="19" grpId="0" animBg="1"/>
      <p:bldP spid="20" grpId="0" animBg="1"/>
      <p:bldP spid="27" grpId="0" animBg="1"/>
      <p:bldP spid="28" grpId="0" animBg="1"/>
      <p:bldP spid="47" grpId="0"/>
      <p:bldP spid="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F0E0D4CB-14EF-452F-973A-1104E5765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408" y="4661685"/>
            <a:ext cx="2952328" cy="715993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SPTree</a:t>
            </a:r>
            <a:r>
              <a:rPr lang="en-US" sz="2000" dirty="0"/>
              <a:t> – </a:t>
            </a:r>
            <a:r>
              <a:rPr lang="en-US" sz="2000" dirty="0" err="1"/>
              <a:t>classe</a:t>
            </a:r>
            <a:r>
              <a:rPr lang="en-US" sz="2000" dirty="0"/>
              <a:t> </a:t>
            </a:r>
          </a:p>
          <a:p>
            <a:r>
              <a:rPr lang="en-US" sz="2000" dirty="0"/>
              <a:t>STBFM</a:t>
            </a:r>
            <a:endParaRPr lang="it-IT" sz="20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8441C0E-41DA-4BCA-80DC-0363493B2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20" y="332656"/>
            <a:ext cx="8640960" cy="116755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Implementazione</a:t>
            </a:r>
            <a:r>
              <a:rPr lang="en-US" dirty="0"/>
              <a:t> e dataset di test</a:t>
            </a:r>
            <a:endParaRPr lang="it-IT" dirty="0"/>
          </a:p>
        </p:txBody>
      </p:sp>
      <p:pic>
        <p:nvPicPr>
          <p:cNvPr id="1026" name="Picture 2" descr="Immagine correlata">
            <a:extLst>
              <a:ext uri="{FF2B5EF4-FFF2-40B4-BE49-F238E27FC236}">
                <a16:creationId xmlns:a16="http://schemas.microsoft.com/office/drawing/2014/main" id="{635FD5AC-8E67-42E2-AB01-73980F1C5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573" y="3948549"/>
            <a:ext cx="2802494" cy="1553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olo 2">
            <a:extLst>
              <a:ext uri="{FF2B5EF4-FFF2-40B4-BE49-F238E27FC236}">
                <a16:creationId xmlns:a16="http://schemas.microsoft.com/office/drawing/2014/main" id="{AF3E41A4-CD9B-49CF-9AB2-600E11214817}"/>
              </a:ext>
            </a:extLst>
          </p:cNvPr>
          <p:cNvSpPr txBox="1">
            <a:spLocks/>
          </p:cNvSpPr>
          <p:nvPr/>
        </p:nvSpPr>
        <p:spPr>
          <a:xfrm>
            <a:off x="263352" y="3945692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File </a:t>
            </a:r>
            <a:r>
              <a:rPr lang="en-US" sz="2800" dirty="0" err="1"/>
              <a:t>Sorgenti</a:t>
            </a:r>
            <a:endParaRPr lang="it-IT" sz="2800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86DC07D1-8D02-42A9-A171-8F97C441FEDD}"/>
              </a:ext>
            </a:extLst>
          </p:cNvPr>
          <p:cNvSpPr txBox="1">
            <a:spLocks/>
          </p:cNvSpPr>
          <p:nvPr/>
        </p:nvSpPr>
        <p:spPr>
          <a:xfrm>
            <a:off x="4195144" y="1181903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Tipi di </a:t>
            </a:r>
            <a:r>
              <a:rPr lang="en-US" sz="2800" dirty="0" err="1"/>
              <a:t>eventi</a:t>
            </a:r>
            <a:endParaRPr lang="it-IT" sz="2800" dirty="0"/>
          </a:p>
        </p:txBody>
      </p:sp>
      <p:sp>
        <p:nvSpPr>
          <p:cNvPr id="7" name="Segnaposto contenuto 1">
            <a:extLst>
              <a:ext uri="{FF2B5EF4-FFF2-40B4-BE49-F238E27FC236}">
                <a16:creationId xmlns:a16="http://schemas.microsoft.com/office/drawing/2014/main" id="{880A88BA-FBD9-4D7B-9846-A84AF0149777}"/>
              </a:ext>
            </a:extLst>
          </p:cNvPr>
          <p:cNvSpPr txBox="1">
            <a:spLocks/>
          </p:cNvSpPr>
          <p:nvPr/>
        </p:nvSpPr>
        <p:spPr>
          <a:xfrm>
            <a:off x="2351584" y="1857150"/>
            <a:ext cx="3131840" cy="1709488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566928" indent="-457200">
              <a:buFont typeface="+mj-lt"/>
              <a:buAutoNum type="arabicPeriod"/>
            </a:pPr>
            <a:r>
              <a:rPr lang="en-US" sz="1800" dirty="0"/>
              <a:t>Aggravated Assault</a:t>
            </a:r>
          </a:p>
          <a:p>
            <a:pPr marL="566928" indent="-457200">
              <a:buFont typeface="+mj-lt"/>
              <a:buAutoNum type="arabicPeriod"/>
            </a:pPr>
            <a:r>
              <a:rPr lang="it-IT" sz="1800" dirty="0"/>
              <a:t>Auto </a:t>
            </a:r>
            <a:r>
              <a:rPr lang="it-IT" sz="1800" dirty="0" err="1"/>
              <a:t>Theft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/>
              <a:t>Commercial </a:t>
            </a:r>
            <a:r>
              <a:rPr lang="it-IT" sz="1800" dirty="0" err="1"/>
              <a:t>Burglary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 err="1"/>
              <a:t>Homicide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 err="1"/>
              <a:t>Robbery</a:t>
            </a:r>
            <a:endParaRPr lang="it-IT" sz="1800" dirty="0"/>
          </a:p>
        </p:txBody>
      </p:sp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1BBB13D-A9CE-4EE5-B94A-6C8BEACD9A41}"/>
              </a:ext>
            </a:extLst>
          </p:cNvPr>
          <p:cNvSpPr txBox="1">
            <a:spLocks/>
          </p:cNvSpPr>
          <p:nvPr/>
        </p:nvSpPr>
        <p:spPr>
          <a:xfrm>
            <a:off x="6096000" y="1854527"/>
            <a:ext cx="3131840" cy="1608377"/>
          </a:xfrm>
          <a:prstGeom prst="rect">
            <a:avLst/>
          </a:prstGeom>
        </p:spPr>
        <p:txBody>
          <a:bodyPr vert="horz">
            <a:normAutofit lnSpcReduction="1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Larceny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Residential</a:t>
            </a:r>
            <a:r>
              <a:rPr lang="it-IT" sz="1800" dirty="0"/>
              <a:t> </a:t>
            </a:r>
            <a:r>
              <a:rPr lang="it-IT" sz="1800" dirty="0" err="1"/>
              <a:t>Burglary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Larceny</a:t>
            </a:r>
            <a:r>
              <a:rPr lang="it-IT" sz="1800" dirty="0"/>
              <a:t> from Motor </a:t>
            </a:r>
            <a:r>
              <a:rPr lang="it-IT" sz="1800" dirty="0" err="1"/>
              <a:t>Vehicle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Other</a:t>
            </a:r>
            <a:r>
              <a:rPr lang="it-IT" sz="1800" dirty="0"/>
              <a:t> </a:t>
            </a:r>
            <a:r>
              <a:rPr lang="it-IT" sz="1800" dirty="0" err="1"/>
              <a:t>Burglary</a:t>
            </a:r>
            <a:endParaRPr lang="it-IT" sz="1800" dirty="0"/>
          </a:p>
        </p:txBody>
      </p:sp>
      <p:sp>
        <p:nvSpPr>
          <p:cNvPr id="9" name="Titolo 2">
            <a:extLst>
              <a:ext uri="{FF2B5EF4-FFF2-40B4-BE49-F238E27FC236}">
                <a16:creationId xmlns:a16="http://schemas.microsoft.com/office/drawing/2014/main" id="{A4E3CFB7-5A50-4F7D-9FD7-54FCC83CC6BB}"/>
              </a:ext>
            </a:extLst>
          </p:cNvPr>
          <p:cNvSpPr txBox="1">
            <a:spLocks/>
          </p:cNvSpPr>
          <p:nvPr/>
        </p:nvSpPr>
        <p:spPr>
          <a:xfrm>
            <a:off x="7248128" y="4376851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Dataset di test</a:t>
            </a:r>
            <a:endParaRPr lang="it-IT" sz="28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EBE0922F-BA42-4F34-A1D3-36A949FD764E}"/>
              </a:ext>
            </a:extLst>
          </p:cNvPr>
          <p:cNvSpPr txBox="1">
            <a:spLocks/>
          </p:cNvSpPr>
          <p:nvPr/>
        </p:nvSpPr>
        <p:spPr>
          <a:xfrm>
            <a:off x="7932417" y="5014423"/>
            <a:ext cx="2306989" cy="149528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1043 record</a:t>
            </a:r>
          </a:p>
          <a:p>
            <a:r>
              <a:rPr lang="en-US" sz="1800" dirty="0"/>
              <a:t>2235 record</a:t>
            </a:r>
          </a:p>
          <a:p>
            <a:r>
              <a:rPr lang="en-US" sz="1800" dirty="0"/>
              <a:t>3129 record</a:t>
            </a:r>
          </a:p>
          <a:p>
            <a:r>
              <a:rPr lang="en-US" sz="1800" dirty="0"/>
              <a:t>5216 record</a:t>
            </a:r>
          </a:p>
        </p:txBody>
      </p:sp>
      <p:sp>
        <p:nvSpPr>
          <p:cNvPr id="12" name="Titolo 2">
            <a:extLst>
              <a:ext uri="{FF2B5EF4-FFF2-40B4-BE49-F238E27FC236}">
                <a16:creationId xmlns:a16="http://schemas.microsoft.com/office/drawing/2014/main" id="{750842DA-97E1-4B47-97ED-DCFA6255C3DD}"/>
              </a:ext>
            </a:extLst>
          </p:cNvPr>
          <p:cNvSpPr txBox="1">
            <a:spLocks/>
          </p:cNvSpPr>
          <p:nvPr/>
        </p:nvSpPr>
        <p:spPr>
          <a:xfrm>
            <a:off x="6939336" y="3584891"/>
            <a:ext cx="3456384" cy="821467"/>
          </a:xfrm>
          <a:prstGeom prst="rect">
            <a:avLst/>
          </a:prstGeom>
        </p:spPr>
        <p:txBody>
          <a:bodyPr vert="horz" rtlCol="0" anchor="ctr">
            <a:normAutofit fontScale="92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Dataset di </a:t>
            </a:r>
            <a:r>
              <a:rPr lang="en-US" sz="2800" dirty="0" err="1"/>
              <a:t>partenza</a:t>
            </a:r>
            <a:r>
              <a:rPr lang="en-US" sz="2000" dirty="0"/>
              <a:t>: </a:t>
            </a:r>
          </a:p>
          <a:p>
            <a:pPr algn="ctr"/>
            <a:r>
              <a:rPr lang="en-US" sz="2000" dirty="0"/>
              <a:t>15 648 record</a:t>
            </a: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167639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1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0E4B7B16-9124-4BA2-A3FB-3A4D5DF03089}"/>
              </a:ext>
            </a:extLst>
          </p:cNvPr>
          <p:cNvSpPr/>
          <p:nvPr/>
        </p:nvSpPr>
        <p:spPr>
          <a:xfrm>
            <a:off x="1055440" y="2132856"/>
            <a:ext cx="2160240" cy="2941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D1FF557-9CDE-4FC1-BA28-695E5CE24BF1}"/>
              </a:ext>
            </a:extLst>
          </p:cNvPr>
          <p:cNvSpPr/>
          <p:nvPr/>
        </p:nvSpPr>
        <p:spPr>
          <a:xfrm>
            <a:off x="1055440" y="1844824"/>
            <a:ext cx="1800200" cy="24566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DD9E267D-0544-4E33-A70C-984F1C2F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63793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Analisi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risultati</a:t>
            </a:r>
            <a:endParaRPr lang="it-IT" dirty="0"/>
          </a:p>
        </p:txBody>
      </p:sp>
      <p:pic>
        <p:nvPicPr>
          <p:cNvPr id="5" name="Immagine 4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B3B77998-DD10-4D27-9442-B8C5A99338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112" y="3110056"/>
            <a:ext cx="4425064" cy="3211032"/>
          </a:xfrm>
          <a:prstGeom prst="rect">
            <a:avLst/>
          </a:prstGeom>
        </p:spPr>
      </p:pic>
      <p:pic>
        <p:nvPicPr>
          <p:cNvPr id="7" name="Immagine 6" descr="Immagine che contiene mappa, pioggia, ombrello&#10;&#10;Descrizione generata automaticamente">
            <a:extLst>
              <a:ext uri="{FF2B5EF4-FFF2-40B4-BE49-F238E27FC236}">
                <a16:creationId xmlns:a16="http://schemas.microsoft.com/office/drawing/2014/main" id="{940649B9-E24E-411D-A1D8-72219DCD85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088" y="3815009"/>
            <a:ext cx="4076608" cy="3056291"/>
          </a:xfrm>
          <a:prstGeom prst="rect">
            <a:avLst/>
          </a:prstGeom>
        </p:spPr>
      </p:pic>
      <p:pic>
        <p:nvPicPr>
          <p:cNvPr id="11" name="Immagine 10" descr="Immagine che contiene ombrello&#10;&#10;Descrizione generata automaticamente">
            <a:extLst>
              <a:ext uri="{FF2B5EF4-FFF2-40B4-BE49-F238E27FC236}">
                <a16:creationId xmlns:a16="http://schemas.microsoft.com/office/drawing/2014/main" id="{2BD1C13D-ADCA-422C-9A86-EFB1A7FA3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599" y="461513"/>
            <a:ext cx="4371267" cy="305629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A681ED5-0E7E-48BF-B596-EC510353F18A}"/>
              </a:ext>
            </a:extLst>
          </p:cNvPr>
          <p:cNvSpPr txBox="1"/>
          <p:nvPr/>
        </p:nvSpPr>
        <p:spPr>
          <a:xfrm>
            <a:off x="2079006" y="2891431"/>
            <a:ext cx="3371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T e num record</a:t>
            </a:r>
            <a:endParaRPr lang="it-IT" sz="1600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89BB029-0433-4829-8F39-8DFDB6C05325}"/>
              </a:ext>
            </a:extLst>
          </p:cNvPr>
          <p:cNvSpPr txBox="1"/>
          <p:nvPr/>
        </p:nvSpPr>
        <p:spPr>
          <a:xfrm>
            <a:off x="7248128" y="3591538"/>
            <a:ext cx="2254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R e 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63CC89B-32F2-4AED-854E-DF3E65E5937D}"/>
              </a:ext>
            </a:extLst>
          </p:cNvPr>
          <p:cNvSpPr txBox="1"/>
          <p:nvPr/>
        </p:nvSpPr>
        <p:spPr>
          <a:xfrm>
            <a:off x="7626173" y="235431"/>
            <a:ext cx="3292643" cy="34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R e num record</a:t>
            </a:r>
            <a:endParaRPr lang="it-IT" sz="1600" dirty="0"/>
          </a:p>
        </p:txBody>
      </p:sp>
      <p:sp>
        <p:nvSpPr>
          <p:cNvPr id="10" name="Titolo 2">
            <a:extLst>
              <a:ext uri="{FF2B5EF4-FFF2-40B4-BE49-F238E27FC236}">
                <a16:creationId xmlns:a16="http://schemas.microsoft.com/office/drawing/2014/main" id="{BD9F83F0-A2C0-4D08-BCFD-02FFAA209421}"/>
              </a:ext>
            </a:extLst>
          </p:cNvPr>
          <p:cNvSpPr txBox="1">
            <a:spLocks/>
          </p:cNvSpPr>
          <p:nvPr/>
        </p:nvSpPr>
        <p:spPr>
          <a:xfrm>
            <a:off x="3143672" y="618339"/>
            <a:ext cx="3960440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Tempi di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computazione</a:t>
            </a:r>
            <a:endParaRPr lang="it-IT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Segnaposto contenuto 1">
            <a:extLst>
              <a:ext uri="{FF2B5EF4-FFF2-40B4-BE49-F238E27FC236}">
                <a16:creationId xmlns:a16="http://schemas.microsoft.com/office/drawing/2014/main" id="{FAB9E694-33EE-4063-8BB8-25BE8DE806B4}"/>
              </a:ext>
            </a:extLst>
          </p:cNvPr>
          <p:cNvSpPr txBox="1">
            <a:spLocks/>
          </p:cNvSpPr>
          <p:nvPr/>
        </p:nvSpPr>
        <p:spPr>
          <a:xfrm>
            <a:off x="623392" y="1156423"/>
            <a:ext cx="6018589" cy="1735008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 err="1"/>
              <a:t>Effettuati</a:t>
            </a:r>
            <a:r>
              <a:rPr lang="en-US" sz="1800" dirty="0"/>
              <a:t> 48 test </a:t>
            </a:r>
          </a:p>
          <a:p>
            <a:pPr marL="109728" indent="0">
              <a:buNone/>
            </a:pPr>
            <a:r>
              <a:rPr lang="en-US" sz="1800" dirty="0" err="1"/>
              <a:t>Parametri</a:t>
            </a:r>
            <a:r>
              <a:rPr lang="en-US" sz="1800" dirty="0"/>
              <a:t>:</a:t>
            </a:r>
          </a:p>
          <a:p>
            <a:r>
              <a:rPr lang="it-IT" sz="1800" dirty="0"/>
              <a:t>Numero record</a:t>
            </a:r>
          </a:p>
          <a:p>
            <a:r>
              <a:rPr lang="it-IT" sz="1800" dirty="0"/>
              <a:t>R (raggio spaziale)</a:t>
            </a:r>
          </a:p>
          <a:p>
            <a:r>
              <a:rPr lang="it-IT" sz="1800" dirty="0"/>
              <a:t>T (intervallo temporale)</a:t>
            </a:r>
          </a:p>
        </p:txBody>
      </p:sp>
    </p:spTree>
    <p:extLst>
      <p:ext uri="{BB962C8B-B14F-4D97-AF65-F5344CB8AC3E}">
        <p14:creationId xmlns:p14="http://schemas.microsoft.com/office/powerpoint/2010/main" val="79998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12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Segnaposto contenuto 1">
                <a:extLst>
                  <a:ext uri="{FF2B5EF4-FFF2-40B4-BE49-F238E27FC236}">
                    <a16:creationId xmlns:a16="http://schemas.microsoft.com/office/drawing/2014/main" id="{105B47A1-F943-45D7-B32D-409F404B88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086360"/>
                <a:ext cx="3538736" cy="1296144"/>
              </a:xfrm>
            </p:spPr>
            <p:txBody>
              <a:bodyPr>
                <a:normAutofit/>
              </a:bodyPr>
              <a:lstStyle/>
              <a:p>
                <a:pPr marL="109728" indent="0">
                  <a:buNone/>
                </a:pPr>
                <a:r>
                  <a:rPr lang="en-US" sz="2200" dirty="0"/>
                  <a:t>Test con (3129 record):</a:t>
                </a: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𝑁𝑢𝑚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=0.25</m:t>
                    </m:r>
                  </m:oMath>
                </a14:m>
                <a:endParaRPr lang="en-US" sz="2200" dirty="0"/>
              </a:p>
              <a:p>
                <a:pPr marL="109728" indent="0">
                  <a:buNone/>
                </a:pPr>
                <a:endParaRPr lang="it-IT" sz="2400" dirty="0"/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2" name="Segnaposto contenuto 1">
                <a:extLst>
                  <a:ext uri="{FF2B5EF4-FFF2-40B4-BE49-F238E27FC236}">
                    <a16:creationId xmlns:a16="http://schemas.microsoft.com/office/drawing/2014/main" id="{105B47A1-F943-45D7-B32D-409F404B88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086360"/>
                <a:ext cx="3538736" cy="1296144"/>
              </a:xfrm>
              <a:blipFill>
                <a:blip r:embed="rId2"/>
                <a:stretch>
                  <a:fillRect t="-3286" r="-6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olo 2">
            <a:extLst>
              <a:ext uri="{FF2B5EF4-FFF2-40B4-BE49-F238E27FC236}">
                <a16:creationId xmlns:a16="http://schemas.microsoft.com/office/drawing/2014/main" id="{4F329FE0-8729-4433-8D73-129E66E35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60" y="0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Analisi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risultati</a:t>
            </a: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7CDC932-B351-411D-ACA2-A5C3A8348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754" y="1556792"/>
            <a:ext cx="9782505" cy="45019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1">
                <a:extLst>
                  <a:ext uri="{FF2B5EF4-FFF2-40B4-BE49-F238E27FC236}">
                    <a16:creationId xmlns:a16="http://schemas.microsoft.com/office/drawing/2014/main" id="{8CFEC1C9-40AE-4CD5-B4C2-8D888C12CD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179974"/>
                <a:ext cx="3935760" cy="1249025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365760" indent="-256032" algn="l" rtl="0" eaLnBrk="1" latinLnBrk="0" hangingPunct="1">
                  <a:spcBef>
                    <a:spcPts val="400"/>
                  </a:spcBef>
                  <a:spcAft>
                    <a:spcPts val="0"/>
                  </a:spcAft>
                  <a:buClr>
                    <a:schemeClr val="accent1"/>
                  </a:buClr>
                  <a:buSzPct val="68000"/>
                  <a:buFont typeface="Wingdings 3"/>
                  <a:buChar char=""/>
                  <a:defRPr kumimoji="0" sz="27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21792" indent="-228600" algn="l" rtl="0" eaLnBrk="1" latinLnBrk="0" hangingPunct="1">
                  <a:spcBef>
                    <a:spcPts val="324"/>
                  </a:spcBef>
                  <a:buClr>
                    <a:schemeClr val="accent1"/>
                  </a:buClr>
                  <a:buFont typeface="Verdana"/>
                  <a:buChar char="◦"/>
                  <a:defRPr kumimoji="0" sz="23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9536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SzPct val="100000"/>
                  <a:buFont typeface="Wingdings 2"/>
                  <a:buChar char=""/>
                  <a:defRPr kumimoji="0"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30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002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574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2860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  <a:extLst/>
              </a:lstStyle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=2 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=168 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𝑜𝑟𝑒</m:t>
                    </m:r>
                  </m:oMath>
                </a14:m>
                <a:endParaRPr lang="en-US" sz="2200" dirty="0"/>
              </a:p>
              <a:p>
                <a:pPr marL="109728" indent="0">
                  <a:buNone/>
                </a:pPr>
                <a:r>
                  <a:rPr lang="en-US" sz="2200" dirty="0"/>
                  <a:t> 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(7 </m:t>
                    </m:r>
                    <m:r>
                      <a:rPr lang="en-US" sz="2200" i="1" dirty="0" err="1" smtClean="0">
                        <a:latin typeface="Cambria Math" panose="02040503050406030204" pitchFamily="18" charset="0"/>
                      </a:rPr>
                      <m:t>𝑔𝑖𝑜𝑟𝑛𝑖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/>
              </a:p>
              <a:p>
                <a:pPr marL="109728" indent="0">
                  <a:buNone/>
                </a:pPr>
                <a:endParaRPr lang="it-IT" sz="2400" dirty="0"/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5" name="Segnaposto contenuto 1">
                <a:extLst>
                  <a:ext uri="{FF2B5EF4-FFF2-40B4-BE49-F238E27FC236}">
                    <a16:creationId xmlns:a16="http://schemas.microsoft.com/office/drawing/2014/main" id="{8CFEC1C9-40AE-4CD5-B4C2-8D888C12C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179974"/>
                <a:ext cx="3935760" cy="1249025"/>
              </a:xfrm>
              <a:prstGeom prst="rect">
                <a:avLst/>
              </a:prstGeom>
              <a:blipFill>
                <a:blip r:embed="rId4"/>
                <a:stretch>
                  <a:fillRect b="-98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olo 2">
            <a:extLst>
              <a:ext uri="{FF2B5EF4-FFF2-40B4-BE49-F238E27FC236}">
                <a16:creationId xmlns:a16="http://schemas.microsoft.com/office/drawing/2014/main" id="{3A069E3F-63A3-46C1-B828-C829ED74DAA4}"/>
              </a:ext>
            </a:extLst>
          </p:cNvPr>
          <p:cNvSpPr txBox="1">
            <a:spLocks/>
          </p:cNvSpPr>
          <p:nvPr/>
        </p:nvSpPr>
        <p:spPr>
          <a:xfrm>
            <a:off x="4115780" y="563880"/>
            <a:ext cx="3960440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Indici</a:t>
            </a:r>
            <a:endParaRPr lang="it-IT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97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19C9B489-6EB7-4BE5-B82E-EF01E8C42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392" y="1124744"/>
            <a:ext cx="11017224" cy="2664296"/>
          </a:xfrm>
        </p:spPr>
        <p:txBody>
          <a:bodyPr>
            <a:normAutofit fontScale="85000" lnSpcReduction="20000"/>
          </a:bodyPr>
          <a:lstStyle/>
          <a:p>
            <a:r>
              <a:rPr lang="en-US" sz="2400" dirty="0" err="1"/>
              <a:t>Interfaccia</a:t>
            </a:r>
            <a:r>
              <a:rPr lang="en-US" sz="2400" dirty="0"/>
              <a:t> </a:t>
            </a:r>
            <a:r>
              <a:rPr lang="en-US" sz="2400" dirty="0" err="1"/>
              <a:t>grafica</a:t>
            </a:r>
            <a:r>
              <a:rPr lang="en-US" sz="2400" dirty="0"/>
              <a:t> che </a:t>
            </a:r>
            <a:r>
              <a:rPr lang="en-US" sz="2400" dirty="0" err="1"/>
              <a:t>permetta</a:t>
            </a:r>
            <a:r>
              <a:rPr lang="en-US" sz="2400" dirty="0"/>
              <a:t> di </a:t>
            </a:r>
            <a:r>
              <a:rPr lang="en-US" sz="2400" dirty="0" err="1"/>
              <a:t>effettuare</a:t>
            </a:r>
            <a:r>
              <a:rPr lang="en-US" sz="2400" dirty="0"/>
              <a:t> test </a:t>
            </a:r>
            <a:r>
              <a:rPr lang="en-US" sz="2400" dirty="0" err="1"/>
              <a:t>anche</a:t>
            </a:r>
            <a:r>
              <a:rPr lang="en-US" sz="2400" dirty="0"/>
              <a:t> </a:t>
            </a:r>
            <a:r>
              <a:rPr lang="en-US" sz="2400" dirty="0" err="1"/>
              <a:t>variando</a:t>
            </a:r>
            <a:r>
              <a:rPr lang="en-US" sz="2400" dirty="0"/>
              <a:t> dataset</a:t>
            </a:r>
          </a:p>
          <a:p>
            <a:endParaRPr lang="en-US" sz="2400" dirty="0"/>
          </a:p>
          <a:p>
            <a:r>
              <a:rPr lang="en-US" sz="2400" dirty="0" err="1"/>
              <a:t>Mappa</a:t>
            </a:r>
            <a:r>
              <a:rPr lang="en-US" sz="2400" dirty="0"/>
              <a:t> </a:t>
            </a:r>
            <a:r>
              <a:rPr lang="en-US" sz="2400" dirty="0" err="1"/>
              <a:t>geografica</a:t>
            </a:r>
            <a:r>
              <a:rPr lang="en-US" sz="2400" dirty="0"/>
              <a:t> in cui </a:t>
            </a:r>
            <a:r>
              <a:rPr lang="en-US" sz="2400" dirty="0" err="1"/>
              <a:t>si</a:t>
            </a:r>
            <a:r>
              <a:rPr lang="en-US" sz="2400" dirty="0"/>
              <a:t> </a:t>
            </a:r>
            <a:r>
              <a:rPr lang="en-US" sz="2400" dirty="0" err="1"/>
              <a:t>mostrtano</a:t>
            </a:r>
            <a:r>
              <a:rPr lang="en-US" sz="2400" dirty="0"/>
              <a:t> </a:t>
            </a:r>
            <a:r>
              <a:rPr lang="en-US" sz="2400" dirty="0" err="1"/>
              <a:t>gli</a:t>
            </a:r>
            <a:r>
              <a:rPr lang="en-US" sz="2400" dirty="0"/>
              <a:t> </a:t>
            </a:r>
            <a:r>
              <a:rPr lang="en-US" sz="2400" dirty="0" err="1"/>
              <a:t>eventi</a:t>
            </a:r>
            <a:r>
              <a:rPr lang="en-US" sz="2400" dirty="0"/>
              <a:t> </a:t>
            </a:r>
            <a:r>
              <a:rPr lang="en-US" sz="2400" dirty="0" err="1"/>
              <a:t>connessi</a:t>
            </a:r>
            <a:r>
              <a:rPr lang="en-US" sz="2400" dirty="0"/>
              <a:t> in base ad una </a:t>
            </a:r>
            <a:r>
              <a:rPr lang="en-US" sz="2400" dirty="0" err="1"/>
              <a:t>determinata</a:t>
            </a:r>
            <a:r>
              <a:rPr lang="en-US" sz="2400" dirty="0"/>
              <a:t> </a:t>
            </a:r>
            <a:r>
              <a:rPr lang="en-US" sz="2400" dirty="0" err="1"/>
              <a:t>sequenza</a:t>
            </a:r>
            <a:r>
              <a:rPr lang="en-US" sz="2400" dirty="0"/>
              <a:t> di tipi</a:t>
            </a:r>
          </a:p>
          <a:p>
            <a:endParaRPr lang="en-US" sz="2400" dirty="0"/>
          </a:p>
          <a:p>
            <a:r>
              <a:rPr lang="en-US" sz="2400" dirty="0" err="1"/>
              <a:t>Adattare</a:t>
            </a:r>
            <a:r>
              <a:rPr lang="en-US" sz="2400" dirty="0"/>
              <a:t> </a:t>
            </a:r>
            <a:r>
              <a:rPr lang="en-US" sz="2400" dirty="0" err="1"/>
              <a:t>il</a:t>
            </a:r>
            <a:r>
              <a:rPr lang="en-US" sz="2400" dirty="0"/>
              <a:t> software per </a:t>
            </a:r>
            <a:r>
              <a:rPr lang="en-US" sz="2400" dirty="0" err="1"/>
              <a:t>concetrarsi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determinate zone </a:t>
            </a:r>
            <a:r>
              <a:rPr lang="en-US" sz="2400" dirty="0" err="1"/>
              <a:t>della</a:t>
            </a:r>
            <a:r>
              <a:rPr lang="en-US" sz="2400" dirty="0"/>
              <a:t> </a:t>
            </a:r>
            <a:r>
              <a:rPr lang="en-US" sz="2400" dirty="0" err="1"/>
              <a:t>città</a:t>
            </a:r>
            <a:r>
              <a:rPr lang="en-US" sz="2400" dirty="0"/>
              <a:t> (</a:t>
            </a:r>
            <a:r>
              <a:rPr lang="en-US" sz="2400" dirty="0" err="1"/>
              <a:t>criminalità</a:t>
            </a:r>
            <a:r>
              <a:rPr lang="en-US" sz="2400" dirty="0"/>
              <a:t> locale)</a:t>
            </a:r>
          </a:p>
          <a:p>
            <a:pPr marL="109728" indent="0">
              <a:buNone/>
            </a:pPr>
            <a:endParaRPr lang="en-US" sz="2400" dirty="0"/>
          </a:p>
          <a:p>
            <a:r>
              <a:rPr lang="en-US" sz="2400" dirty="0" err="1"/>
              <a:t>Provare</a:t>
            </a:r>
            <a:r>
              <a:rPr lang="en-US" sz="2400" dirty="0"/>
              <a:t> la </a:t>
            </a:r>
            <a:r>
              <a:rPr lang="en-US" sz="2400" dirty="0" err="1"/>
              <a:t>applicazione</a:t>
            </a:r>
            <a:r>
              <a:rPr lang="en-US" sz="2400" dirty="0"/>
              <a:t> ad un </a:t>
            </a:r>
            <a:r>
              <a:rPr lang="en-US" sz="2400" dirty="0" err="1"/>
              <a:t>diverso</a:t>
            </a:r>
            <a:r>
              <a:rPr lang="en-US" sz="2400" dirty="0"/>
              <a:t> </a:t>
            </a:r>
            <a:r>
              <a:rPr lang="en-US" sz="2400" dirty="0" err="1"/>
              <a:t>tipo</a:t>
            </a:r>
            <a:r>
              <a:rPr lang="en-US" sz="2400" dirty="0"/>
              <a:t> di </a:t>
            </a:r>
            <a:r>
              <a:rPr lang="en-US" sz="2400" dirty="0" err="1"/>
              <a:t>contesto</a:t>
            </a:r>
            <a:r>
              <a:rPr lang="en-US" sz="2400" dirty="0"/>
              <a:t> (es. </a:t>
            </a:r>
            <a:r>
              <a:rPr lang="en-US" sz="2400" dirty="0" err="1"/>
              <a:t>eventi</a:t>
            </a:r>
            <a:r>
              <a:rPr lang="en-US" sz="2400" dirty="0"/>
              <a:t> </a:t>
            </a:r>
            <a:r>
              <a:rPr lang="en-US" sz="2400" dirty="0" err="1"/>
              <a:t>epidemiologici</a:t>
            </a:r>
            <a:r>
              <a:rPr lang="en-US" sz="2400" dirty="0"/>
              <a:t>)</a:t>
            </a:r>
          </a:p>
          <a:p>
            <a:endParaRPr lang="it-IT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7198D2DE-8328-4831-AEBE-F36223151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356" y="203745"/>
            <a:ext cx="8507288" cy="1143000"/>
          </a:xfrm>
        </p:spPr>
        <p:txBody>
          <a:bodyPr>
            <a:normAutofit/>
          </a:bodyPr>
          <a:lstStyle/>
          <a:p>
            <a:r>
              <a:rPr lang="en-US"/>
              <a:t>Conclusioni e prospettive future</a:t>
            </a:r>
            <a:endParaRPr lang="it-IT" dirty="0"/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629F7E1D-464D-4F05-BB8A-677BF9479213}"/>
              </a:ext>
            </a:extLst>
          </p:cNvPr>
          <p:cNvSpPr txBox="1">
            <a:spLocks/>
          </p:cNvSpPr>
          <p:nvPr/>
        </p:nvSpPr>
        <p:spPr>
          <a:xfrm>
            <a:off x="2060966" y="3636745"/>
            <a:ext cx="8070068" cy="1773091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txBody>
          <a:bodyPr vert="horz" rtlCol="0" anchor="ctr">
            <a:no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5400" dirty="0">
                <a:solidFill>
                  <a:srgbClr val="0E8EAE"/>
                </a:solidFill>
                <a:latin typeface="Broadway" panose="04040905080B02020502" pitchFamily="82" charset="0"/>
              </a:rPr>
              <a:t>GRAZIE PER L’ATTENZIONE</a:t>
            </a:r>
            <a:endParaRPr lang="it-IT" sz="5400" dirty="0">
              <a:solidFill>
                <a:srgbClr val="0E8EAE"/>
              </a:solidFill>
              <a:latin typeface="Broadway" panose="04040905080B02020502" pitchFamily="82" charset="0"/>
            </a:endParaRPr>
          </a:p>
        </p:txBody>
      </p:sp>
      <p:pic>
        <p:nvPicPr>
          <p:cNvPr id="5" name="Immagine 4" descr="Immagine che contiene disegnando&#10;&#10;Descrizione generata automaticamente">
            <a:extLst>
              <a:ext uri="{FF2B5EF4-FFF2-40B4-BE49-F238E27FC236}">
                <a16:creationId xmlns:a16="http://schemas.microsoft.com/office/drawing/2014/main" id="{AD225A12-3BCA-477A-A764-839372D454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0274" y="4740274"/>
            <a:ext cx="1836326" cy="1836326"/>
          </a:xfrm>
          <a:prstGeom prst="rect">
            <a:avLst/>
          </a:prstGeom>
        </p:spPr>
      </p:pic>
      <p:sp>
        <p:nvSpPr>
          <p:cNvPr id="6" name="Sottotitolo 2">
            <a:extLst>
              <a:ext uri="{FF2B5EF4-FFF2-40B4-BE49-F238E27FC236}">
                <a16:creationId xmlns:a16="http://schemas.microsoft.com/office/drawing/2014/main" id="{1A0105C4-4F16-4D11-BBAE-449C0524B8A2}"/>
              </a:ext>
            </a:extLst>
          </p:cNvPr>
          <p:cNvSpPr txBox="1">
            <a:spLocks/>
          </p:cNvSpPr>
          <p:nvPr/>
        </p:nvSpPr>
        <p:spPr>
          <a:xfrm>
            <a:off x="5770562" y="5659096"/>
            <a:ext cx="3888432" cy="668243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 err="1"/>
              <a:t>Codice</a:t>
            </a:r>
            <a:r>
              <a:rPr lang="en-US" sz="1800" dirty="0"/>
              <a:t> </a:t>
            </a:r>
            <a:r>
              <a:rPr lang="en-US" sz="1800" dirty="0" err="1"/>
              <a:t>sorgente</a:t>
            </a:r>
            <a:r>
              <a:rPr lang="en-US" sz="1800" dirty="0"/>
              <a:t>:</a:t>
            </a:r>
          </a:p>
          <a:p>
            <a:pPr marL="109728" indent="0">
              <a:buNone/>
            </a:pPr>
            <a:r>
              <a:rPr lang="it-IT" sz="1800" dirty="0">
                <a:hlinkClick r:id="rId3"/>
              </a:rPr>
              <a:t>https://github.com/fedelux3/BostonCrime</a:t>
            </a:r>
            <a:endParaRPr lang="it-IT" sz="1800" dirty="0"/>
          </a:p>
        </p:txBody>
      </p:sp>
    </p:spTree>
    <p:extLst>
      <p:ext uri="{BB962C8B-B14F-4D97-AF65-F5344CB8AC3E}">
        <p14:creationId xmlns:p14="http://schemas.microsoft.com/office/powerpoint/2010/main" val="3837183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4" grpId="0" build="allAtOnce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Vial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36D46CB-964F-4BC7-AE9A-8AF03533C7D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Modello Gabbiano</Template>
  <TotalTime>1949</TotalTime>
  <Words>566</Words>
  <Application>Microsoft Office PowerPoint</Application>
  <PresentationFormat>Widescreen</PresentationFormat>
  <Paragraphs>121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Broadway</vt:lpstr>
      <vt:lpstr>Cambria Math</vt:lpstr>
      <vt:lpstr>Lucida Sans Unicode</vt:lpstr>
      <vt:lpstr>Verdana</vt:lpstr>
      <vt:lpstr>Wingdings 2</vt:lpstr>
      <vt:lpstr>Wingdings 3</vt:lpstr>
      <vt:lpstr>Viale</vt:lpstr>
      <vt:lpstr>Identificazione di eventi spazio-temporali associati: studio e implementazione su dataset di crimini</vt:lpstr>
      <vt:lpstr>Paper e Dataset utilizzato</vt:lpstr>
      <vt:lpstr>Stato dell’Arte</vt:lpstr>
      <vt:lpstr>Stato dell’Arte</vt:lpstr>
      <vt:lpstr>Algoritmo STBFM</vt:lpstr>
      <vt:lpstr>Sequence Pattern Tree (SPTree)</vt:lpstr>
      <vt:lpstr>Implementazione e dataset di test</vt:lpstr>
      <vt:lpstr>Analisi dei risultati</vt:lpstr>
      <vt:lpstr>Analisi dei risultati</vt:lpstr>
      <vt:lpstr>Conclusioni e prospettive 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RISCHIO DI CREDITO</dc:title>
  <dc:creator>Fede Luzzi</dc:creator>
  <cp:keywords/>
  <cp:lastModifiedBy>Fede Luzzi</cp:lastModifiedBy>
  <cp:revision>66</cp:revision>
  <dcterms:created xsi:type="dcterms:W3CDTF">2019-10-08T07:28:59Z</dcterms:created>
  <dcterms:modified xsi:type="dcterms:W3CDTF">2019-10-18T09:32:34Z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TC020188469991</vt:lpwstr>
  </property>
</Properties>
</file>