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sldIdLst>
    <p:sldId id="256" r:id="rId3"/>
    <p:sldId id="258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olo rettango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it-IT"/>
              <a:t>Fare clic per modificare lo stile del sottotitolo dello schema</a:t>
            </a:r>
            <a:endParaRPr kumimoji="0" lang="en-US"/>
          </a:p>
        </p:txBody>
      </p:sp>
      <p:grpSp>
        <p:nvGrpSpPr>
          <p:cNvPr id="2" name="Grup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igura a mano libera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igura a mano libera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igura a mano libera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nettore 1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Gallone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Gallone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it-IT"/>
              <a:t>Fare clic sull'icona per inserire un'immagine</a:t>
            </a:r>
            <a:endParaRPr kumimoji="0"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olo rettango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nettore 1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allone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Gallone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igura a mano libera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angolo rettango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nettore 1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  <a:p>
            <a:pPr lvl="1" eaLnBrk="1" latinLnBrk="0" hangingPunct="1"/>
            <a:r>
              <a:rPr kumimoji="0" lang="it-IT"/>
              <a:t>Secondo livello</a:t>
            </a:r>
          </a:p>
          <a:p>
            <a:pPr lvl="2" eaLnBrk="1" latinLnBrk="0" hangingPunct="1"/>
            <a:r>
              <a:rPr kumimoji="0" lang="it-IT"/>
              <a:t>Terzo livello</a:t>
            </a:r>
          </a:p>
          <a:p>
            <a:pPr lvl="3" eaLnBrk="1" latinLnBrk="0" hangingPunct="1"/>
            <a:r>
              <a:rPr kumimoji="0" lang="it-IT"/>
              <a:t>Quarto livello</a:t>
            </a:r>
          </a:p>
          <a:p>
            <a:pPr lvl="4" eaLnBrk="1" latinLnBrk="0" hangingPunct="1"/>
            <a:r>
              <a:rPr kumimoji="0" lang="it-IT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12/10/2019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ata.boston.gov/dataset/crime-incident-reports-august-2015-to-date-source-new-syste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github.com/fedelux3/BostonCrim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39552" y="1890966"/>
            <a:ext cx="7932498" cy="1871811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600" dirty="0"/>
              <a:t>Identificazione di eventi spazio-temporali associati: studio e implementazione su dataset di crimini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9E5C38D-810E-47E8-939E-98A514F75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2017"/>
            <a:ext cx="1008112" cy="98806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0FCA91-9875-44F3-9180-8489EFF4E487}"/>
              </a:ext>
            </a:extLst>
          </p:cNvPr>
          <p:cNvSpPr txBox="1"/>
          <p:nvPr/>
        </p:nvSpPr>
        <p:spPr>
          <a:xfrm>
            <a:off x="2076238" y="292017"/>
            <a:ext cx="6120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Università</a:t>
            </a:r>
            <a:r>
              <a:rPr lang="en-US" sz="1600" dirty="0"/>
              <a:t> </a:t>
            </a:r>
            <a:r>
              <a:rPr lang="en-US" sz="1600" dirty="0" err="1"/>
              <a:t>degli</a:t>
            </a:r>
            <a:r>
              <a:rPr lang="en-US" sz="1600" dirty="0"/>
              <a:t> </a:t>
            </a:r>
            <a:r>
              <a:rPr lang="en-US" sz="1600" dirty="0" err="1"/>
              <a:t>studi</a:t>
            </a:r>
            <a:r>
              <a:rPr lang="en-US" sz="1600" dirty="0"/>
              <a:t> di Milano Bicocca</a:t>
            </a:r>
          </a:p>
          <a:p>
            <a:r>
              <a:rPr lang="en-US" sz="1600" b="1" dirty="0" err="1"/>
              <a:t>Scuola</a:t>
            </a:r>
            <a:r>
              <a:rPr lang="en-US" sz="1600" b="1" dirty="0"/>
              <a:t> di </a:t>
            </a:r>
            <a:r>
              <a:rPr lang="en-US" sz="1600" b="1" dirty="0" err="1"/>
              <a:t>Scienze</a:t>
            </a:r>
            <a:endParaRPr lang="en-US" sz="1600" b="1" dirty="0"/>
          </a:p>
          <a:p>
            <a:r>
              <a:rPr lang="en-US" sz="1600" b="1" dirty="0" err="1"/>
              <a:t>Dipartimento</a:t>
            </a:r>
            <a:r>
              <a:rPr lang="en-US" sz="1600" b="1" dirty="0"/>
              <a:t> di </a:t>
            </a:r>
            <a:r>
              <a:rPr lang="it-IT" sz="1600" b="1" dirty="0"/>
              <a:t>Informatica</a:t>
            </a:r>
            <a:r>
              <a:rPr lang="en-US" sz="1600" b="1" dirty="0"/>
              <a:t>, </a:t>
            </a:r>
            <a:r>
              <a:rPr lang="en-US" sz="1600" b="1" dirty="0" err="1"/>
              <a:t>Sistemistica</a:t>
            </a:r>
            <a:r>
              <a:rPr lang="en-US" sz="1600" b="1" dirty="0"/>
              <a:t> e </a:t>
            </a:r>
            <a:r>
              <a:rPr lang="en-US" sz="1600" b="1" dirty="0" err="1"/>
              <a:t>Comunicazione</a:t>
            </a:r>
            <a:endParaRPr lang="en-US" sz="1600" b="1" dirty="0"/>
          </a:p>
          <a:p>
            <a:r>
              <a:rPr lang="en-US" sz="1600" b="1" dirty="0"/>
              <a:t>Corso di </a:t>
            </a:r>
            <a:r>
              <a:rPr lang="en-US" sz="1600" b="1" dirty="0" err="1"/>
              <a:t>laurea</a:t>
            </a:r>
            <a:r>
              <a:rPr lang="en-US" sz="1600" b="1" dirty="0"/>
              <a:t> in Informatica</a:t>
            </a:r>
            <a:endParaRPr lang="it-IT" sz="16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3F04D9-BC20-475A-9212-643CBA668B28}"/>
              </a:ext>
            </a:extLst>
          </p:cNvPr>
          <p:cNvSpPr txBox="1"/>
          <p:nvPr/>
        </p:nvSpPr>
        <p:spPr>
          <a:xfrm>
            <a:off x="42817" y="5301208"/>
            <a:ext cx="4509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Prof. Fabio Antonio Stella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Corelatore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 err="1">
                <a:solidFill>
                  <a:schemeClr val="bg1"/>
                </a:solidFill>
              </a:rPr>
              <a:t>Dott.ssa</a:t>
            </a:r>
            <a:r>
              <a:rPr lang="en-US" sz="2000" b="1" dirty="0">
                <a:solidFill>
                  <a:schemeClr val="bg1"/>
                </a:solidFill>
              </a:rPr>
              <a:t> Paola Chiesa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6FF2545-EA2C-4AB7-8D34-E3E845BAFEA7}"/>
              </a:ext>
            </a:extLst>
          </p:cNvPr>
          <p:cNvSpPr txBox="1"/>
          <p:nvPr/>
        </p:nvSpPr>
        <p:spPr>
          <a:xfrm>
            <a:off x="5220072" y="5734986"/>
            <a:ext cx="4041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Relazione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della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prova</a:t>
            </a:r>
            <a:r>
              <a:rPr lang="en-US" sz="2000" dirty="0">
                <a:solidFill>
                  <a:schemeClr val="bg1"/>
                </a:solidFill>
              </a:rPr>
              <a:t> finale di: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Federico Luzzi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Matricola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816753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86122DA-1238-43E5-B5E1-DEEF3B3B2B78}"/>
              </a:ext>
            </a:extLst>
          </p:cNvPr>
          <p:cNvSpPr txBox="1"/>
          <p:nvPr/>
        </p:nvSpPr>
        <p:spPr>
          <a:xfrm>
            <a:off x="543907" y="6381317"/>
            <a:ext cx="378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Anno </a:t>
            </a:r>
            <a:r>
              <a:rPr lang="en-US" dirty="0" err="1">
                <a:solidFill>
                  <a:schemeClr val="bg1"/>
                </a:solidFill>
              </a:rPr>
              <a:t>Accademico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2018 - 2019</a:t>
            </a:r>
            <a:endParaRPr lang="it-IT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D74B050E-D832-48DB-9512-8E6BE496C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943" y="2222025"/>
            <a:ext cx="8229600" cy="105416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de-DE" sz="1800" b="1" dirty="0"/>
          </a:p>
          <a:p>
            <a:r>
              <a:rPr lang="de-DE" sz="1800" dirty="0" err="1"/>
              <a:t>L‘algoritmo</a:t>
            </a:r>
            <a:r>
              <a:rPr lang="de-DE" sz="1800" dirty="0"/>
              <a:t> </a:t>
            </a:r>
            <a:r>
              <a:rPr lang="de-DE" sz="1800" dirty="0" err="1"/>
              <a:t>preso</a:t>
            </a:r>
            <a:r>
              <a:rPr lang="de-DE" sz="1800" dirty="0"/>
              <a:t> in </a:t>
            </a:r>
            <a:r>
              <a:rPr lang="de-DE" sz="1800" dirty="0" err="1"/>
              <a:t>esame</a:t>
            </a:r>
            <a:r>
              <a:rPr lang="de-DE" sz="1800" dirty="0"/>
              <a:t>: </a:t>
            </a:r>
            <a:r>
              <a:rPr lang="de-DE" sz="1800" b="1" dirty="0" err="1"/>
              <a:t>Spatio</a:t>
            </a:r>
            <a:r>
              <a:rPr lang="de-DE" sz="1800" b="1" dirty="0"/>
              <a:t>-temporal </a:t>
            </a:r>
            <a:r>
              <a:rPr lang="de-DE" sz="1800" b="1" dirty="0" err="1"/>
              <a:t>Breadth</a:t>
            </a:r>
            <a:r>
              <a:rPr lang="de-DE" sz="1800" b="1" dirty="0"/>
              <a:t>-first Miner (STBFM)</a:t>
            </a:r>
            <a:endParaRPr lang="en-US" sz="1800" dirty="0"/>
          </a:p>
          <a:p>
            <a:pPr marL="109728" indent="0">
              <a:buNone/>
            </a:pPr>
            <a:endParaRPr lang="de-DE" sz="18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FC337B4-8827-4368-BBE3-7CA55A9E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Paper e Dataset </a:t>
            </a:r>
            <a:r>
              <a:rPr lang="en-US" dirty="0" err="1"/>
              <a:t>utilizzato</a:t>
            </a:r>
            <a:endParaRPr lang="it-IT" dirty="0"/>
          </a:p>
        </p:txBody>
      </p:sp>
      <p:sp>
        <p:nvSpPr>
          <p:cNvPr id="4" name="Segnaposto contenuto 1">
            <a:extLst>
              <a:ext uri="{FF2B5EF4-FFF2-40B4-BE49-F238E27FC236}">
                <a16:creationId xmlns:a16="http://schemas.microsoft.com/office/drawing/2014/main" id="{EEB2E799-03C8-4615-85DA-821461ED4038}"/>
              </a:ext>
            </a:extLst>
          </p:cNvPr>
          <p:cNvSpPr txBox="1">
            <a:spLocks/>
          </p:cNvSpPr>
          <p:nvPr/>
        </p:nvSpPr>
        <p:spPr>
          <a:xfrm>
            <a:off x="2474145" y="4278603"/>
            <a:ext cx="6840760" cy="167075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I record </a:t>
            </a:r>
            <a:r>
              <a:rPr lang="en-US" sz="1800" dirty="0" err="1"/>
              <a:t>rispettano</a:t>
            </a:r>
            <a:r>
              <a:rPr lang="en-US" sz="1800" dirty="0"/>
              <a:t> le </a:t>
            </a:r>
            <a:r>
              <a:rPr lang="en-US" sz="1800" dirty="0" err="1"/>
              <a:t>seguenti</a:t>
            </a:r>
            <a:r>
              <a:rPr lang="en-US" sz="1800" dirty="0"/>
              <a:t> </a:t>
            </a:r>
            <a:r>
              <a:rPr lang="en-US" sz="1800" dirty="0" err="1"/>
              <a:t>caratteristiche</a:t>
            </a:r>
            <a:r>
              <a:rPr lang="en-US" sz="1800" dirty="0"/>
              <a:t>: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Chiave</a:t>
            </a:r>
            <a:r>
              <a:rPr lang="de-DE" sz="1800" dirty="0"/>
              <a:t> ID </a:t>
            </a:r>
            <a:r>
              <a:rPr lang="de-DE" sz="1800" dirty="0" err="1"/>
              <a:t>unica</a:t>
            </a:r>
            <a:endParaRPr lang="de-DE" sz="1800" dirty="0"/>
          </a:p>
          <a:p>
            <a:pPr marL="452628" indent="-342900">
              <a:buFont typeface="+mj-lt"/>
              <a:buAutoNum type="arabicPeriod"/>
            </a:pPr>
            <a:r>
              <a:rPr lang="de-DE" sz="1800" dirty="0"/>
              <a:t>Location </a:t>
            </a:r>
            <a:r>
              <a:rPr lang="de-DE" sz="1800" dirty="0" err="1"/>
              <a:t>spaziale</a:t>
            </a:r>
            <a:r>
              <a:rPr lang="de-DE" sz="1800" dirty="0"/>
              <a:t> (</a:t>
            </a:r>
            <a:r>
              <a:rPr lang="de-DE" sz="1800" dirty="0" err="1"/>
              <a:t>latitudine</a:t>
            </a:r>
            <a:r>
              <a:rPr lang="de-DE" sz="1800" dirty="0"/>
              <a:t>, </a:t>
            </a:r>
            <a:r>
              <a:rPr lang="de-DE" sz="1800" dirty="0" err="1"/>
              <a:t>longitudine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Istante</a:t>
            </a:r>
            <a:r>
              <a:rPr lang="de-DE" sz="1800" dirty="0"/>
              <a:t> temporale </a:t>
            </a:r>
            <a:r>
              <a:rPr lang="de-DE" sz="1800" dirty="0" err="1"/>
              <a:t>preciso</a:t>
            </a:r>
            <a:r>
              <a:rPr lang="de-DE" sz="1800" dirty="0"/>
              <a:t> (</a:t>
            </a:r>
            <a:r>
              <a:rPr lang="de-DE" sz="1800" dirty="0" err="1"/>
              <a:t>data</a:t>
            </a:r>
            <a:r>
              <a:rPr lang="de-DE" sz="1800" dirty="0"/>
              <a:t>, </a:t>
            </a:r>
            <a:r>
              <a:rPr lang="de-DE" sz="1800" dirty="0" err="1"/>
              <a:t>ora</a:t>
            </a:r>
            <a:r>
              <a:rPr lang="de-DE" sz="1800" dirty="0"/>
              <a:t>, </a:t>
            </a:r>
            <a:r>
              <a:rPr lang="de-DE" sz="1800" dirty="0" err="1"/>
              <a:t>minuto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Tipologia</a:t>
            </a:r>
            <a:r>
              <a:rPr lang="de-DE" sz="1800" dirty="0"/>
              <a:t> di </a:t>
            </a:r>
            <a:r>
              <a:rPr lang="de-DE" sz="1800" dirty="0" err="1"/>
              <a:t>evento</a:t>
            </a:r>
            <a:r>
              <a:rPr lang="de-DE" sz="1800" dirty="0"/>
              <a:t> (</a:t>
            </a:r>
            <a:r>
              <a:rPr lang="de-DE" sz="1800" dirty="0" err="1"/>
              <a:t>aggressione</a:t>
            </a:r>
            <a:r>
              <a:rPr lang="de-DE" sz="1800" dirty="0"/>
              <a:t>, </a:t>
            </a:r>
            <a:r>
              <a:rPr lang="de-DE" sz="1800" dirty="0" err="1"/>
              <a:t>furto</a:t>
            </a:r>
            <a:r>
              <a:rPr lang="de-DE" sz="1800" dirty="0"/>
              <a:t>, </a:t>
            </a:r>
            <a:r>
              <a:rPr lang="de-DE" sz="1800" dirty="0" err="1"/>
              <a:t>omicidio</a:t>
            </a:r>
            <a:r>
              <a:rPr lang="de-DE" sz="1800" dirty="0"/>
              <a:t>)</a:t>
            </a:r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068F6011-1833-4DEE-B98F-F9AB2BEDA402}"/>
              </a:ext>
            </a:extLst>
          </p:cNvPr>
          <p:cNvSpPr txBox="1">
            <a:spLocks/>
          </p:cNvSpPr>
          <p:nvPr/>
        </p:nvSpPr>
        <p:spPr>
          <a:xfrm>
            <a:off x="611560" y="1483874"/>
            <a:ext cx="8229600" cy="9361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Il </a:t>
            </a:r>
            <a:r>
              <a:rPr lang="en-US" sz="1800" dirty="0" err="1"/>
              <a:t>lavoro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basa</a:t>
            </a:r>
            <a:r>
              <a:rPr lang="en-US" sz="1800" dirty="0"/>
              <a:t> sul paper:</a:t>
            </a:r>
            <a:r>
              <a:rPr lang="it-IT" sz="1800" dirty="0"/>
              <a:t> </a:t>
            </a:r>
            <a:r>
              <a:rPr lang="it-IT" sz="1800" b="1" dirty="0"/>
              <a:t>A </a:t>
            </a:r>
            <a:r>
              <a:rPr lang="it-IT" sz="1800" b="1" dirty="0" err="1"/>
              <a:t>Novel</a:t>
            </a:r>
            <a:r>
              <a:rPr lang="it-IT" sz="1800" b="1" dirty="0"/>
              <a:t> </a:t>
            </a:r>
            <a:r>
              <a:rPr lang="it-IT" sz="1800" b="1" dirty="0" err="1"/>
              <a:t>Breadth</a:t>
            </a:r>
            <a:r>
              <a:rPr lang="it-IT" sz="1800" b="1" dirty="0"/>
              <a:t>-first Strategy </a:t>
            </a:r>
            <a:r>
              <a:rPr lang="it-IT" sz="1800" b="1" dirty="0" err="1"/>
              <a:t>Algorithm</a:t>
            </a:r>
            <a:r>
              <a:rPr lang="it-IT" sz="1800" b="1" dirty="0"/>
              <a:t> for </a:t>
            </a:r>
            <a:r>
              <a:rPr lang="it-IT" sz="1800" b="1" dirty="0" err="1"/>
              <a:t>Dscovering</a:t>
            </a:r>
            <a:r>
              <a:rPr lang="it-IT" sz="1800" b="1" dirty="0"/>
              <a:t> </a:t>
            </a:r>
            <a:r>
              <a:rPr lang="it-IT" sz="1800" b="1" dirty="0" err="1"/>
              <a:t>Sequential</a:t>
            </a:r>
            <a:r>
              <a:rPr lang="it-IT" sz="1800" b="1" dirty="0"/>
              <a:t> Patterns from </a:t>
            </a:r>
            <a:r>
              <a:rPr lang="it-IT" sz="1800" b="1" dirty="0" err="1"/>
              <a:t>Spatio-temporal</a:t>
            </a:r>
            <a:r>
              <a:rPr lang="it-IT" sz="1800" b="1" dirty="0"/>
              <a:t> Data </a:t>
            </a:r>
            <a:r>
              <a:rPr lang="it-IT" sz="1800" dirty="0"/>
              <a:t>(</a:t>
            </a:r>
            <a:r>
              <a:rPr lang="de-DE" sz="1800" i="1" dirty="0"/>
              <a:t>Piotr S. </a:t>
            </a:r>
            <a:r>
              <a:rPr lang="de-DE" sz="1800" i="1" dirty="0" err="1"/>
              <a:t>Maciag</a:t>
            </a:r>
            <a:r>
              <a:rPr lang="de-DE" sz="1800" i="1" dirty="0"/>
              <a:t> e Robert </a:t>
            </a:r>
            <a:r>
              <a:rPr lang="de-DE" sz="1800" i="1" dirty="0" err="1"/>
              <a:t>Bembenik</a:t>
            </a:r>
            <a:r>
              <a:rPr lang="de-DE" sz="1800" i="1" dirty="0"/>
              <a:t>, 2019</a:t>
            </a:r>
            <a:r>
              <a:rPr lang="de-DE" sz="1800" dirty="0"/>
              <a:t>)</a:t>
            </a:r>
          </a:p>
          <a:p>
            <a:endParaRPr lang="de-DE" sz="1800" b="1" dirty="0"/>
          </a:p>
          <a:p>
            <a:pPr marL="109728" indent="0">
              <a:buFont typeface="Wingdings 3"/>
              <a:buNone/>
            </a:pPr>
            <a:endParaRPr lang="de-DE" sz="1800" dirty="0"/>
          </a:p>
        </p:txBody>
      </p:sp>
      <p:sp>
        <p:nvSpPr>
          <p:cNvPr id="6" name="Segnaposto contenuto 1">
            <a:extLst>
              <a:ext uri="{FF2B5EF4-FFF2-40B4-BE49-F238E27FC236}">
                <a16:creationId xmlns:a16="http://schemas.microsoft.com/office/drawing/2014/main" id="{7B172736-3961-4471-8924-9E5FE2467003}"/>
              </a:ext>
            </a:extLst>
          </p:cNvPr>
          <p:cNvSpPr txBox="1">
            <a:spLocks/>
          </p:cNvSpPr>
          <p:nvPr/>
        </p:nvSpPr>
        <p:spPr>
          <a:xfrm>
            <a:off x="610943" y="3011919"/>
            <a:ext cx="8229600" cy="126668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endParaRPr lang="en-US" sz="1800" b="1" dirty="0"/>
          </a:p>
          <a:p>
            <a:r>
              <a:rPr lang="en-US" sz="1800" dirty="0"/>
              <a:t>Il dataset </a:t>
            </a:r>
            <a:r>
              <a:rPr lang="en-US" sz="1800" dirty="0" err="1"/>
              <a:t>scelto</a:t>
            </a:r>
            <a:r>
              <a:rPr lang="en-US" sz="1800" dirty="0"/>
              <a:t> per </a:t>
            </a:r>
            <a:r>
              <a:rPr lang="en-US" sz="1800" dirty="0" err="1"/>
              <a:t>l’applicazione</a:t>
            </a:r>
            <a:r>
              <a:rPr lang="en-US" sz="1800" dirty="0"/>
              <a:t> è del Department of Innovation and Technology del Boston Police Department, </a:t>
            </a:r>
            <a:r>
              <a:rPr lang="en-US" sz="1800" dirty="0" err="1"/>
              <a:t>dati</a:t>
            </a:r>
            <a:r>
              <a:rPr lang="en-US" sz="1800" dirty="0"/>
              <a:t> del 2018 </a:t>
            </a:r>
            <a:r>
              <a:rPr lang="it-IT" sz="1800" dirty="0">
                <a:hlinkClick r:id="rId2"/>
              </a:rPr>
              <a:t>https://data.boston.gov/dataset/crime-incident-reports-august-2015-to-date-source-new-system</a:t>
            </a:r>
            <a:endParaRPr lang="en-US" sz="1800" dirty="0"/>
          </a:p>
          <a:p>
            <a:endParaRPr lang="en-US" sz="1800" dirty="0"/>
          </a:p>
          <a:p>
            <a:pPr marL="109728" indent="0">
              <a:buFont typeface="Wingdings 3"/>
              <a:buNone/>
            </a:pPr>
            <a:endParaRPr lang="de-DE" sz="1800" dirty="0"/>
          </a:p>
        </p:txBody>
      </p:sp>
      <p:pic>
        <p:nvPicPr>
          <p:cNvPr id="1026" name="Picture 2" descr="Risultati immagini per boston police department logo">
            <a:extLst>
              <a:ext uri="{FF2B5EF4-FFF2-40B4-BE49-F238E27FC236}">
                <a16:creationId xmlns:a16="http://schemas.microsoft.com/office/drawing/2014/main" id="{270EF616-16FD-4DB7-ADA5-6997C7F1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14" y="4216805"/>
            <a:ext cx="1518061" cy="179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97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AE8991F2-9CBC-4A52-BC95-56EABB89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8449"/>
            <a:ext cx="4899818" cy="3727951"/>
          </a:xfrm>
          <a:prstGeom prst="rect">
            <a:avLst/>
          </a:prstGeom>
        </p:spPr>
      </p:pic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D8EFE16-4DD7-4F16-98C3-6D932A9D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19673"/>
            <a:ext cx="4392488" cy="873224"/>
          </a:xfrm>
        </p:spPr>
        <p:txBody>
          <a:bodyPr>
            <a:normAutofit/>
          </a:bodyPr>
          <a:lstStyle/>
          <a:p>
            <a:r>
              <a:rPr lang="en-US" sz="1600" b="1" dirty="0"/>
              <a:t>Neighborhood</a:t>
            </a:r>
            <a:r>
              <a:rPr lang="en-US" sz="1600" dirty="0"/>
              <a:t> </a:t>
            </a:r>
            <a:r>
              <a:rPr lang="en-US" sz="1600" dirty="0" err="1"/>
              <a:t>definito</a:t>
            </a:r>
            <a:r>
              <a:rPr lang="en-US" sz="1600" dirty="0"/>
              <a:t> da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spaziale</a:t>
            </a:r>
            <a:r>
              <a:rPr lang="en-US" sz="1600" dirty="0"/>
              <a:t> </a:t>
            </a:r>
            <a:r>
              <a:rPr lang="en-US" sz="1600" b="1" dirty="0"/>
              <a:t>R</a:t>
            </a:r>
            <a:r>
              <a:rPr lang="en-US" sz="1600" dirty="0"/>
              <a:t> ed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temporale</a:t>
            </a:r>
            <a:r>
              <a:rPr lang="en-US" sz="1600" dirty="0"/>
              <a:t> </a:t>
            </a:r>
            <a:r>
              <a:rPr lang="en-US" sz="1600" b="1" dirty="0"/>
              <a:t>T</a:t>
            </a:r>
            <a:r>
              <a:rPr lang="en-US" sz="1600" dirty="0"/>
              <a:t>:</a:t>
            </a:r>
            <a:endParaRPr lang="it-IT" sz="16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49F0703-FF79-4697-A6AD-478DE2B1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16632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2CA663DD-65B7-4B15-9218-25EE749F3CF6}"/>
              </a:ext>
            </a:extLst>
          </p:cNvPr>
          <p:cNvSpPr txBox="1">
            <a:spLocks/>
          </p:cNvSpPr>
          <p:nvPr/>
        </p:nvSpPr>
        <p:spPr>
          <a:xfrm>
            <a:off x="611560" y="476672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Neighborhood (o </a:t>
            </a:r>
            <a:r>
              <a:rPr lang="en-US" sz="2400" dirty="0" err="1"/>
              <a:t>vicinato</a:t>
            </a:r>
            <a:r>
              <a:rPr lang="en-US" sz="2400" dirty="0"/>
              <a:t>) e Set di </a:t>
            </a:r>
            <a:r>
              <a:rPr lang="en-US" sz="2400" dirty="0" err="1"/>
              <a:t>Istanze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CBC66E2-3E46-423B-81F7-53FD151F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72" y="2202490"/>
            <a:ext cx="4246952" cy="9361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24E8B82-DEB2-4253-9DE3-CAD54E02B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455" y="4272091"/>
            <a:ext cx="3060551" cy="315928"/>
          </a:xfrm>
          <a:prstGeom prst="rect">
            <a:avLst/>
          </a:prstGeom>
        </p:spPr>
      </p:pic>
      <p:sp>
        <p:nvSpPr>
          <p:cNvPr id="10" name="Segnaposto contenuto 1">
            <a:extLst>
              <a:ext uri="{FF2B5EF4-FFF2-40B4-BE49-F238E27FC236}">
                <a16:creationId xmlns:a16="http://schemas.microsoft.com/office/drawing/2014/main" id="{45794F42-E4CC-4264-BBBC-6E3B1A1D22E1}"/>
              </a:ext>
            </a:extLst>
          </p:cNvPr>
          <p:cNvSpPr txBox="1">
            <a:spLocks/>
          </p:cNvSpPr>
          <p:nvPr/>
        </p:nvSpPr>
        <p:spPr>
          <a:xfrm>
            <a:off x="4459379" y="3760611"/>
            <a:ext cx="4392488" cy="136814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5750" indent="-285750"/>
            <a:r>
              <a:rPr lang="en-US" sz="1600" b="1" dirty="0"/>
              <a:t>Set di </a:t>
            </a:r>
            <a:r>
              <a:rPr lang="en-US" sz="1600" b="1" dirty="0" err="1"/>
              <a:t>istanze</a:t>
            </a:r>
            <a:r>
              <a:rPr lang="en-US" sz="1600" dirty="0"/>
              <a:t> per una </a:t>
            </a:r>
            <a:r>
              <a:rPr lang="en-US" sz="1600" dirty="0" err="1"/>
              <a:t>sequenza</a:t>
            </a:r>
            <a:r>
              <a:rPr lang="en-US" sz="1600" dirty="0"/>
              <a:t> di tipi di </a:t>
            </a:r>
            <a:r>
              <a:rPr lang="en-US" sz="1600" dirty="0" err="1"/>
              <a:t>eventi</a:t>
            </a:r>
            <a:r>
              <a:rPr lang="en-US" sz="1600" dirty="0"/>
              <a:t>: </a:t>
            </a:r>
          </a:p>
          <a:p>
            <a:pPr marL="109728" indent="0">
              <a:buNone/>
            </a:pPr>
            <a:endParaRPr lang="en-US" sz="1600" dirty="0"/>
          </a:p>
          <a:p>
            <a:pPr marL="109728" indent="0">
              <a:buNone/>
            </a:pPr>
            <a:r>
              <a:rPr lang="en-US" sz="1600" dirty="0"/>
              <a:t>    di </a:t>
            </a:r>
            <a:r>
              <a:rPr lang="en-US" sz="1600" dirty="0" err="1"/>
              <a:t>lunghezza</a:t>
            </a:r>
            <a:r>
              <a:rPr lang="en-US" sz="1600" dirty="0"/>
              <a:t> m</a:t>
            </a:r>
            <a:endParaRPr lang="it-IT" sz="16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C4DE8432-AFCD-4166-B792-EF6DC480AEEF}"/>
              </a:ext>
            </a:extLst>
          </p:cNvPr>
          <p:cNvSpPr txBox="1">
            <a:spLocks/>
          </p:cNvSpPr>
          <p:nvPr/>
        </p:nvSpPr>
        <p:spPr>
          <a:xfrm>
            <a:off x="4809272" y="4919101"/>
            <a:ext cx="4392488" cy="13681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>
              <a:buFont typeface="+mj-lt"/>
              <a:buAutoNum type="arabicPeriod"/>
            </a:pPr>
            <a:r>
              <a:rPr lang="en-US" sz="1600" dirty="0"/>
              <a:t>Per un </a:t>
            </a:r>
            <a:r>
              <a:rPr lang="en-US" sz="1600" dirty="0" err="1"/>
              <a:t>tipo</a:t>
            </a:r>
            <a:r>
              <a:rPr lang="en-US" sz="1600" dirty="0"/>
              <a:t>  s[1]:                                     …………..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Per </a:t>
            </a:r>
            <a:r>
              <a:rPr lang="en-US" sz="1600" dirty="0" err="1"/>
              <a:t>i</a:t>
            </a:r>
            <a:r>
              <a:rPr lang="en-US" sz="1600" dirty="0"/>
              <a:t> tipi s[2]……………….. :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C25C6F6-313F-4C8F-8FD3-D1934A6DF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301" y="5449820"/>
            <a:ext cx="1781175" cy="28575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F7B3EEE-56C2-44F8-942E-C90BEEF3B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193" y="4896201"/>
            <a:ext cx="428625" cy="2952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0FE459A-F9C5-4B77-8845-9A03D83AF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664" y="5774178"/>
            <a:ext cx="3308784" cy="566926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FA8248BE-DC74-4BF0-B7B8-72D37822B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801" y="5182575"/>
            <a:ext cx="19050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3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94E60C9-CC70-489E-BE52-F8574469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59" y="2308424"/>
            <a:ext cx="5050904" cy="507512"/>
          </a:xfrm>
        </p:spPr>
        <p:txBody>
          <a:bodyPr>
            <a:normAutofit/>
          </a:bodyPr>
          <a:lstStyle/>
          <a:p>
            <a:r>
              <a:rPr lang="en-US" sz="1800" dirty="0"/>
              <a:t>Participation </a:t>
            </a:r>
            <a:r>
              <a:rPr lang="en-US" sz="1800" dirty="0" err="1"/>
              <a:t>Rateo</a:t>
            </a:r>
            <a:r>
              <a:rPr lang="en-US" sz="1800" dirty="0"/>
              <a:t> (</a:t>
            </a:r>
            <a:r>
              <a:rPr lang="en-US" sz="1800" dirty="0" err="1"/>
              <a:t>tra</a:t>
            </a:r>
            <a:r>
              <a:rPr lang="en-US" sz="1800" dirty="0"/>
              <a:t> 2 soli tipi):</a:t>
            </a:r>
            <a:endParaRPr lang="it-IT" sz="18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D3C969E-DE23-462B-9107-BA1A5DCA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40" y="167060"/>
            <a:ext cx="8280920" cy="760614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F989E449-B0F6-45E6-9C8B-817E168E2F31}"/>
              </a:ext>
            </a:extLst>
          </p:cNvPr>
          <p:cNvSpPr txBox="1">
            <a:spLocks/>
          </p:cNvSpPr>
          <p:nvPr/>
        </p:nvSpPr>
        <p:spPr>
          <a:xfrm>
            <a:off x="539552" y="562673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Participation </a:t>
            </a:r>
            <a:r>
              <a:rPr lang="en-US" sz="2400" dirty="0" err="1"/>
              <a:t>Rateo</a:t>
            </a:r>
            <a:r>
              <a:rPr lang="en-US" sz="2400" dirty="0"/>
              <a:t> &amp; Participation Index</a:t>
            </a:r>
            <a:endParaRPr lang="it-IT" sz="2400" dirty="0"/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53F25942-07E3-4AF3-BDDC-2BEB24250FB0}"/>
              </a:ext>
            </a:extLst>
          </p:cNvPr>
          <p:cNvSpPr txBox="1">
            <a:spLocks/>
          </p:cNvSpPr>
          <p:nvPr/>
        </p:nvSpPr>
        <p:spPr>
          <a:xfrm>
            <a:off x="539552" y="1275765"/>
            <a:ext cx="6984776" cy="327339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Data una </a:t>
            </a:r>
            <a:r>
              <a:rPr lang="en-US" sz="1800" dirty="0" err="1"/>
              <a:t>sequenza</a:t>
            </a:r>
            <a:r>
              <a:rPr lang="en-US" sz="1800" dirty="0"/>
              <a:t> di tipi di </a:t>
            </a:r>
            <a:r>
              <a:rPr lang="en-US" sz="1800" dirty="0" err="1"/>
              <a:t>eventi</a:t>
            </a:r>
            <a:r>
              <a:rPr lang="en-US" sz="1800" dirty="0"/>
              <a:t> di </a:t>
            </a:r>
            <a:r>
              <a:rPr lang="en-US" sz="1800" dirty="0" err="1"/>
              <a:t>lunghezza</a:t>
            </a:r>
            <a:r>
              <a:rPr lang="en-US" sz="1800" dirty="0"/>
              <a:t> m:</a:t>
            </a:r>
            <a:endParaRPr lang="it-IT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5EE2777-EA4E-4758-B425-382BDCB7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583618"/>
            <a:ext cx="4104456" cy="704896"/>
          </a:xfrm>
          <a:prstGeom prst="rect">
            <a:avLst/>
          </a:prstGeom>
        </p:spPr>
      </p:pic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906672F-56BE-4380-ADD0-9607BF4370F6}"/>
              </a:ext>
            </a:extLst>
          </p:cNvPr>
          <p:cNvSpPr txBox="1">
            <a:spLocks/>
          </p:cNvSpPr>
          <p:nvPr/>
        </p:nvSpPr>
        <p:spPr>
          <a:xfrm>
            <a:off x="573959" y="3438615"/>
            <a:ext cx="5050904" cy="5075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Participation Index:</a:t>
            </a:r>
            <a:endParaRPr lang="it-IT" sz="1800" dirty="0"/>
          </a:p>
        </p:txBody>
      </p:sp>
      <p:sp>
        <p:nvSpPr>
          <p:cNvPr id="9" name="Segnaposto contenuto 1">
            <a:extLst>
              <a:ext uri="{FF2B5EF4-FFF2-40B4-BE49-F238E27FC236}">
                <a16:creationId xmlns:a16="http://schemas.microsoft.com/office/drawing/2014/main" id="{F430D6B9-662C-43FF-B115-C47764878351}"/>
              </a:ext>
            </a:extLst>
          </p:cNvPr>
          <p:cNvSpPr txBox="1">
            <a:spLocks/>
          </p:cNvSpPr>
          <p:nvPr/>
        </p:nvSpPr>
        <p:spPr>
          <a:xfrm>
            <a:off x="2046548" y="3833964"/>
            <a:ext cx="5050904" cy="180373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= 2:</a:t>
            </a:r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&gt; 2:</a:t>
            </a:r>
            <a:endParaRPr lang="it-IT" sz="18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025827C-26A8-4EEF-8315-33E558CC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4215399"/>
            <a:ext cx="3528392" cy="42768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505C8CB-19DC-473F-A037-3E0FD697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204" y="5075676"/>
            <a:ext cx="4892534" cy="98018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CE67D4-C288-458B-8556-BFF0436B01B1}"/>
              </a:ext>
            </a:extLst>
          </p:cNvPr>
          <p:cNvSpPr txBox="1"/>
          <p:nvPr/>
        </p:nvSpPr>
        <p:spPr>
          <a:xfrm>
            <a:off x="3046481" y="6093213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dove 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453282A-A22C-4C29-BE1E-548626628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6070291"/>
            <a:ext cx="4610548" cy="40353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247DCF8-B139-43D8-A13E-DF97B77BF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566" y="1550353"/>
            <a:ext cx="4076868" cy="39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6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8" grpId="0"/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134B2F3-CDA8-4A44-831C-4B2E414F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58" y="251165"/>
            <a:ext cx="8229600" cy="778098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Algoritmo</a:t>
            </a:r>
            <a:r>
              <a:rPr lang="en-US" dirty="0"/>
              <a:t> STBFM</a:t>
            </a:r>
            <a:endParaRPr lang="it-IT" dirty="0"/>
          </a:p>
        </p:txBody>
      </p:sp>
      <p:sp>
        <p:nvSpPr>
          <p:cNvPr id="5" name="Trapezio 4">
            <a:extLst>
              <a:ext uri="{FF2B5EF4-FFF2-40B4-BE49-F238E27FC236}">
                <a16:creationId xmlns:a16="http://schemas.microsoft.com/office/drawing/2014/main" id="{098D7189-2B1E-4498-8770-3848EE2649D4}"/>
              </a:ext>
            </a:extLst>
          </p:cNvPr>
          <p:cNvSpPr/>
          <p:nvPr/>
        </p:nvSpPr>
        <p:spPr>
          <a:xfrm>
            <a:off x="392235" y="1672372"/>
            <a:ext cx="1728192" cy="778098"/>
          </a:xfrm>
          <a:prstGeom prst="trapezoid">
            <a:avLst>
              <a:gd name="adj" fmla="val 118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  <a:endParaRPr lang="it-IT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2460A79-2D30-4850-B871-4032877339A0}"/>
              </a:ext>
            </a:extLst>
          </p:cNvPr>
          <p:cNvCxnSpPr>
            <a:cxnSpLocks/>
          </p:cNvCxnSpPr>
          <p:nvPr/>
        </p:nvCxnSpPr>
        <p:spPr>
          <a:xfrm>
            <a:off x="2191382" y="2041041"/>
            <a:ext cx="504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7802E51-C156-4023-B3F3-A309A40AFBF1}"/>
              </a:ext>
            </a:extLst>
          </p:cNvPr>
          <p:cNvCxnSpPr>
            <a:cxnSpLocks/>
          </p:cNvCxnSpPr>
          <p:nvPr/>
        </p:nvCxnSpPr>
        <p:spPr>
          <a:xfrm>
            <a:off x="5575758" y="2041041"/>
            <a:ext cx="504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23D87FA-234E-4269-95B0-62054CEA829A}"/>
              </a:ext>
            </a:extLst>
          </p:cNvPr>
          <p:cNvCxnSpPr>
            <a:cxnSpLocks/>
          </p:cNvCxnSpPr>
          <p:nvPr/>
        </p:nvCxnSpPr>
        <p:spPr>
          <a:xfrm>
            <a:off x="7447966" y="2459099"/>
            <a:ext cx="0" cy="648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/>
              <p:nvPr/>
            </p:nvSpPr>
            <p:spPr>
              <a:xfrm>
                <a:off x="6089069" y="3193405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069" y="3193405"/>
                <a:ext cx="2717794" cy="84870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18765C9-F78D-4030-9071-AA848EFE6788}"/>
              </a:ext>
            </a:extLst>
          </p:cNvPr>
          <p:cNvCxnSpPr>
            <a:cxnSpLocks/>
          </p:cNvCxnSpPr>
          <p:nvPr/>
        </p:nvCxnSpPr>
        <p:spPr>
          <a:xfrm flipH="1">
            <a:off x="7447966" y="4093113"/>
            <a:ext cx="1" cy="396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/>
              <p:nvPr/>
            </p:nvSpPr>
            <p:spPr>
              <a:xfrm>
                <a:off x="6272755" y="4601261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755" y="4601261"/>
                <a:ext cx="2534108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/>
              <p:nvPr/>
            </p:nvSpPr>
            <p:spPr>
              <a:xfrm>
                <a:off x="3686056" y="4291213"/>
                <a:ext cx="2141730" cy="680140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056" y="4291213"/>
                <a:ext cx="2141730" cy="680140"/>
              </a:xfrm>
              <a:prstGeom prst="flowChartInputOutp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79F6B7E-7C3D-4DCA-A745-0B4A706DCB7E}"/>
              </a:ext>
            </a:extLst>
          </p:cNvPr>
          <p:cNvCxnSpPr>
            <a:cxnSpLocks/>
          </p:cNvCxnSpPr>
          <p:nvPr/>
        </p:nvCxnSpPr>
        <p:spPr>
          <a:xfrm flipH="1" flipV="1">
            <a:off x="5637458" y="4777345"/>
            <a:ext cx="513311" cy="1839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4980A51-E4FF-4F25-9FC7-BB3DE6B5A322}"/>
              </a:ext>
            </a:extLst>
          </p:cNvPr>
          <p:cNvCxnSpPr>
            <a:cxnSpLocks/>
          </p:cNvCxnSpPr>
          <p:nvPr/>
        </p:nvCxnSpPr>
        <p:spPr>
          <a:xfrm flipH="1" flipV="1">
            <a:off x="3127488" y="4168258"/>
            <a:ext cx="815214" cy="2885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/>
              <p:nvPr/>
            </p:nvSpPr>
            <p:spPr>
              <a:xfrm>
                <a:off x="1111957" y="3139321"/>
                <a:ext cx="2486614" cy="136814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∅</m:t>
                    </m:r>
                  </m:oMath>
                </a14:m>
                <a:r>
                  <a:rPr lang="en-US" dirty="0"/>
                  <a:t> </a:t>
                </a:r>
                <a:endParaRPr lang="it-IT" dirty="0"/>
              </a:p>
            </p:txBody>
          </p:sp>
        </mc:Choice>
        <mc:Fallback xmlns="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57" y="3139321"/>
                <a:ext cx="2486614" cy="1368148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51707EF-907E-49CA-80DA-D8313591918A}"/>
              </a:ext>
            </a:extLst>
          </p:cNvPr>
          <p:cNvCxnSpPr>
            <a:cxnSpLocks/>
          </p:cNvCxnSpPr>
          <p:nvPr/>
        </p:nvCxnSpPr>
        <p:spPr>
          <a:xfrm flipV="1">
            <a:off x="3127486" y="2798615"/>
            <a:ext cx="4248472" cy="6963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AA13B88-290D-4F07-8212-5986E5064482}"/>
              </a:ext>
            </a:extLst>
          </p:cNvPr>
          <p:cNvCxnSpPr>
            <a:cxnSpLocks/>
          </p:cNvCxnSpPr>
          <p:nvPr/>
        </p:nvCxnSpPr>
        <p:spPr>
          <a:xfrm>
            <a:off x="2349722" y="4618347"/>
            <a:ext cx="0" cy="5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/>
              <p:nvPr/>
            </p:nvSpPr>
            <p:spPr>
              <a:xfrm>
                <a:off x="1256331" y="5196320"/>
                <a:ext cx="2141730" cy="68014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31" y="5196320"/>
                <a:ext cx="2141730" cy="680140"/>
              </a:xfrm>
              <a:prstGeom prst="hexago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/>
              <p:nvPr/>
            </p:nvSpPr>
            <p:spPr>
              <a:xfrm>
                <a:off x="2787009" y="1645697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09" y="1645697"/>
                <a:ext cx="2717794" cy="84870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/>
              <p:nvPr/>
            </p:nvSpPr>
            <p:spPr>
              <a:xfrm>
                <a:off x="6150769" y="1672372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69" y="1672372"/>
                <a:ext cx="2534108" cy="720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860C98C-5295-4F1F-B190-8D82444C46BD}"/>
              </a:ext>
            </a:extLst>
          </p:cNvPr>
          <p:cNvSpPr txBox="1"/>
          <p:nvPr/>
        </p:nvSpPr>
        <p:spPr>
          <a:xfrm>
            <a:off x="3127486" y="316838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A48F468-678D-4A48-8B92-D9EE37ED1EE3}"/>
              </a:ext>
            </a:extLst>
          </p:cNvPr>
          <p:cNvSpPr txBox="1"/>
          <p:nvPr/>
        </p:nvSpPr>
        <p:spPr>
          <a:xfrm>
            <a:off x="2054448" y="4556529"/>
            <a:ext cx="295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Segnaposto contenuto 1">
            <a:extLst>
              <a:ext uri="{FF2B5EF4-FFF2-40B4-BE49-F238E27FC236}">
                <a16:creationId xmlns:a16="http://schemas.microsoft.com/office/drawing/2014/main" id="{344A0322-51F0-4D85-B863-293CC4CB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55" y="992823"/>
            <a:ext cx="2953382" cy="376760"/>
          </a:xfrm>
        </p:spPr>
        <p:txBody>
          <a:bodyPr>
            <a:noAutofit/>
          </a:bodyPr>
          <a:lstStyle/>
          <a:p>
            <a:r>
              <a:rPr lang="en-US" sz="1600" dirty="0" err="1"/>
              <a:t>Theshold</a:t>
            </a:r>
            <a:r>
              <a:rPr lang="en-US" sz="1600" dirty="0"/>
              <a:t> (</a:t>
            </a:r>
            <a:r>
              <a:rPr lang="en-US" sz="1600" dirty="0" err="1"/>
              <a:t>soglia</a:t>
            </a:r>
            <a:r>
              <a:rPr lang="en-US" sz="1600" dirty="0"/>
              <a:t>): </a:t>
            </a:r>
            <a:r>
              <a:rPr lang="el-GR" sz="1600" b="1" dirty="0"/>
              <a:t>θ</a:t>
            </a:r>
            <a:endParaRPr lang="en-US" sz="1600" dirty="0"/>
          </a:p>
        </p:txBody>
      </p:sp>
      <p:sp>
        <p:nvSpPr>
          <p:cNvPr id="48" name="Segnaposto contenuto 1">
            <a:extLst>
              <a:ext uri="{FF2B5EF4-FFF2-40B4-BE49-F238E27FC236}">
                <a16:creationId xmlns:a16="http://schemas.microsoft.com/office/drawing/2014/main" id="{06E82E6A-AE90-4177-995C-B5CEB85BDA43}"/>
              </a:ext>
            </a:extLst>
          </p:cNvPr>
          <p:cNvSpPr txBox="1">
            <a:spLocks/>
          </p:cNvSpPr>
          <p:nvPr/>
        </p:nvSpPr>
        <p:spPr>
          <a:xfrm>
            <a:off x="457200" y="992823"/>
            <a:ext cx="1981273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Insieme</a:t>
            </a:r>
            <a:r>
              <a:rPr lang="en-US" sz="1600" dirty="0"/>
              <a:t> </a:t>
            </a:r>
            <a:r>
              <a:rPr lang="en-US" sz="1600" i="1" dirty="0"/>
              <a:t>Top</a:t>
            </a:r>
            <a:endParaRPr lang="en-US" sz="1600" dirty="0"/>
          </a:p>
        </p:txBody>
      </p:sp>
      <p:sp>
        <p:nvSpPr>
          <p:cNvPr id="49" name="Segnaposto contenuto 1">
            <a:extLst>
              <a:ext uri="{FF2B5EF4-FFF2-40B4-BE49-F238E27FC236}">
                <a16:creationId xmlns:a16="http://schemas.microsoft.com/office/drawing/2014/main" id="{E71F6A07-CFD6-4753-BD57-83ABC1556895}"/>
              </a:ext>
            </a:extLst>
          </p:cNvPr>
          <p:cNvSpPr txBox="1">
            <a:spLocks/>
          </p:cNvSpPr>
          <p:nvPr/>
        </p:nvSpPr>
        <p:spPr>
          <a:xfrm>
            <a:off x="2521648" y="998435"/>
            <a:ext cx="3963783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Numero</a:t>
            </a:r>
            <a:r>
              <a:rPr lang="en-US" sz="1600" dirty="0"/>
              <a:t> </a:t>
            </a:r>
            <a:r>
              <a:rPr lang="en-US" sz="1600" dirty="0" err="1"/>
              <a:t>elementi</a:t>
            </a:r>
            <a:r>
              <a:rPr lang="en-US" sz="1600" dirty="0"/>
              <a:t> in </a:t>
            </a:r>
            <a:r>
              <a:rPr lang="en-US" sz="1600" i="1" dirty="0"/>
              <a:t>Top</a:t>
            </a:r>
            <a:r>
              <a:rPr lang="en-US" sz="1600" dirty="0"/>
              <a:t>:</a:t>
            </a:r>
            <a:r>
              <a:rPr lang="en-US" sz="1600" i="1" dirty="0"/>
              <a:t> </a:t>
            </a:r>
            <a:r>
              <a:rPr lang="en-US" sz="1600" b="1" dirty="0"/>
              <a:t>Num</a:t>
            </a:r>
          </a:p>
        </p:txBody>
      </p:sp>
    </p:spTree>
    <p:extLst>
      <p:ext uri="{BB962C8B-B14F-4D97-AF65-F5344CB8AC3E}">
        <p14:creationId xmlns:p14="http://schemas.microsoft.com/office/powerpoint/2010/main" val="188576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9" grpId="0" animBg="1"/>
      <p:bldP spid="22" grpId="0" animBg="1"/>
      <p:bldP spid="28" grpId="0" animBg="1"/>
      <p:bldP spid="36" grpId="0" animBg="1"/>
      <p:bldP spid="37" grpId="0" animBg="1"/>
      <p:bldP spid="38" grpId="0" animBg="1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CEC9B40-5735-4330-915C-2807B5CE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15592"/>
            <a:ext cx="4899048" cy="171340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 err="1"/>
              <a:t>Componenti</a:t>
            </a:r>
            <a:r>
              <a:rPr lang="en-US" sz="1800" dirty="0"/>
              <a:t> </a:t>
            </a:r>
            <a:r>
              <a:rPr lang="en-US" sz="1800" dirty="0" err="1"/>
              <a:t>nodo</a:t>
            </a:r>
            <a:r>
              <a:rPr lang="en-US" sz="1800" dirty="0"/>
              <a:t>:</a:t>
            </a:r>
          </a:p>
          <a:p>
            <a:r>
              <a:rPr lang="en-US" sz="1800" dirty="0"/>
              <a:t>First parent</a:t>
            </a:r>
          </a:p>
          <a:p>
            <a:r>
              <a:rPr lang="en-US" sz="1800" dirty="0"/>
              <a:t>Second parent</a:t>
            </a:r>
          </a:p>
          <a:p>
            <a:r>
              <a:rPr lang="en-US" sz="1800" dirty="0"/>
              <a:t>Value</a:t>
            </a:r>
          </a:p>
          <a:p>
            <a:r>
              <a:rPr lang="en-US" sz="1800" dirty="0"/>
              <a:t>Children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5DF1161-DAFB-4725-8177-A638950D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Pattern Tree (</a:t>
            </a:r>
            <a:r>
              <a:rPr lang="en-US" dirty="0" err="1"/>
              <a:t>SPTree</a:t>
            </a:r>
            <a:r>
              <a:rPr lang="en-US" dirty="0"/>
              <a:t>)</a:t>
            </a:r>
            <a:endParaRPr lang="it-IT" dirty="0"/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92721421-904A-4764-A727-31DB436DD8EE}"/>
              </a:ext>
            </a:extLst>
          </p:cNvPr>
          <p:cNvSpPr txBox="1">
            <a:spLocks/>
          </p:cNvSpPr>
          <p:nvPr/>
        </p:nvSpPr>
        <p:spPr>
          <a:xfrm>
            <a:off x="431540" y="846138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/>
              <a:t>Struttura</a:t>
            </a:r>
            <a:r>
              <a:rPr lang="en-US" sz="2400" dirty="0"/>
              <a:t> </a:t>
            </a:r>
            <a:r>
              <a:rPr lang="en-US" sz="2400" dirty="0" err="1"/>
              <a:t>dati</a:t>
            </a:r>
            <a:r>
              <a:rPr lang="en-US" sz="2400" dirty="0"/>
              <a:t> ad </a:t>
            </a:r>
            <a:r>
              <a:rPr lang="en-US" sz="2400" dirty="0" err="1"/>
              <a:t>albero</a:t>
            </a:r>
            <a:r>
              <a:rPr lang="en-US" sz="2400" dirty="0"/>
              <a:t> di </a:t>
            </a:r>
            <a:r>
              <a:rPr lang="en-US" sz="2400" dirty="0" err="1"/>
              <a:t>supporto</a:t>
            </a:r>
            <a:endParaRPr lang="it-IT" sz="2400" dirty="0"/>
          </a:p>
        </p:txBody>
      </p:sp>
      <p:pic>
        <p:nvPicPr>
          <p:cNvPr id="12" name="Immagine 11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0862D7E9-D305-4305-96FF-49838784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645014"/>
            <a:ext cx="7272808" cy="402995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9FF79AD-CCE9-4C05-8039-3842829E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353" y="1501563"/>
            <a:ext cx="3995936" cy="1385429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5A8F3BE-8B0E-49DD-A605-396EDFE82D38}"/>
              </a:ext>
            </a:extLst>
          </p:cNvPr>
          <p:cNvSpPr/>
          <p:nvPr/>
        </p:nvSpPr>
        <p:spPr>
          <a:xfrm>
            <a:off x="5352838" y="1967765"/>
            <a:ext cx="707120" cy="234435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D5438DC7-D426-4E17-9E2A-29FACA1E81D0}"/>
              </a:ext>
            </a:extLst>
          </p:cNvPr>
          <p:cNvSpPr/>
          <p:nvPr/>
        </p:nvSpPr>
        <p:spPr>
          <a:xfrm rot="2850328">
            <a:off x="4139915" y="3610747"/>
            <a:ext cx="587137" cy="1608610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B6A4252-98AC-413E-A95B-436231DCD820}"/>
              </a:ext>
            </a:extLst>
          </p:cNvPr>
          <p:cNvCxnSpPr>
            <a:cxnSpLocks/>
          </p:cNvCxnSpPr>
          <p:nvPr/>
        </p:nvCxnSpPr>
        <p:spPr>
          <a:xfrm flipV="1">
            <a:off x="4353138" y="4079039"/>
            <a:ext cx="999700" cy="60188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e 18">
            <a:extLst>
              <a:ext uri="{FF2B5EF4-FFF2-40B4-BE49-F238E27FC236}">
                <a16:creationId xmlns:a16="http://schemas.microsoft.com/office/drawing/2014/main" id="{6B9DF360-23DB-4242-B289-5DBD3ED15B6B}"/>
              </a:ext>
            </a:extLst>
          </p:cNvPr>
          <p:cNvSpPr/>
          <p:nvPr/>
        </p:nvSpPr>
        <p:spPr>
          <a:xfrm>
            <a:off x="4572000" y="4591370"/>
            <a:ext cx="567224" cy="38919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E0E379CE-EE64-4521-AA89-1E1D26B0A08A}"/>
              </a:ext>
            </a:extLst>
          </p:cNvPr>
          <p:cNvSpPr/>
          <p:nvPr/>
        </p:nvSpPr>
        <p:spPr>
          <a:xfrm>
            <a:off x="5310460" y="4580639"/>
            <a:ext cx="567224" cy="38919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F928A34-488F-4178-9B4E-292D5E8D8198}"/>
              </a:ext>
            </a:extLst>
          </p:cNvPr>
          <p:cNvCxnSpPr>
            <a:cxnSpLocks/>
          </p:cNvCxnSpPr>
          <p:nvPr/>
        </p:nvCxnSpPr>
        <p:spPr>
          <a:xfrm flipH="1">
            <a:off x="4353138" y="4951475"/>
            <a:ext cx="1100480" cy="5245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E2ABEB1-0A6C-4820-90CE-80CD56952270}"/>
              </a:ext>
            </a:extLst>
          </p:cNvPr>
          <p:cNvCxnSpPr>
            <a:cxnSpLocks/>
          </p:cNvCxnSpPr>
          <p:nvPr/>
        </p:nvCxnSpPr>
        <p:spPr>
          <a:xfrm flipH="1">
            <a:off x="3514129" y="4884319"/>
            <a:ext cx="1097231" cy="5571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D3489EB2-9730-479E-9D9B-70583B37F4AB}"/>
              </a:ext>
            </a:extLst>
          </p:cNvPr>
          <p:cNvSpPr/>
          <p:nvPr/>
        </p:nvSpPr>
        <p:spPr>
          <a:xfrm>
            <a:off x="5897835" y="2172531"/>
            <a:ext cx="1096323" cy="2233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9B3D4F6-5DED-4EEE-B3C3-D63B623D3760}"/>
              </a:ext>
            </a:extLst>
          </p:cNvPr>
          <p:cNvSpPr/>
          <p:nvPr/>
        </p:nvSpPr>
        <p:spPr>
          <a:xfrm>
            <a:off x="7066379" y="2155077"/>
            <a:ext cx="1096323" cy="2233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1F47026-2D78-4E02-A7A7-CFB5F43D3718}"/>
              </a:ext>
            </a:extLst>
          </p:cNvPr>
          <p:cNvCxnSpPr>
            <a:cxnSpLocks/>
          </p:cNvCxnSpPr>
          <p:nvPr/>
        </p:nvCxnSpPr>
        <p:spPr>
          <a:xfrm>
            <a:off x="4585016" y="2149522"/>
            <a:ext cx="37331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1AB8BBB-11E0-4458-97B7-8709D72237F2}"/>
              </a:ext>
            </a:extLst>
          </p:cNvPr>
          <p:cNvCxnSpPr>
            <a:cxnSpLocks/>
          </p:cNvCxnSpPr>
          <p:nvPr/>
        </p:nvCxnSpPr>
        <p:spPr>
          <a:xfrm>
            <a:off x="4585016" y="2395859"/>
            <a:ext cx="37331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DC08778-23D0-4CE1-8C11-71835F4F5B40}"/>
              </a:ext>
            </a:extLst>
          </p:cNvPr>
          <p:cNvSpPr txBox="1"/>
          <p:nvPr/>
        </p:nvSpPr>
        <p:spPr>
          <a:xfrm>
            <a:off x="4519403" y="3429000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first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E259299-5E9C-4244-939D-6E77A791B645}"/>
              </a:ext>
            </a:extLst>
          </p:cNvPr>
          <p:cNvSpPr txBox="1"/>
          <p:nvPr/>
        </p:nvSpPr>
        <p:spPr>
          <a:xfrm>
            <a:off x="5267197" y="3419902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second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73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6" grpId="0" animBg="1"/>
      <p:bldP spid="19" grpId="0" animBg="1"/>
      <p:bldP spid="20" grpId="0" animBg="1"/>
      <p:bldP spid="27" grpId="0" animBg="1"/>
      <p:bldP spid="28" grpId="0" animBg="1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6642" y="404664"/>
                <a:ext cx="3453270" cy="76200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CandidatesGen(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6642" y="404664"/>
                <a:ext cx="3453270" cy="76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/>
              </p:cNvSpPr>
              <p:nvPr>
                <p:ph type="body" sz="half" idx="3"/>
              </p:nvPr>
            </p:nvSpPr>
            <p:spPr>
              <a:xfrm>
                <a:off x="4067944" y="404664"/>
                <a:ext cx="4637736" cy="76200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VerifyCandidates(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3"/>
              </p:nvPr>
            </p:nvSpPr>
            <p:spPr>
              <a:xfrm>
                <a:off x="4067944" y="404664"/>
                <a:ext cx="4637736" cy="762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/>
              <p:nvPr/>
            </p:nvSpPr>
            <p:spPr>
              <a:xfrm>
                <a:off x="457200" y="1412776"/>
                <a:ext cx="1810544" cy="432048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2776"/>
                <a:ext cx="1810544" cy="432048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/>
              <p:nvPr/>
            </p:nvSpPr>
            <p:spPr>
              <a:xfrm>
                <a:off x="1095957" y="1976213"/>
                <a:ext cx="2304583" cy="550181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𝑐h𝑖𝑙𝑑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957" y="1976213"/>
                <a:ext cx="2304583" cy="550181"/>
              </a:xfrm>
              <a:prstGeom prst="flowChartAlternateProcess">
                <a:avLst/>
              </a:prstGeom>
              <a:blipFill>
                <a:blip r:embed="rId5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/>
              <p:nvPr/>
            </p:nvSpPr>
            <p:spPr>
              <a:xfrm>
                <a:off x="1535953" y="2760072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−1] 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53" y="2760072"/>
                <a:ext cx="1944216" cy="375810"/>
              </a:xfrm>
              <a:prstGeom prst="flowChartProcess">
                <a:avLst/>
              </a:prstGeom>
              <a:blipFill>
                <a:blip r:embed="rId6"/>
                <a:stretch>
                  <a:fillRect t="-2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/>
              <p:nvPr/>
            </p:nvSpPr>
            <p:spPr>
              <a:xfrm>
                <a:off x="1535953" y="3333763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𝑠𝑒𝑡𝐼𝑛𝑠𝑡𝑎𝑛𝑐𝑒𝑠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53" y="3333763"/>
                <a:ext cx="1944216" cy="375810"/>
              </a:xfrm>
              <a:prstGeom prst="flowChartProcess">
                <a:avLst/>
              </a:prstGeom>
              <a:blipFill>
                <a:blip r:embed="rId7"/>
                <a:stretch>
                  <a:fillRect t="-42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/>
              <p:nvPr/>
            </p:nvSpPr>
            <p:spPr>
              <a:xfrm>
                <a:off x="1317287" y="3907454"/>
                <a:ext cx="2448272" cy="907984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𝑓𝑖𝑟𝑠𝑡𝑃𝑎𝑟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𝑐h𝑖𝑙𝑑𝑟𝑒𝑛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287" y="3907454"/>
                <a:ext cx="2448272" cy="907984"/>
              </a:xfrm>
              <a:prstGeom prst="flowChartProcess">
                <a:avLst/>
              </a:prstGeom>
              <a:blipFill>
                <a:blip r:embed="rId8"/>
                <a:stretch>
                  <a:fillRect t="-6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/>
              <p:nvPr/>
            </p:nvSpPr>
            <p:spPr>
              <a:xfrm>
                <a:off x="1573424" y="5086195"/>
                <a:ext cx="1944216" cy="36004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24" y="5086195"/>
                <a:ext cx="1944216" cy="360040"/>
              </a:xfrm>
              <a:prstGeom prst="flowChartProcess">
                <a:avLst/>
              </a:prstGeom>
              <a:blipFill>
                <a:blip r:embed="rId9"/>
                <a:stretch>
                  <a:fillRect t="-17647" b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/>
              <p:nvPr/>
            </p:nvSpPr>
            <p:spPr>
              <a:xfrm>
                <a:off x="246583" y="5781927"/>
                <a:ext cx="1656184" cy="576064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" y="5781927"/>
                <a:ext cx="1656184" cy="576064"/>
              </a:xfrm>
              <a:prstGeom prst="flowChartTerminator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/>
              <p:nvPr/>
            </p:nvSpPr>
            <p:spPr>
              <a:xfrm>
                <a:off x="4067944" y="1322476"/>
                <a:ext cx="1810544" cy="289733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322476"/>
                <a:ext cx="1810544" cy="289733"/>
              </a:xfrm>
              <a:prstGeom prst="flowChartAlternateProcess">
                <a:avLst/>
              </a:prstGeom>
              <a:blipFill>
                <a:blip r:embed="rId11"/>
                <a:stretch>
                  <a:fillRect t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/>
              <p:nvPr/>
            </p:nvSpPr>
            <p:spPr>
              <a:xfrm>
                <a:off x="4627204" y="1768021"/>
                <a:ext cx="2016224" cy="289733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𝑐𝑎𝑙𝑐𝑢𝑙𝑎𝑡𝑒𝑃𝐼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204" y="1768021"/>
                <a:ext cx="2016224" cy="289733"/>
              </a:xfrm>
              <a:prstGeom prst="flowChartProcess">
                <a:avLst/>
              </a:prstGeom>
              <a:blipFill>
                <a:blip r:embed="rId12"/>
                <a:stretch>
                  <a:fillRect t="-15789" r="-5882" b="-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/>
              <p:nvPr/>
            </p:nvSpPr>
            <p:spPr>
              <a:xfrm>
                <a:off x="4807224" y="2197277"/>
                <a:ext cx="1656184" cy="420253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24" y="2197277"/>
                <a:ext cx="1656184" cy="420253"/>
              </a:xfrm>
              <a:prstGeom prst="flowChartDecision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/>
              <p:nvPr/>
            </p:nvSpPr>
            <p:spPr>
              <a:xfrm>
                <a:off x="6707087" y="2173586"/>
                <a:ext cx="1979712" cy="550181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087" y="2173586"/>
                <a:ext cx="1979712" cy="550181"/>
              </a:xfrm>
              <a:prstGeom prst="flowChartInputOutput">
                <a:avLst/>
              </a:prstGeom>
              <a:blipFill>
                <a:blip r:embed="rId14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/>
              <p:nvPr/>
            </p:nvSpPr>
            <p:spPr>
              <a:xfrm>
                <a:off x="4485564" y="2760072"/>
                <a:ext cx="2304256" cy="420254"/>
              </a:xfrm>
              <a:prstGeom prst="flowChartPreparat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𝐴𝑑𝑑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564" y="2760072"/>
                <a:ext cx="2304256" cy="420254"/>
              </a:xfrm>
              <a:prstGeom prst="flowChartPreparation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/>
              <p:nvPr/>
            </p:nvSpPr>
            <p:spPr>
              <a:xfrm>
                <a:off x="4951240" y="3304754"/>
                <a:ext cx="1368152" cy="70406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240" y="3304754"/>
                <a:ext cx="1368152" cy="704068"/>
              </a:xfrm>
              <a:prstGeom prst="flowChartDecision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/>
              <p:nvPr/>
            </p:nvSpPr>
            <p:spPr>
              <a:xfrm>
                <a:off x="6645150" y="3432207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150" y="3432207"/>
                <a:ext cx="1921859" cy="374010"/>
              </a:xfrm>
              <a:prstGeom prst="flowChartProcess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/>
              <p:nvPr/>
            </p:nvSpPr>
            <p:spPr>
              <a:xfrm>
                <a:off x="4450839" y="5374449"/>
                <a:ext cx="2982593" cy="814956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𝑃𝐼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1600" dirty="0"/>
                  <a:t> </a:t>
                </a:r>
              </a:p>
            </p:txBody>
          </p:sp>
        </mc:Choice>
        <mc:Fallback xmlns="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839" y="5374449"/>
                <a:ext cx="2982593" cy="814956"/>
              </a:xfrm>
              <a:prstGeom prst="flowChartInputOutput">
                <a:avLst/>
              </a:prstGeom>
              <a:blipFill>
                <a:blip r:embed="rId18"/>
                <a:stretch>
                  <a:fillRect t="-28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/>
              <p:nvPr/>
            </p:nvSpPr>
            <p:spPr>
              <a:xfrm>
                <a:off x="4757617" y="4210757"/>
                <a:ext cx="1764196" cy="39901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617" y="4210757"/>
                <a:ext cx="1764196" cy="399014"/>
              </a:xfrm>
              <a:prstGeom prst="flowChartDecision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/>
              <p:nvPr/>
            </p:nvSpPr>
            <p:spPr>
              <a:xfrm>
                <a:off x="4687251" y="4814294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251" y="4814294"/>
                <a:ext cx="1921859" cy="374010"/>
              </a:xfrm>
              <a:prstGeom prst="flowChartProcess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/>
              <p:nvPr/>
            </p:nvSpPr>
            <p:spPr>
              <a:xfrm>
                <a:off x="3883817" y="6326303"/>
                <a:ext cx="1461699" cy="432048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17" y="6326303"/>
                <a:ext cx="1461699" cy="432048"/>
              </a:xfrm>
              <a:prstGeom prst="flowChartTerminator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3C9800D6-7D9A-457A-87F6-EE38E185D73C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19376" y="1974722"/>
            <a:ext cx="374799" cy="1783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CC0B518-5170-4847-9F71-0EB8C09AE83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508061" y="3135882"/>
            <a:ext cx="0" cy="1978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40189F47-E122-4228-B852-25CF89B666D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508061" y="3709573"/>
            <a:ext cx="0" cy="1786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3521A9D3-89CE-4CE5-8F5F-12253DFE810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541423" y="4815438"/>
            <a:ext cx="4109" cy="2707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F6B3451D-6A04-4B69-AC2C-9B9D427697E3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1216336" y="2628360"/>
            <a:ext cx="420570" cy="2186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a gomito 49">
            <a:extLst>
              <a:ext uri="{FF2B5EF4-FFF2-40B4-BE49-F238E27FC236}">
                <a16:creationId xmlns:a16="http://schemas.microsoft.com/office/drawing/2014/main" id="{8D2AD858-5752-434D-B88F-4C2DA693D804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4383810" y="1669494"/>
            <a:ext cx="287404" cy="19938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6191C45C-6B87-4CD0-9483-F2A94CBF0E03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5635316" y="2057754"/>
            <a:ext cx="0" cy="1395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87E13A22-C7C6-40DB-BCCC-1926240C4E4F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>
            <a:off x="6463408" y="2407404"/>
            <a:ext cx="441650" cy="412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973EFA52-30F2-46EB-8C82-164A0F1AB4F5}"/>
              </a:ext>
            </a:extLst>
          </p:cNvPr>
          <p:cNvCxnSpPr>
            <a:stCxn id="17" idx="1"/>
            <a:endCxn id="14" idx="3"/>
          </p:cNvCxnSpPr>
          <p:nvPr/>
        </p:nvCxnSpPr>
        <p:spPr>
          <a:xfrm rot="16200000" flipV="1">
            <a:off x="6434595" y="911237"/>
            <a:ext cx="706243" cy="181845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4C55FC0-8AC8-428D-9E7F-B8D6E7A943F1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5635316" y="2617530"/>
            <a:ext cx="2376" cy="142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8EFF6F70-920B-4E68-9928-0E335AAAB2C4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5635316" y="3180326"/>
            <a:ext cx="2376" cy="1244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724EA766-C966-4C04-B10E-C1DE43B3B917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6319392" y="3619212"/>
            <a:ext cx="325758" cy="375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a gomito 71">
            <a:extLst>
              <a:ext uri="{FF2B5EF4-FFF2-40B4-BE49-F238E27FC236}">
                <a16:creationId xmlns:a16="http://schemas.microsoft.com/office/drawing/2014/main" id="{51CA0587-AC67-4FDC-BD83-B8DBA4534DCD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7738317" y="1469538"/>
            <a:ext cx="828692" cy="2149674"/>
          </a:xfrm>
          <a:prstGeom prst="bentConnector4">
            <a:avLst>
              <a:gd name="adj1" fmla="val -27586"/>
              <a:gd name="adj2" fmla="val 10022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C06A4594-91DE-4432-B787-C19578E5E6D6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5635316" y="4008822"/>
            <a:ext cx="4399" cy="201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0799B745-5E75-46DC-B00B-83BE4C5117B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639715" y="4609771"/>
            <a:ext cx="8466" cy="2045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0CE2A9D6-BCCC-436D-AC87-03D110E895D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521813" y="3635212"/>
            <a:ext cx="2183867" cy="775052"/>
          </a:xfrm>
          <a:prstGeom prst="bentConnector3">
            <a:avLst>
              <a:gd name="adj1" fmla="val 10008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046A9EF7-3EDD-4A59-AEFC-1848F778D057}"/>
              </a:ext>
            </a:extLst>
          </p:cNvPr>
          <p:cNvCxnSpPr>
            <a:cxnSpLocks/>
          </p:cNvCxnSpPr>
          <p:nvPr/>
        </p:nvCxnSpPr>
        <p:spPr>
          <a:xfrm>
            <a:off x="5676373" y="5212194"/>
            <a:ext cx="6295" cy="1472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a gomito 120">
            <a:extLst>
              <a:ext uri="{FF2B5EF4-FFF2-40B4-BE49-F238E27FC236}">
                <a16:creationId xmlns:a16="http://schemas.microsoft.com/office/drawing/2014/main" id="{049C0EA1-33EF-491A-8727-C1430C2EA4A1}"/>
              </a:ext>
            </a:extLst>
          </p:cNvPr>
          <p:cNvCxnSpPr>
            <a:cxnSpLocks/>
            <a:stCxn id="21" idx="5"/>
          </p:cNvCxnSpPr>
          <p:nvPr/>
        </p:nvCxnSpPr>
        <p:spPr>
          <a:xfrm flipV="1">
            <a:off x="7135173" y="4429543"/>
            <a:ext cx="1570507" cy="1352384"/>
          </a:xfrm>
          <a:prstGeom prst="bentConnector3">
            <a:avLst>
              <a:gd name="adj1" fmla="val 10023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B616F544-B58A-4D61-8476-423A02612893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1197124" y="2544375"/>
            <a:ext cx="376300" cy="272184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ttore 2 155">
            <a:extLst>
              <a:ext uri="{FF2B5EF4-FFF2-40B4-BE49-F238E27FC236}">
                <a16:creationId xmlns:a16="http://schemas.microsoft.com/office/drawing/2014/main" id="{CE55F082-7DA7-4E66-B2F2-266E9437D649}"/>
              </a:ext>
            </a:extLst>
          </p:cNvPr>
          <p:cNvCxnSpPr>
            <a:cxnSpLocks/>
          </p:cNvCxnSpPr>
          <p:nvPr/>
        </p:nvCxnSpPr>
        <p:spPr>
          <a:xfrm>
            <a:off x="4202296" y="1635761"/>
            <a:ext cx="4295" cy="470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DB8D3664-E49D-4104-BE52-5F90F928DE57}"/>
              </a:ext>
            </a:extLst>
          </p:cNvPr>
          <p:cNvSpPr txBox="1"/>
          <p:nvPr/>
        </p:nvSpPr>
        <p:spPr>
          <a:xfrm>
            <a:off x="6503005" y="2172208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3" name="CasellaDiTesto 172">
            <a:extLst>
              <a:ext uri="{FF2B5EF4-FFF2-40B4-BE49-F238E27FC236}">
                <a16:creationId xmlns:a16="http://schemas.microsoft.com/office/drawing/2014/main" id="{EE8F963A-0B28-4A81-90C3-1A835E7D56E0}"/>
              </a:ext>
            </a:extLst>
          </p:cNvPr>
          <p:cNvSpPr txBox="1"/>
          <p:nvPr/>
        </p:nvSpPr>
        <p:spPr>
          <a:xfrm>
            <a:off x="5086604" y="2510387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4" name="CasellaDiTesto 173">
            <a:extLst>
              <a:ext uri="{FF2B5EF4-FFF2-40B4-BE49-F238E27FC236}">
                <a16:creationId xmlns:a16="http://schemas.microsoft.com/office/drawing/2014/main" id="{78167273-1E5F-4080-9A98-A813BB5D13A3}"/>
              </a:ext>
            </a:extLst>
          </p:cNvPr>
          <p:cNvSpPr txBox="1"/>
          <p:nvPr/>
        </p:nvSpPr>
        <p:spPr>
          <a:xfrm>
            <a:off x="6293489" y="3387764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5" name="CasellaDiTesto 174">
            <a:extLst>
              <a:ext uri="{FF2B5EF4-FFF2-40B4-BE49-F238E27FC236}">
                <a16:creationId xmlns:a16="http://schemas.microsoft.com/office/drawing/2014/main" id="{070FB722-3ED5-4322-992E-6B4F173041FD}"/>
              </a:ext>
            </a:extLst>
          </p:cNvPr>
          <p:cNvSpPr txBox="1"/>
          <p:nvPr/>
        </p:nvSpPr>
        <p:spPr>
          <a:xfrm>
            <a:off x="5292472" y="3918584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3F6AF443-AF3E-4C2B-A0E6-0F4F901ECD10}"/>
              </a:ext>
            </a:extLst>
          </p:cNvPr>
          <p:cNvSpPr txBox="1"/>
          <p:nvPr/>
        </p:nvSpPr>
        <p:spPr>
          <a:xfrm>
            <a:off x="6503005" y="4121766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7" name="CasellaDiTesto 176">
            <a:extLst>
              <a:ext uri="{FF2B5EF4-FFF2-40B4-BE49-F238E27FC236}">
                <a16:creationId xmlns:a16="http://schemas.microsoft.com/office/drawing/2014/main" id="{15D6B7A1-052D-4CA8-AACD-41530A39D704}"/>
              </a:ext>
            </a:extLst>
          </p:cNvPr>
          <p:cNvSpPr txBox="1"/>
          <p:nvPr/>
        </p:nvSpPr>
        <p:spPr>
          <a:xfrm>
            <a:off x="5231026" y="4535215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9" name="CasellaDiTesto 178">
            <a:extLst>
              <a:ext uri="{FF2B5EF4-FFF2-40B4-BE49-F238E27FC236}">
                <a16:creationId xmlns:a16="http://schemas.microsoft.com/office/drawing/2014/main" id="{08E02151-1CFE-4A86-B4C4-4E99C5E574B2}"/>
              </a:ext>
            </a:extLst>
          </p:cNvPr>
          <p:cNvSpPr txBox="1"/>
          <p:nvPr/>
        </p:nvSpPr>
        <p:spPr>
          <a:xfrm>
            <a:off x="3880006" y="3109360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80" name="CasellaDiTesto 179">
            <a:extLst>
              <a:ext uri="{FF2B5EF4-FFF2-40B4-BE49-F238E27FC236}">
                <a16:creationId xmlns:a16="http://schemas.microsoft.com/office/drawing/2014/main" id="{06F255D3-61E7-461C-AA16-9952734199E1}"/>
              </a:ext>
            </a:extLst>
          </p:cNvPr>
          <p:cNvSpPr txBox="1"/>
          <p:nvPr/>
        </p:nvSpPr>
        <p:spPr>
          <a:xfrm>
            <a:off x="183065" y="3831674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41ABB7EC-CE5D-4BBF-995C-83CD1168EE0F}"/>
              </a:ext>
            </a:extLst>
          </p:cNvPr>
          <p:cNvCxnSpPr>
            <a:cxnSpLocks/>
          </p:cNvCxnSpPr>
          <p:nvPr/>
        </p:nvCxnSpPr>
        <p:spPr>
          <a:xfrm rot="10800000">
            <a:off x="586252" y="1888427"/>
            <a:ext cx="521822" cy="518977"/>
          </a:xfrm>
          <a:prstGeom prst="bentConnector3">
            <a:avLst>
              <a:gd name="adj1" fmla="val 9810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FC546FC-A565-4CCF-9C26-682B302F597D}"/>
              </a:ext>
            </a:extLst>
          </p:cNvPr>
          <p:cNvSpPr txBox="1"/>
          <p:nvPr/>
        </p:nvSpPr>
        <p:spPr>
          <a:xfrm rot="5400000">
            <a:off x="533870" y="2202564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7B510DE2-799A-4FE9-9A42-7C057033E8C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457199" y="1628799"/>
            <a:ext cx="38765" cy="4153127"/>
          </a:xfrm>
          <a:prstGeom prst="bentConnector4">
            <a:avLst>
              <a:gd name="adj1" fmla="val -589707"/>
              <a:gd name="adj2" fmla="val 5260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4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72" grpId="0"/>
      <p:bldP spid="173" grpId="0"/>
      <p:bldP spid="174" grpId="0"/>
      <p:bldP spid="175" grpId="0"/>
      <p:bldP spid="176" grpId="0"/>
      <p:bldP spid="177" grpId="0"/>
      <p:bldP spid="179" grpId="0"/>
      <p:bldP spid="180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F0E0D4CB-14EF-452F-973A-1104E576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0" y="4577040"/>
            <a:ext cx="2952328" cy="715993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SPTree</a:t>
            </a:r>
            <a:r>
              <a:rPr lang="en-US" sz="2000" dirty="0"/>
              <a:t> – </a:t>
            </a:r>
            <a:r>
              <a:rPr lang="en-US" sz="2000" dirty="0" err="1"/>
              <a:t>classe</a:t>
            </a:r>
            <a:r>
              <a:rPr lang="en-US" sz="2000" dirty="0"/>
              <a:t> </a:t>
            </a:r>
          </a:p>
          <a:p>
            <a:r>
              <a:rPr lang="en-US" sz="2000" dirty="0"/>
              <a:t>STBFM</a:t>
            </a:r>
            <a:endParaRPr lang="it-IT" sz="20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8441C0E-41DA-4BCA-80DC-0363493B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32656"/>
            <a:ext cx="8640960" cy="11675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Implementazione</a:t>
            </a:r>
            <a:r>
              <a:rPr lang="en-US" dirty="0"/>
              <a:t> e dataset di test</a:t>
            </a:r>
            <a:endParaRPr lang="it-IT" dirty="0"/>
          </a:p>
        </p:txBody>
      </p:sp>
      <p:pic>
        <p:nvPicPr>
          <p:cNvPr id="1026" name="Picture 2" descr="Immagine correlata">
            <a:extLst>
              <a:ext uri="{FF2B5EF4-FFF2-40B4-BE49-F238E27FC236}">
                <a16:creationId xmlns:a16="http://schemas.microsoft.com/office/drawing/2014/main" id="{635FD5AC-8E67-42E2-AB01-73980F1C5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509" y="4013611"/>
            <a:ext cx="2802494" cy="155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olo 2">
            <a:extLst>
              <a:ext uri="{FF2B5EF4-FFF2-40B4-BE49-F238E27FC236}">
                <a16:creationId xmlns:a16="http://schemas.microsoft.com/office/drawing/2014/main" id="{AF3E41A4-CD9B-49CF-9AB2-600E11214817}"/>
              </a:ext>
            </a:extLst>
          </p:cNvPr>
          <p:cNvSpPr txBox="1">
            <a:spLocks/>
          </p:cNvSpPr>
          <p:nvPr/>
        </p:nvSpPr>
        <p:spPr>
          <a:xfrm>
            <a:off x="-72516" y="3861048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File </a:t>
            </a:r>
            <a:r>
              <a:rPr lang="en-US" sz="2800" dirty="0" err="1"/>
              <a:t>Sorgenti</a:t>
            </a:r>
            <a:endParaRPr lang="it-IT" sz="2800" dirty="0"/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86DC07D1-8D02-42A9-A171-8F97C441FEDD}"/>
              </a:ext>
            </a:extLst>
          </p:cNvPr>
          <p:cNvSpPr txBox="1">
            <a:spLocks/>
          </p:cNvSpPr>
          <p:nvPr/>
        </p:nvSpPr>
        <p:spPr>
          <a:xfrm>
            <a:off x="2671144" y="1181903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Tipi di </a:t>
            </a:r>
            <a:r>
              <a:rPr lang="en-US" sz="2800" dirty="0" err="1"/>
              <a:t>eventi</a:t>
            </a:r>
            <a:endParaRPr lang="it-IT" sz="2800" dirty="0"/>
          </a:p>
        </p:txBody>
      </p:sp>
      <p:sp>
        <p:nvSpPr>
          <p:cNvPr id="7" name="Segnaposto contenuto 1">
            <a:extLst>
              <a:ext uri="{FF2B5EF4-FFF2-40B4-BE49-F238E27FC236}">
                <a16:creationId xmlns:a16="http://schemas.microsoft.com/office/drawing/2014/main" id="{880A88BA-FBD9-4D7B-9846-A84AF0149777}"/>
              </a:ext>
            </a:extLst>
          </p:cNvPr>
          <p:cNvSpPr txBox="1">
            <a:spLocks/>
          </p:cNvSpPr>
          <p:nvPr/>
        </p:nvSpPr>
        <p:spPr>
          <a:xfrm>
            <a:off x="1105224" y="1869846"/>
            <a:ext cx="3131840" cy="17094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/>
            </a:pPr>
            <a:r>
              <a:rPr lang="en-US" sz="1800" dirty="0"/>
              <a:t>Aggravated Assault</a:t>
            </a:r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Auto </a:t>
            </a:r>
            <a:r>
              <a:rPr lang="it-IT" sz="1800" dirty="0" err="1"/>
              <a:t>Theft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Commercial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Homicide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Robbery</a:t>
            </a:r>
            <a:endParaRPr lang="it-IT" sz="1800" dirty="0"/>
          </a:p>
        </p:txBody>
      </p:sp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1BBB13D-A9CE-4EE5-B94A-6C8BEACD9A41}"/>
              </a:ext>
            </a:extLst>
          </p:cNvPr>
          <p:cNvSpPr txBox="1">
            <a:spLocks/>
          </p:cNvSpPr>
          <p:nvPr/>
        </p:nvSpPr>
        <p:spPr>
          <a:xfrm>
            <a:off x="4499992" y="1942953"/>
            <a:ext cx="3131840" cy="1608377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Residential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r>
              <a:rPr lang="it-IT" sz="1800" dirty="0"/>
              <a:t> from Motor </a:t>
            </a:r>
            <a:r>
              <a:rPr lang="it-IT" sz="1800" dirty="0" err="1"/>
              <a:t>Vehicle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Other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</p:txBody>
      </p:sp>
      <p:sp>
        <p:nvSpPr>
          <p:cNvPr id="9" name="Titolo 2">
            <a:extLst>
              <a:ext uri="{FF2B5EF4-FFF2-40B4-BE49-F238E27FC236}">
                <a16:creationId xmlns:a16="http://schemas.microsoft.com/office/drawing/2014/main" id="{A4E3CFB7-5A50-4F7D-9FD7-54FCC83CC6BB}"/>
              </a:ext>
            </a:extLst>
          </p:cNvPr>
          <p:cNvSpPr txBox="1">
            <a:spLocks/>
          </p:cNvSpPr>
          <p:nvPr/>
        </p:nvSpPr>
        <p:spPr>
          <a:xfrm>
            <a:off x="5474822" y="4725144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test</a:t>
            </a:r>
            <a:endParaRPr lang="it-IT" sz="28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EBE0922F-BA42-4F34-A1D3-36A949FD764E}"/>
              </a:ext>
            </a:extLst>
          </p:cNvPr>
          <p:cNvSpPr txBox="1">
            <a:spLocks/>
          </p:cNvSpPr>
          <p:nvPr/>
        </p:nvSpPr>
        <p:spPr>
          <a:xfrm>
            <a:off x="6159110" y="5362715"/>
            <a:ext cx="2306989" cy="149528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1043 record</a:t>
            </a:r>
          </a:p>
          <a:p>
            <a:r>
              <a:rPr lang="en-US" sz="1800" dirty="0"/>
              <a:t>2235 record</a:t>
            </a:r>
          </a:p>
          <a:p>
            <a:r>
              <a:rPr lang="en-US" sz="1800" dirty="0"/>
              <a:t>3129 record</a:t>
            </a:r>
          </a:p>
          <a:p>
            <a:r>
              <a:rPr lang="en-US" sz="1800" dirty="0"/>
              <a:t>5216 record</a:t>
            </a:r>
          </a:p>
        </p:txBody>
      </p:sp>
      <p:sp>
        <p:nvSpPr>
          <p:cNvPr id="12" name="Titolo 2">
            <a:extLst>
              <a:ext uri="{FF2B5EF4-FFF2-40B4-BE49-F238E27FC236}">
                <a16:creationId xmlns:a16="http://schemas.microsoft.com/office/drawing/2014/main" id="{750842DA-97E1-4B47-97ED-DCFA6255C3DD}"/>
              </a:ext>
            </a:extLst>
          </p:cNvPr>
          <p:cNvSpPr txBox="1">
            <a:spLocks/>
          </p:cNvSpPr>
          <p:nvPr/>
        </p:nvSpPr>
        <p:spPr>
          <a:xfrm>
            <a:off x="5364088" y="3808310"/>
            <a:ext cx="3456384" cy="821467"/>
          </a:xfrm>
          <a:prstGeom prst="rect">
            <a:avLst/>
          </a:prstGeom>
        </p:spPr>
        <p:txBody>
          <a:bodyPr vert="horz" rtlCol="0" anchor="ctr">
            <a:normAutofit fontScale="92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</a:t>
            </a:r>
            <a:r>
              <a:rPr lang="en-US" sz="2800" dirty="0" err="1"/>
              <a:t>partenza</a:t>
            </a:r>
            <a:r>
              <a:rPr lang="en-US" sz="2000" dirty="0"/>
              <a:t>: </a:t>
            </a:r>
          </a:p>
          <a:p>
            <a:pPr algn="ctr"/>
            <a:r>
              <a:rPr lang="en-US" sz="2000" dirty="0"/>
              <a:t>15 648 record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67639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D9E267D-0544-4E33-A70C-984F1C2F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5" name="Immagine 4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B3B77998-DD10-4D27-9442-B8C5A9933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23" y="4190503"/>
            <a:ext cx="3301690" cy="2395859"/>
          </a:xfrm>
          <a:prstGeom prst="rect">
            <a:avLst/>
          </a:prstGeom>
        </p:spPr>
      </p:pic>
      <p:pic>
        <p:nvPicPr>
          <p:cNvPr id="7" name="Immagine 6" descr="Immagine che contiene mappa, pioggia, ombrello&#10;&#10;Descrizione generata automaticamente">
            <a:extLst>
              <a:ext uri="{FF2B5EF4-FFF2-40B4-BE49-F238E27FC236}">
                <a16:creationId xmlns:a16="http://schemas.microsoft.com/office/drawing/2014/main" id="{940649B9-E24E-411D-A1D8-72219DCD8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251642"/>
            <a:ext cx="3476469" cy="2606358"/>
          </a:xfrm>
          <a:prstGeom prst="rect">
            <a:avLst/>
          </a:prstGeom>
        </p:spPr>
      </p:pic>
      <p:pic>
        <p:nvPicPr>
          <p:cNvPr id="11" name="Immagine 10" descr="Immagine che contiene ombrello&#10;&#10;Descrizione generata automaticamente">
            <a:extLst>
              <a:ext uri="{FF2B5EF4-FFF2-40B4-BE49-F238E27FC236}">
                <a16:creationId xmlns:a16="http://schemas.microsoft.com/office/drawing/2014/main" id="{2BD1C13D-ADCA-422C-9A86-EFB1A7FA3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417638"/>
            <a:ext cx="3627105" cy="253599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681ED5-0E7E-48BF-B596-EC510353F18A}"/>
              </a:ext>
            </a:extLst>
          </p:cNvPr>
          <p:cNvSpPr txBox="1"/>
          <p:nvPr/>
        </p:nvSpPr>
        <p:spPr>
          <a:xfrm>
            <a:off x="662219" y="3851950"/>
            <a:ext cx="3158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T e num record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89BB029-0433-4829-8F39-8DFDB6C05325}"/>
              </a:ext>
            </a:extLst>
          </p:cNvPr>
          <p:cNvSpPr txBox="1"/>
          <p:nvPr/>
        </p:nvSpPr>
        <p:spPr>
          <a:xfrm>
            <a:off x="5974768" y="4021227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T</a:t>
            </a:r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63CC89B-32F2-4AED-854E-DF3E65E5937D}"/>
              </a:ext>
            </a:extLst>
          </p:cNvPr>
          <p:cNvSpPr txBox="1"/>
          <p:nvPr/>
        </p:nvSpPr>
        <p:spPr>
          <a:xfrm>
            <a:off x="4950449" y="1180762"/>
            <a:ext cx="3158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num record</a:t>
            </a:r>
            <a:endParaRPr lang="it-IT" sz="1600" dirty="0"/>
          </a:p>
        </p:txBody>
      </p:sp>
      <p:sp>
        <p:nvSpPr>
          <p:cNvPr id="15" name="Segnaposto contenuto 1">
            <a:extLst>
              <a:ext uri="{FF2B5EF4-FFF2-40B4-BE49-F238E27FC236}">
                <a16:creationId xmlns:a16="http://schemas.microsoft.com/office/drawing/2014/main" id="{4BD2F05A-5082-4DBA-A74E-4B62491C12F4}"/>
              </a:ext>
            </a:extLst>
          </p:cNvPr>
          <p:cNvSpPr txBox="1">
            <a:spLocks/>
          </p:cNvSpPr>
          <p:nvPr/>
        </p:nvSpPr>
        <p:spPr>
          <a:xfrm>
            <a:off x="370448" y="2132856"/>
            <a:ext cx="4201552" cy="1368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 err="1"/>
              <a:t>Parametri</a:t>
            </a:r>
            <a:r>
              <a:rPr lang="en-US" sz="1800" dirty="0"/>
              <a:t> che </a:t>
            </a:r>
            <a:r>
              <a:rPr lang="en-US" sz="1800" dirty="0" err="1"/>
              <a:t>più</a:t>
            </a:r>
            <a:r>
              <a:rPr lang="en-US" sz="1800" dirty="0"/>
              <a:t> </a:t>
            </a:r>
            <a:r>
              <a:rPr lang="en-US" sz="1800" dirty="0" err="1"/>
              <a:t>influenzano</a:t>
            </a:r>
            <a:r>
              <a:rPr lang="en-US" sz="1800" dirty="0"/>
              <a:t> i tempi sono:</a:t>
            </a:r>
          </a:p>
          <a:p>
            <a:r>
              <a:rPr lang="en-US" sz="1800" dirty="0" err="1"/>
              <a:t>numero</a:t>
            </a:r>
            <a:r>
              <a:rPr lang="en-US" sz="1800" dirty="0"/>
              <a:t> record</a:t>
            </a:r>
          </a:p>
          <a:p>
            <a:r>
              <a:rPr lang="en-US" sz="1800" dirty="0"/>
              <a:t>R (</a:t>
            </a:r>
            <a:r>
              <a:rPr lang="en-US" sz="1800" dirty="0" err="1"/>
              <a:t>raggio</a:t>
            </a:r>
            <a:r>
              <a:rPr lang="en-US" sz="1800" dirty="0"/>
              <a:t> </a:t>
            </a:r>
            <a:r>
              <a:rPr lang="en-US" sz="1800" dirty="0" err="1"/>
              <a:t>spaziale</a:t>
            </a:r>
            <a:r>
              <a:rPr lang="en-US" sz="1800" dirty="0"/>
              <a:t>)</a:t>
            </a:r>
            <a:endParaRPr lang="it-IT" sz="1800" dirty="0"/>
          </a:p>
        </p:txBody>
      </p:sp>
      <p:sp>
        <p:nvSpPr>
          <p:cNvPr id="10" name="Titolo 2">
            <a:extLst>
              <a:ext uri="{FF2B5EF4-FFF2-40B4-BE49-F238E27FC236}">
                <a16:creationId xmlns:a16="http://schemas.microsoft.com/office/drawing/2014/main" id="{BD9F83F0-A2C0-4D08-BCFD-02FFAA209421}"/>
              </a:ext>
            </a:extLst>
          </p:cNvPr>
          <p:cNvSpPr txBox="1">
            <a:spLocks/>
          </p:cNvSpPr>
          <p:nvPr/>
        </p:nvSpPr>
        <p:spPr>
          <a:xfrm>
            <a:off x="2548404" y="552338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Tempi di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computazione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Segnaposto contenuto 1">
            <a:extLst>
              <a:ext uri="{FF2B5EF4-FFF2-40B4-BE49-F238E27FC236}">
                <a16:creationId xmlns:a16="http://schemas.microsoft.com/office/drawing/2014/main" id="{FAB9E694-33EE-4063-8BB8-25BE8DE806B4}"/>
              </a:ext>
            </a:extLst>
          </p:cNvPr>
          <p:cNvSpPr txBox="1">
            <a:spLocks/>
          </p:cNvSpPr>
          <p:nvPr/>
        </p:nvSpPr>
        <p:spPr>
          <a:xfrm>
            <a:off x="370448" y="1599160"/>
            <a:ext cx="4201552" cy="358225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 err="1"/>
              <a:t>Effettuati</a:t>
            </a:r>
            <a:r>
              <a:rPr lang="en-US" sz="1800" dirty="0"/>
              <a:t> 48 test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79998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236" y="1149023"/>
                <a:ext cx="3510104" cy="165618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err="1"/>
                  <a:t>Supporto</a:t>
                </a:r>
                <a:endParaRPr lang="en-US" sz="2400" dirty="0"/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236" y="1149023"/>
                <a:ext cx="3510104" cy="1656183"/>
              </a:xfrm>
              <a:blipFill>
                <a:blip r:embed="rId2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olo 2">
            <a:extLst>
              <a:ext uri="{FF2B5EF4-FFF2-40B4-BE49-F238E27FC236}">
                <a16:creationId xmlns:a16="http://schemas.microsoft.com/office/drawing/2014/main" id="{C83FDF46-E993-4E3E-B6EA-4A221E0D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D79BE033-3A72-4BBC-B6F4-B936BFC0EB57}"/>
              </a:ext>
            </a:extLst>
          </p:cNvPr>
          <p:cNvSpPr txBox="1">
            <a:spLocks/>
          </p:cNvSpPr>
          <p:nvPr/>
        </p:nvSpPr>
        <p:spPr>
          <a:xfrm>
            <a:off x="2548404" y="552338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Indici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703" y="2506629"/>
                <a:ext cx="6110068" cy="1656183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Confidenza</a:t>
                </a:r>
              </a:p>
              <a:p>
                <a:pPr marL="109728" indent="0">
                  <a:buFont typeface="Wingdings 3"/>
                  <a:buNone/>
                </a:pPr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3" y="2506629"/>
                <a:ext cx="6110068" cy="1656183"/>
              </a:xfrm>
              <a:prstGeom prst="rect">
                <a:avLst/>
              </a:prstGeom>
              <a:blipFill>
                <a:blip r:embed="rId3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703" y="4043505"/>
                <a:ext cx="5544616" cy="2016224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Lift</a:t>
                </a:r>
              </a:p>
              <a:p>
                <a:pPr marL="109728" indent="0">
                  <a:buFont typeface="Wingdings 3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𝐿𝑖𝑓𝑡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3" y="4043505"/>
                <a:ext cx="5544616" cy="2016224"/>
              </a:xfrm>
              <a:prstGeom prst="rect">
                <a:avLst/>
              </a:prstGeom>
              <a:blipFill>
                <a:blip r:embed="rId4"/>
                <a:stretch>
                  <a:fillRect t="-2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/>
              <p:nvPr/>
            </p:nvSpPr>
            <p:spPr>
              <a:xfrm>
                <a:off x="4211960" y="1486460"/>
                <a:ext cx="47160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dove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numero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istanze</a:t>
                </a:r>
                <a:r>
                  <a:rPr lang="en-US" sz="2000" dirty="0"/>
                  <a:t> con </a:t>
                </a:r>
                <a:r>
                  <a:rPr lang="en-US" sz="2000" dirty="0" err="1"/>
                  <a:t>sia</a:t>
                </a:r>
                <a:r>
                  <a:rPr lang="en-US" sz="2000" dirty="0"/>
                  <a:t> A che B </a:t>
                </a:r>
                <a:endParaRPr lang="it-IT" sz="20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1486460"/>
                <a:ext cx="4716016" cy="707886"/>
              </a:xfrm>
              <a:prstGeom prst="rect">
                <a:avLst/>
              </a:prstGeom>
              <a:blipFill>
                <a:blip r:embed="rId5"/>
                <a:stretch>
                  <a:fillRect l="-1421" t="-4310" b="-146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/>
              <p:nvPr/>
            </p:nvSpPr>
            <p:spPr>
              <a:xfrm>
                <a:off x="5580112" y="4189079"/>
                <a:ext cx="349188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dirty="0"/>
                  <a:t> i tipi sono indipendenti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dirty="0"/>
                  <a:t> i tipi sono correlati positivamente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dirty="0"/>
                  <a:t> i tipi sono correlati negativamente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189079"/>
                <a:ext cx="3491880" cy="2308324"/>
              </a:xfrm>
              <a:prstGeom prst="rect">
                <a:avLst/>
              </a:prstGeom>
              <a:blipFill>
                <a:blip r:embed="rId6"/>
                <a:stretch>
                  <a:fillRect l="-1047" t="-10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9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7950" y="1124744"/>
                <a:ext cx="3538736" cy="1296144"/>
              </a:xfrm>
            </p:spPr>
            <p:txBody>
              <a:bodyPr>
                <a:normAutofit/>
              </a:bodyPr>
              <a:lstStyle/>
              <a:p>
                <a:pPr marL="109728" indent="0">
                  <a:buNone/>
                </a:pPr>
                <a:r>
                  <a:rPr lang="en-US" sz="2200" dirty="0"/>
                  <a:t>Test con (3129 record):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200" b="0" dirty="0"/>
              </a:p>
              <a:p>
                <a:pPr marL="109728" indent="0"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7950" y="1124744"/>
                <a:ext cx="3538736" cy="1296144"/>
              </a:xfrm>
              <a:blipFill>
                <a:blip r:embed="rId2"/>
                <a:stretch>
                  <a:fillRect t="-3302" r="-8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olo 2">
            <a:extLst>
              <a:ext uri="{FF2B5EF4-FFF2-40B4-BE49-F238E27FC236}">
                <a16:creationId xmlns:a16="http://schemas.microsoft.com/office/drawing/2014/main" id="{4F329FE0-8729-4433-8D73-129E66E3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7CDC932-B351-411D-ACA2-A5C3A834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0" y="2564904"/>
            <a:ext cx="8654753" cy="3982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3007" y="1544307"/>
                <a:ext cx="3538736" cy="1008112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=168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𝑜𝑟𝑒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 (7 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giorni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109728" indent="0">
                  <a:buFont typeface="Wingdings 3"/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007" y="1544307"/>
                <a:ext cx="3538736" cy="1008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97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9C9B489-6EB7-4BE5-B82E-EF01E8C42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56" y="1556792"/>
            <a:ext cx="8316416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Interfaccia</a:t>
            </a:r>
            <a:r>
              <a:rPr lang="en-US" sz="2400" dirty="0"/>
              <a:t> </a:t>
            </a:r>
            <a:r>
              <a:rPr lang="en-US" sz="2400" dirty="0" err="1"/>
              <a:t>grafica</a:t>
            </a:r>
            <a:r>
              <a:rPr lang="en-US" sz="2400" dirty="0"/>
              <a:t> che </a:t>
            </a:r>
            <a:r>
              <a:rPr lang="en-US" sz="2400" dirty="0" err="1"/>
              <a:t>permetta</a:t>
            </a:r>
            <a:r>
              <a:rPr lang="en-US" sz="2400" dirty="0"/>
              <a:t> di </a:t>
            </a:r>
            <a:r>
              <a:rPr lang="en-US" sz="2400" dirty="0" err="1"/>
              <a:t>effettuare</a:t>
            </a:r>
            <a:r>
              <a:rPr lang="en-US" sz="2400" dirty="0"/>
              <a:t> test </a:t>
            </a:r>
            <a:r>
              <a:rPr lang="en-US" sz="2400" dirty="0" err="1"/>
              <a:t>anche</a:t>
            </a:r>
            <a:r>
              <a:rPr lang="en-US" sz="2400" dirty="0"/>
              <a:t> </a:t>
            </a:r>
            <a:r>
              <a:rPr lang="en-US" sz="2400" dirty="0" err="1"/>
              <a:t>variando</a:t>
            </a:r>
            <a:r>
              <a:rPr lang="en-US" sz="2400" dirty="0"/>
              <a:t> dataset</a:t>
            </a:r>
          </a:p>
          <a:p>
            <a:endParaRPr lang="en-US" sz="2400" dirty="0"/>
          </a:p>
          <a:p>
            <a:r>
              <a:rPr lang="en-US" sz="2400" dirty="0" err="1"/>
              <a:t>Mappa</a:t>
            </a:r>
            <a:r>
              <a:rPr lang="en-US" sz="2400" dirty="0"/>
              <a:t> </a:t>
            </a:r>
            <a:r>
              <a:rPr lang="en-US" sz="2400" dirty="0" err="1"/>
              <a:t>geografica</a:t>
            </a:r>
            <a:r>
              <a:rPr lang="en-US" sz="2400" dirty="0"/>
              <a:t> in cui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mostrtano</a:t>
            </a:r>
            <a:r>
              <a:rPr lang="en-US" sz="2400" dirty="0"/>
              <a:t> </a:t>
            </a:r>
            <a:r>
              <a:rPr lang="en-US" sz="2400" dirty="0" err="1"/>
              <a:t>gli</a:t>
            </a:r>
            <a:r>
              <a:rPr lang="en-US" sz="2400" dirty="0"/>
              <a:t>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connessi</a:t>
            </a:r>
            <a:r>
              <a:rPr lang="en-US" sz="2400" dirty="0"/>
              <a:t> in base ad una </a:t>
            </a:r>
            <a:r>
              <a:rPr lang="en-US" sz="2400" dirty="0" err="1"/>
              <a:t>determinata</a:t>
            </a:r>
            <a:r>
              <a:rPr lang="en-US" sz="2400" dirty="0"/>
              <a:t> </a:t>
            </a:r>
            <a:r>
              <a:rPr lang="en-US" sz="2400" dirty="0" err="1"/>
              <a:t>sequenza</a:t>
            </a:r>
            <a:r>
              <a:rPr lang="en-US" sz="2400" dirty="0"/>
              <a:t> di tipi</a:t>
            </a:r>
          </a:p>
          <a:p>
            <a:endParaRPr lang="en-US" sz="2400" dirty="0"/>
          </a:p>
          <a:p>
            <a:r>
              <a:rPr lang="en-US" sz="2400" dirty="0" err="1"/>
              <a:t>Adattare</a:t>
            </a:r>
            <a:r>
              <a:rPr lang="en-US" sz="2400" dirty="0"/>
              <a:t> </a:t>
            </a:r>
            <a:r>
              <a:rPr lang="en-US" sz="2400" dirty="0" err="1"/>
              <a:t>il</a:t>
            </a:r>
            <a:r>
              <a:rPr lang="en-US" sz="2400" dirty="0"/>
              <a:t> software per </a:t>
            </a:r>
            <a:r>
              <a:rPr lang="en-US" sz="2400" dirty="0" err="1"/>
              <a:t>concetrarsi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determinate zone </a:t>
            </a:r>
            <a:r>
              <a:rPr lang="en-US" sz="2400" dirty="0" err="1"/>
              <a:t>della</a:t>
            </a:r>
            <a:r>
              <a:rPr lang="en-US" sz="2400" dirty="0"/>
              <a:t> </a:t>
            </a:r>
            <a:r>
              <a:rPr lang="en-US" sz="2400" dirty="0" err="1"/>
              <a:t>città</a:t>
            </a:r>
            <a:r>
              <a:rPr lang="en-US" sz="2400" dirty="0"/>
              <a:t> (</a:t>
            </a:r>
            <a:r>
              <a:rPr lang="en-US" sz="2400" dirty="0" err="1"/>
              <a:t>criminalità</a:t>
            </a:r>
            <a:r>
              <a:rPr lang="en-US" sz="2400" dirty="0"/>
              <a:t> locale)</a:t>
            </a:r>
          </a:p>
          <a:p>
            <a:pPr marL="109728" indent="0">
              <a:buNone/>
            </a:pPr>
            <a:endParaRPr lang="en-US" sz="2400" dirty="0"/>
          </a:p>
          <a:p>
            <a:r>
              <a:rPr lang="en-US" sz="2400" dirty="0" err="1"/>
              <a:t>Provare</a:t>
            </a:r>
            <a:r>
              <a:rPr lang="en-US" sz="2400" dirty="0"/>
              <a:t> la </a:t>
            </a:r>
            <a:r>
              <a:rPr lang="en-US" sz="2400" dirty="0" err="1"/>
              <a:t>applicazione</a:t>
            </a:r>
            <a:r>
              <a:rPr lang="en-US" sz="2400" dirty="0"/>
              <a:t> ad un </a:t>
            </a:r>
            <a:r>
              <a:rPr lang="en-US" sz="2400" dirty="0" err="1"/>
              <a:t>diverso</a:t>
            </a:r>
            <a:r>
              <a:rPr lang="en-US" sz="2400" dirty="0"/>
              <a:t> </a:t>
            </a:r>
            <a:r>
              <a:rPr lang="en-US" sz="2400" dirty="0" err="1"/>
              <a:t>tipo</a:t>
            </a:r>
            <a:r>
              <a:rPr lang="en-US" sz="2400" dirty="0"/>
              <a:t> di </a:t>
            </a:r>
            <a:r>
              <a:rPr lang="en-US" sz="2400" dirty="0" err="1"/>
              <a:t>contesto</a:t>
            </a:r>
            <a:r>
              <a:rPr lang="en-US" sz="2400" dirty="0"/>
              <a:t> (es.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epidemiologici</a:t>
            </a:r>
            <a:r>
              <a:rPr lang="en-US" sz="2400" dirty="0"/>
              <a:t>)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198D2DE-8328-4831-AEBE-F3622315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56" y="203745"/>
            <a:ext cx="8507288" cy="1143000"/>
          </a:xfrm>
        </p:spPr>
        <p:txBody>
          <a:bodyPr>
            <a:normAutofit/>
          </a:bodyPr>
          <a:lstStyle/>
          <a:p>
            <a:r>
              <a:rPr lang="en-US"/>
              <a:t>Conclusioni e prospettive future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18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6A9D9B-FD8B-4812-87B3-EABBE647D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017458"/>
          </a:xfrm>
        </p:spPr>
        <p:txBody>
          <a:bodyPr/>
          <a:lstStyle/>
          <a:p>
            <a:pPr algn="ctr"/>
            <a:r>
              <a:rPr lang="en-US" dirty="0" err="1"/>
              <a:t>Grazie</a:t>
            </a:r>
            <a:r>
              <a:rPr lang="en-US" dirty="0"/>
              <a:t> per </a:t>
            </a:r>
            <a:r>
              <a:rPr lang="en-US" dirty="0" err="1"/>
              <a:t>l’attenzione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920CF5-D5DC-41E3-A5C9-27F71A332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76" y="3429000"/>
            <a:ext cx="4817894" cy="119246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000" dirty="0" err="1"/>
              <a:t>Codice</a:t>
            </a:r>
            <a:r>
              <a:rPr lang="en-US" sz="3000" dirty="0"/>
              <a:t> </a:t>
            </a:r>
            <a:r>
              <a:rPr lang="en-US" sz="3000" dirty="0" err="1"/>
              <a:t>sorgente</a:t>
            </a:r>
            <a:r>
              <a:rPr lang="en-US" dirty="0"/>
              <a:t>:</a:t>
            </a:r>
          </a:p>
          <a:p>
            <a:pPr algn="l"/>
            <a:r>
              <a:rPr lang="it-IT" dirty="0">
                <a:hlinkClick r:id="rId2"/>
              </a:rPr>
              <a:t>https://github.com/fedelux3/BostonCrime</a:t>
            </a:r>
            <a:endParaRPr lang="it-IT" dirty="0"/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B36E5402-D35A-41E3-A9AD-614C327F60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2987606"/>
            <a:ext cx="201622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le">
  <a:themeElements>
    <a:clrScheme name="Vial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Vial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36D46CB-964F-4BC7-AE9A-8AF03533C7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Gabbiano</Template>
  <TotalTime>1747</TotalTime>
  <Words>754</Words>
  <Application>Microsoft Office PowerPoint</Application>
  <PresentationFormat>Presentazione su schermo (4:3)</PresentationFormat>
  <Paragraphs>162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Lucida Sans Unicode</vt:lpstr>
      <vt:lpstr>Verdana</vt:lpstr>
      <vt:lpstr>Wingdings 2</vt:lpstr>
      <vt:lpstr>Wingdings 3</vt:lpstr>
      <vt:lpstr>Viale</vt:lpstr>
      <vt:lpstr>Identificazione di eventi spazio-temporali associati: studio e implementazione su dataset di crimini</vt:lpstr>
      <vt:lpstr>Paper e Dataset utilizzato</vt:lpstr>
      <vt:lpstr>Stato dell’Arte</vt:lpstr>
      <vt:lpstr>Stato dell’Arte</vt:lpstr>
      <vt:lpstr>Algoritmo STBFM</vt:lpstr>
      <vt:lpstr>Sequence Pattern Tree (SPTree)</vt:lpstr>
      <vt:lpstr>Presentazione standard di PowerPoint</vt:lpstr>
      <vt:lpstr>Implementazione e dataset di test</vt:lpstr>
      <vt:lpstr>Analisi dei risultati</vt:lpstr>
      <vt:lpstr>Analisi dei risultati</vt:lpstr>
      <vt:lpstr>Analisi dei risultati</vt:lpstr>
      <vt:lpstr>Conclusioni e prospettive future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RISCHIO DI CREDITO</dc:title>
  <dc:creator>Fede Luzzi</dc:creator>
  <cp:keywords/>
  <cp:lastModifiedBy>Fede Luzzi</cp:lastModifiedBy>
  <cp:revision>52</cp:revision>
  <dcterms:created xsi:type="dcterms:W3CDTF">2019-10-08T07:28:59Z</dcterms:created>
  <dcterms:modified xsi:type="dcterms:W3CDTF">2019-10-12T07:53:12Z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TC020188469991</vt:lpwstr>
  </property>
</Properties>
</file>